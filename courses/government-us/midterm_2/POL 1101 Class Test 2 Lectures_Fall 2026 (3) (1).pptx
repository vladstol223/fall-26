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5" r:id="rId4"/>
  </p:sldMasterIdLst>
  <p:notesMasterIdLst>
    <p:notesMasterId r:id="rId60"/>
  </p:notesMasterIdLst>
  <p:sldIdLst>
    <p:sldId id="321" r:id="rId5"/>
    <p:sldId id="363" r:id="rId6"/>
    <p:sldId id="370" r:id="rId7"/>
    <p:sldId id="322" r:id="rId8"/>
    <p:sldId id="284" r:id="rId9"/>
    <p:sldId id="285" r:id="rId10"/>
    <p:sldId id="286" r:id="rId11"/>
    <p:sldId id="287" r:id="rId12"/>
    <p:sldId id="272" r:id="rId13"/>
    <p:sldId id="368" r:id="rId14"/>
    <p:sldId id="323" r:id="rId15"/>
    <p:sldId id="292" r:id="rId16"/>
    <p:sldId id="324" r:id="rId17"/>
    <p:sldId id="316" r:id="rId18"/>
    <p:sldId id="271" r:id="rId19"/>
    <p:sldId id="310" r:id="rId20"/>
    <p:sldId id="306" r:id="rId21"/>
    <p:sldId id="313" r:id="rId22"/>
    <p:sldId id="311" r:id="rId23"/>
    <p:sldId id="319" r:id="rId24"/>
    <p:sldId id="315" r:id="rId25"/>
    <p:sldId id="329" r:id="rId26"/>
    <p:sldId id="341" r:id="rId27"/>
    <p:sldId id="371" r:id="rId28"/>
    <p:sldId id="330" r:id="rId29"/>
    <p:sldId id="331" r:id="rId30"/>
    <p:sldId id="332" r:id="rId31"/>
    <p:sldId id="333" r:id="rId32"/>
    <p:sldId id="364" r:id="rId33"/>
    <p:sldId id="365" r:id="rId34"/>
    <p:sldId id="366" r:id="rId35"/>
    <p:sldId id="367" r:id="rId36"/>
    <p:sldId id="336" r:id="rId37"/>
    <p:sldId id="369" r:id="rId38"/>
    <p:sldId id="317" r:id="rId39"/>
    <p:sldId id="337" r:id="rId40"/>
    <p:sldId id="348" r:id="rId41"/>
    <p:sldId id="261" r:id="rId42"/>
    <p:sldId id="346" r:id="rId43"/>
    <p:sldId id="326" r:id="rId44"/>
    <p:sldId id="276" r:id="rId45"/>
    <p:sldId id="347" r:id="rId46"/>
    <p:sldId id="296" r:id="rId47"/>
    <p:sldId id="259" r:id="rId48"/>
    <p:sldId id="258" r:id="rId49"/>
    <p:sldId id="260" r:id="rId50"/>
    <p:sldId id="257" r:id="rId51"/>
    <p:sldId id="359" r:id="rId52"/>
    <p:sldId id="355" r:id="rId53"/>
    <p:sldId id="353" r:id="rId54"/>
    <p:sldId id="354" r:id="rId55"/>
    <p:sldId id="356" r:id="rId56"/>
    <p:sldId id="357" r:id="rId57"/>
    <p:sldId id="358" r:id="rId58"/>
    <p:sldId id="360" r:id="rId5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k Collins"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4"/>
    <p:restoredTop sz="94601" autoAdjust="0"/>
  </p:normalViewPr>
  <p:slideViewPr>
    <p:cSldViewPr snapToGrid="0">
      <p:cViewPr varScale="1">
        <p:scale>
          <a:sx n="69" d="100"/>
          <a:sy n="69" d="100"/>
        </p:scale>
        <p:origin x="952" y="5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L="0" marR="0" lvl="0" indent="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732484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1418830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8CBE32D-D9B0-8924-E93C-E2556CF33F12}"/>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9243E304-EF72-EBA0-714E-81F41F002E36}"/>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C3B3A339-E387-BFA6-DC82-D53B4661EC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648F5216-B56E-7266-AABB-77DF59871EC8}"/>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566893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17474D7-2A12-239C-4F7A-DA834B713C5A}"/>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77A459A0-DDCA-74DE-28CB-0AD7AE7A59E0}"/>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340F219A-E385-E8D0-644F-AA32B87EB1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1DF26230-4C85-772A-255D-5B0D9F7A2028}"/>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287290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20312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418830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073C6C1-FD44-F2E7-59C7-21419844349E}"/>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76A60FCD-6850-EC80-346F-F41523906705}"/>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6594CC39-D6C5-E22E-F72C-B28737599A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7547FFFB-9F45-8F2E-80A4-812B88F5AD33}"/>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742483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3428A30-453D-8909-0534-9EAABAA21CA0}"/>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C31834BC-56D7-41D9-F2EB-C7AF377F19D8}"/>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635566DC-5F26-1D8E-F735-E62D21EB29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AD0CD739-1ED1-4B9B-632D-D156AB8DE97F}"/>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144024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EF8442D-AE74-6A4B-FBCE-FBBAE1F4082A}"/>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F4E21AB2-618E-C5F7-FBA5-9E2700DA3472}"/>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8E533E35-7ADC-58EB-5AAB-886D946FE7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57F226DA-765B-8E28-280A-13811A840781}"/>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930289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E154939-1A81-6760-51C2-EFA32BD3DE36}"/>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C1CB452B-CA67-09D0-F7A7-E9A5811845BA}"/>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7071E0B8-2AF2-BE15-5B44-C138CB23C5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50CEEDBD-6BBB-DFB7-5F8B-3F3A7BB818EA}"/>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207915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B59C1BE-25E7-96F6-E48E-47241F143E4F}"/>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5EEB0BE5-4ED7-F3E4-BA18-8DFFEB0CB64A}"/>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8E604B48-6DBB-9A59-F476-368B31DF4F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DAED0399-1E4A-365E-FCF4-E4AE515840DB}"/>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659781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895F1E8-35C6-077F-4101-01F55ED0E7C7}"/>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25E4B48C-1332-C065-AE97-7B969328996E}"/>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C0504224-CCA9-82DA-1B01-7E653ECC6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69ACF82F-4C7E-38E6-7DB3-1AA83EB65718}"/>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399806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418830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7D5EB3F-F795-A2AA-1234-B63B4C8C9C6B}"/>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C04E1D89-36C4-2DAA-8DF8-BC649C2AB559}"/>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77D468D9-A2AE-98BB-9D45-843922CFFE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A610B629-C1A4-C99D-9EA6-2EB2DA54B9B7}"/>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470777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17474D7-2A12-239C-4F7A-DA834B713C5A}"/>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77A459A0-DDCA-74DE-28CB-0AD7AE7A59E0}"/>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340F219A-E385-E8D0-644F-AA32B87EB1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1DF26230-4C85-772A-255D-5B0D9F7A2028}"/>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3287290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245B51C-5C3D-474A-66C3-80AFCE23E07A}"/>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0DA804A0-A48E-EE5C-9713-E7B11FF18702}"/>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59932E99-46F1-6B1F-A4DF-F22AAA1B50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BB13044C-8350-AB7E-0FF1-DF06FCDDEE71}"/>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3785839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2020327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3203124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073C6C1-FD44-F2E7-59C7-21419844349E}"/>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76A60FCD-6850-EC80-346F-F41523906705}"/>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6594CC39-D6C5-E22E-F72C-B28737599A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7547FFFB-9F45-8F2E-80A4-812B88F5AD33}"/>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1954532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529986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1352459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17618B8-3EEC-6445-3767-9B707118D8BC}"/>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A12810D1-22F4-C35A-8A9D-AB41FBE887DA}"/>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ED5C0F31-61D4-281C-1591-9EB9E948B4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A7193672-85B6-9EE0-ABB4-7D8E9AD06462}"/>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339284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525950B-3C24-69F0-FEC0-174CAA0BFC6D}"/>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B6C7AB31-6ECE-17F4-1A27-1F5D52E4B171}"/>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F50FD5C2-281D-6306-3985-6CCFDBB632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CFE90079-E556-9954-85DA-CC6A2E002661}"/>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4095107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B41C21A-1951-CB85-CE27-382DB26261E9}"/>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CD605154-C190-9F43-F53B-FB73F0181B1B}"/>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219E89ED-7757-B88B-6DBF-D802EA2B6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E4A41A3D-8D61-35F1-369F-F522FFDBD2BB}"/>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302775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2D4F600-77B5-99A6-3950-E167D89FB5E1}"/>
            </a:ext>
          </a:extLst>
        </p:cNvPr>
        <p:cNvGrpSpPr/>
        <p:nvPr/>
      </p:nvGrpSpPr>
      <p:grpSpPr>
        <a:xfrm>
          <a:off x="0" y="0"/>
          <a:ext cx="0" cy="0"/>
          <a:chOff x="0" y="0"/>
          <a:chExt cx="0" cy="0"/>
        </a:xfrm>
      </p:grpSpPr>
      <p:sp>
        <p:nvSpPr>
          <p:cNvPr id="86" name="Google Shape;86;g2c67c0eb58_0_33:notes">
            <a:extLst>
              <a:ext uri="{FF2B5EF4-FFF2-40B4-BE49-F238E27FC236}">
                <a16:creationId xmlns:a16="http://schemas.microsoft.com/office/drawing/2014/main" id="{4ACE7597-7C0E-57AF-0FFD-99F6D8B30C10}"/>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a:extLst>
              <a:ext uri="{FF2B5EF4-FFF2-40B4-BE49-F238E27FC236}">
                <a16:creationId xmlns:a16="http://schemas.microsoft.com/office/drawing/2014/main" id="{4891A159-45F1-8B5D-2983-C8D0DD2846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a:extLst>
              <a:ext uri="{FF2B5EF4-FFF2-40B4-BE49-F238E27FC236}">
                <a16:creationId xmlns:a16="http://schemas.microsoft.com/office/drawing/2014/main" id="{B02EA9B7-B1B7-63A9-2469-A6EC65B2C8B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12257778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Light Purple Content Slide">
  <p:cSld name="Light Purple Content Slide">
    <p:bg>
      <p:bgPr>
        <a:solidFill>
          <a:schemeClr val="lt1"/>
        </a:solidFill>
        <a:effectLst/>
      </p:bgPr>
    </p:bg>
    <p:spTree>
      <p:nvGrpSpPr>
        <p:cNvPr id="1" name="Shape 28"/>
        <p:cNvGrpSpPr/>
        <p:nvPr/>
      </p:nvGrpSpPr>
      <p:grpSpPr>
        <a:xfrm>
          <a:off x="0" y="0"/>
          <a:ext cx="0" cy="0"/>
          <a:chOff x="0" y="0"/>
          <a:chExt cx="0" cy="0"/>
        </a:xfrm>
      </p:grpSpPr>
      <p:pic>
        <p:nvPicPr>
          <p:cNvPr id="30" name="Google Shape;30;p6" descr="Intellus Learning Open Courses Logo" title="Intellus Learning Open Courses"/>
          <p:cNvPicPr preferRelativeResize="0"/>
          <p:nvPr/>
        </p:nvPicPr>
        <p:blipFill>
          <a:blip r:embed="rId2">
            <a:alphaModFix/>
          </a:blip>
          <a:stretch>
            <a:fillRect/>
          </a:stretch>
        </p:blipFill>
        <p:spPr>
          <a:xfrm>
            <a:off x="174175" y="6146800"/>
            <a:ext cx="2133601" cy="711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172201"/>
            <a:ext cx="3429000" cy="304800"/>
          </a:xfrm>
          <a:prstGeom prst="rect">
            <a:avLst/>
          </a:prstGeom>
        </p:spPr>
        <p:txBody>
          <a:bodyPr/>
          <a:lstStyle/>
          <a:p>
            <a:fld id="{93333F43-3E86-47E4-BFBB-2476D384E1C6}" type="datetime4">
              <a:rPr lang="en-US" smtClean="0"/>
              <a:pPr/>
              <a:t>October 13, 2026</a:t>
            </a:fld>
            <a:endParaRPr lang="en-US"/>
          </a:p>
        </p:txBody>
      </p:sp>
      <p:sp>
        <p:nvSpPr>
          <p:cNvPr id="5" name="Footer Placeholder 4"/>
          <p:cNvSpPr>
            <a:spLocks noGrp="1"/>
          </p:cNvSpPr>
          <p:nvPr>
            <p:ph type="ftr" sz="quarter" idx="11"/>
          </p:nvPr>
        </p:nvSpPr>
        <p:spPr>
          <a:xfrm>
            <a:off x="457200" y="6492875"/>
            <a:ext cx="3429000" cy="283845"/>
          </a:xfrm>
          <a:prstGeom prst="rect">
            <a:avLst/>
          </a:prstGeom>
        </p:spPr>
        <p:txBody>
          <a:bodyPr/>
          <a:lstStyle/>
          <a:p>
            <a:endParaRPr lang="en-US"/>
          </a:p>
        </p:txBody>
      </p:sp>
      <p:sp>
        <p:nvSpPr>
          <p:cNvPr id="6" name="Slide Number Placeholder 5"/>
          <p:cNvSpPr>
            <a:spLocks noGrp="1"/>
          </p:cNvSpPr>
          <p:nvPr>
            <p:ph type="sldNum" sz="quarter" idx="12"/>
          </p:nvPr>
        </p:nvSpPr>
        <p:spPr>
          <a:xfrm rot="16200000">
            <a:off x="8044814" y="683895"/>
            <a:ext cx="1315721" cy="365125"/>
          </a:xfrm>
          <a:prstGeom prst="rect">
            <a:avLst/>
          </a:prstGeom>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a:prstGeom prst="rect">
            <a:avLst/>
          </a:prstGeo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a:prstGeom prst="rect">
            <a:avLst/>
          </a:prstGeom>
        </p:spPr>
        <p:txBody>
          <a:bodyPr/>
          <a:lstStyle/>
          <a:p>
            <a:endParaRPr lang="en-US" dirty="0"/>
          </a:p>
        </p:txBody>
      </p:sp>
      <p:sp>
        <p:nvSpPr>
          <p:cNvPr id="9" name="Text Placeholder 10"/>
          <p:cNvSpPr>
            <a:spLocks noGrp="1"/>
          </p:cNvSpPr>
          <p:nvPr>
            <p:ph type="body" sz="quarter" idx="14"/>
          </p:nvPr>
        </p:nvSpPr>
        <p:spPr>
          <a:xfrm>
            <a:off x="457200" y="4843982"/>
            <a:ext cx="8062912" cy="1166382"/>
          </a:xfrm>
          <a:prstGeom prst="rect">
            <a:avLst/>
          </a:prstGeo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92452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8FBB-198D-4C2D-8988-A81637B67E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340D13-2D51-480C-A706-8ABBF944DF7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6A2A2-61CC-4D20-A4BA-FB2D2288C38D}"/>
              </a:ext>
            </a:extLst>
          </p:cNvPr>
          <p:cNvSpPr>
            <a:spLocks noGrp="1"/>
          </p:cNvSpPr>
          <p:nvPr>
            <p:ph type="dt" sz="half" idx="10"/>
          </p:nvPr>
        </p:nvSpPr>
        <p:spPr/>
        <p:txBody>
          <a:bodyPr/>
          <a:lstStyle/>
          <a:p>
            <a:fld id="{B7E73435-30EB-441D-A875-B784ADE53631}" type="datetimeFigureOut">
              <a:rPr lang="en-US" smtClean="0"/>
              <a:t>10/13/2026</a:t>
            </a:fld>
            <a:endParaRPr lang="en-US"/>
          </a:p>
        </p:txBody>
      </p:sp>
      <p:sp>
        <p:nvSpPr>
          <p:cNvPr id="5" name="Footer Placeholder 4">
            <a:extLst>
              <a:ext uri="{FF2B5EF4-FFF2-40B4-BE49-F238E27FC236}">
                <a16:creationId xmlns:a16="http://schemas.microsoft.com/office/drawing/2014/main" id="{E953D837-4B06-454C-A494-3CB10CCB7E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FB49F3-9C09-4F2B-8C82-3AF7FF1977FB}"/>
              </a:ext>
            </a:extLst>
          </p:cNvPr>
          <p:cNvSpPr>
            <a:spLocks noGrp="1"/>
          </p:cNvSpPr>
          <p:nvPr>
            <p:ph type="sldNum" sz="quarter" idx="12"/>
          </p:nvPr>
        </p:nvSpPr>
        <p:spPr/>
        <p:txBody>
          <a:bodyPr/>
          <a:lstStyle/>
          <a:p>
            <a:fld id="{8B669E2B-989C-4E6F-AC01-17ADF5549382}" type="slidenum">
              <a:rPr lang="en-US" smtClean="0"/>
              <a:t>‹#›</a:t>
            </a:fld>
            <a:endParaRPr lang="en-US"/>
          </a:p>
        </p:txBody>
      </p:sp>
    </p:spTree>
    <p:extLst>
      <p:ext uri="{BB962C8B-B14F-4D97-AF65-F5344CB8AC3E}">
        <p14:creationId xmlns:p14="http://schemas.microsoft.com/office/powerpoint/2010/main" val="117991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FE8E7E-B0FD-4440-9CAB-43581EA4B156}"/>
              </a:ext>
            </a:extLst>
          </p:cNvPr>
          <p:cNvSpPr>
            <a:spLocks noGrp="1"/>
          </p:cNvSpPr>
          <p:nvPr>
            <p:ph type="dt" sz="half" idx="10"/>
          </p:nvPr>
        </p:nvSpPr>
        <p:spPr/>
        <p:txBody>
          <a:bodyPr/>
          <a:lstStyle/>
          <a:p>
            <a:fld id="{B7E73435-30EB-441D-A875-B784ADE53631}" type="datetimeFigureOut">
              <a:rPr lang="en-US" smtClean="0"/>
              <a:t>10/13/2026</a:t>
            </a:fld>
            <a:endParaRPr lang="en-US"/>
          </a:p>
        </p:txBody>
      </p:sp>
      <p:sp>
        <p:nvSpPr>
          <p:cNvPr id="3" name="Footer Placeholder 2">
            <a:extLst>
              <a:ext uri="{FF2B5EF4-FFF2-40B4-BE49-F238E27FC236}">
                <a16:creationId xmlns:a16="http://schemas.microsoft.com/office/drawing/2014/main" id="{44EE4357-DE77-4BB6-B58F-D30E644C17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C76399-C5FC-4143-B754-9FBF9F7C5C9D}"/>
              </a:ext>
            </a:extLst>
          </p:cNvPr>
          <p:cNvSpPr>
            <a:spLocks noGrp="1"/>
          </p:cNvSpPr>
          <p:nvPr>
            <p:ph type="sldNum" sz="quarter" idx="12"/>
          </p:nvPr>
        </p:nvSpPr>
        <p:spPr/>
        <p:txBody>
          <a:bodyPr/>
          <a:lstStyle/>
          <a:p>
            <a:fld id="{8B669E2B-989C-4E6F-AC01-17ADF5549382}" type="slidenum">
              <a:rPr lang="en-US" smtClean="0"/>
              <a:t>‹#›</a:t>
            </a:fld>
            <a:endParaRPr lang="en-US"/>
          </a:p>
        </p:txBody>
      </p:sp>
    </p:spTree>
    <p:extLst>
      <p:ext uri="{BB962C8B-B14F-4D97-AF65-F5344CB8AC3E}">
        <p14:creationId xmlns:p14="http://schemas.microsoft.com/office/powerpoint/2010/main" val="20275767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2" r:id="rId1"/>
    <p:sldLayoutId id="2147483656" r:id="rId2"/>
    <p:sldLayoutId id="2147483658" r:id="rId3"/>
    <p:sldLayoutId id="2147483659" r:id="rId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pb.pbslearningmedia.org/resource/civ23-soc-peoplesbranch/congress-the-peoples-branch-the-constitution-explained/"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EZc0eCZi61Q"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youtu.be/EsudHmV-B_Y" TargetMode="External"/><Relationship Id="rId4" Type="http://schemas.openxmlformats.org/officeDocument/2006/relationships/hyperlink" Target="https://en.wikipedia.org/wiki/Prize_(law)"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ww.congress.gov/committees"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bing.com/videos/riverview/relatedvideo?q=mid+term+redistricting&amp;&amp;mid=663391793FA7A4EEFDF5663391793FA7A4EEFDF5&amp;churl=https%3a%2f%2fwww.youtube.com%2fchannel%2fUCAeWdyKJXGWmVAXFpgLNNTg&amp;FORM=VRDGAR" TargetMode="External"/><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y_0DRy1NSl0?si=wK_ULv3obyVb40fG" TargetMode="External"/><Relationship Id="rId2" Type="http://schemas.openxmlformats.org/officeDocument/2006/relationships/hyperlink" Target="https://www.foxbusiness.com/video/6403779268112" TargetMode="External"/><Relationship Id="rId1" Type="http://schemas.openxmlformats.org/officeDocument/2006/relationships/slideLayout" Target="../slideLayouts/slideLayout1.xml"/><Relationship Id="rId5" Type="http://schemas.openxmlformats.org/officeDocument/2006/relationships/hyperlink" Target="https://youtu.be/jysBB2f_M2Q" TargetMode="External"/><Relationship Id="rId4" Type="http://schemas.openxmlformats.org/officeDocument/2006/relationships/hyperlink" Target="https://www.youtube.com/watch?v=1zzBToKpNB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youtu.be/Jh8Qpa4Aazw"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youtu.be/barQHoh3krc"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www.youtube.com/shorts/vB1xK7j5Nz4?feature=shar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youtu.be/H7Q2q_AgMQY"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youtu.be/LCw-YQYFJBA"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foxnews.com/video/6367469573112"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bing.com/videos/riverview/relatedvideo?q=recent+trump+pardons+2026&amp;&amp;mid=063AF0A6ABA17AF948A4063AF0A6ABA17AF948A4&amp;churl=&amp;FORM=VRDGAR"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youtu.be/oyOf3g-PJ94"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youtu.be/Nj_ZDMNC2Yc"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youtu.be/FiETMImO6xw" TargetMode="External"/><Relationship Id="rId3" Type="http://schemas.openxmlformats.org/officeDocument/2006/relationships/hyperlink" Target="https://youtu.be/X5Ztd7Aq_kg" TargetMode="External"/><Relationship Id="rId7" Type="http://schemas.openxmlformats.org/officeDocument/2006/relationships/hyperlink" Target="https://youtu.be/GSDv6n26zGQ"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youtu.be/pjPkwSlgR4I" TargetMode="External"/><Relationship Id="rId5" Type="http://schemas.openxmlformats.org/officeDocument/2006/relationships/hyperlink" Target="https://youtu.be/Zv0Dqrl3QV8" TargetMode="External"/><Relationship Id="rId4" Type="http://schemas.openxmlformats.org/officeDocument/2006/relationships/hyperlink" Target="https://www.bing.com/videos/riverview/relatedvideo?&amp;q=power+to+declare+a+national+emergency+president&amp;&amp;mid=12449405EF6A477420DB12449405EF6A477420DB&amp;&amp;FORM=VRDGAR"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youtu.be/ZQNLP1_Xmcw"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youtube.com/watch?v=39d9sdrDyXc"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youtu.be/Gbjv8pLMUVk"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youtu.be/39d9sdrDyXc"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youtu.be/ZQNLP1_Xmcw"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bbc.com/news/magazine-33103973" TargetMode="Externa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hyperlink" Target="https://youtu.be/JOUDwm6DOkI" TargetMode="External"/><Relationship Id="rId2" Type="http://schemas.openxmlformats.org/officeDocument/2006/relationships/hyperlink" Target="https://youtu.be/VGKgJdW55nc" TargetMode="External"/><Relationship Id="rId1" Type="http://schemas.openxmlformats.org/officeDocument/2006/relationships/slideLayout" Target="../slideLayouts/slideLayout1.xml"/><Relationship Id="rId6" Type="http://schemas.openxmlformats.org/officeDocument/2006/relationships/hyperlink" Target="https://youtu.be/84DgYV6HtBo" TargetMode="External"/><Relationship Id="rId5" Type="http://schemas.openxmlformats.org/officeDocument/2006/relationships/hyperlink" Target="https://youtu.be/mQllmb-0Lnk" TargetMode="External"/><Relationship Id="rId4" Type="http://schemas.openxmlformats.org/officeDocument/2006/relationships/hyperlink" Target="https://youtu.be/OE2jckwSoJc"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google.com/search?sa=X&amp;sca_esv=3058830500fed2cb&amp;rlz=1C1UEAD_enUS959US959&amp;biw=1422&amp;bih=702&amp;sxsrf=ANbL-n4W4oPSTEtLI1jM219AVPsHpK08fA:1772107796349&amp;q=precedent&amp;si=AL3DRZENm3Vb5fKAKJGBSnAO98GGtN9SUai6_gEx5A_iHvjv5lI1LfvGGk8uXuQP1gcc83xSInh4QG3p5b-B3c869Md2Ra2l3PpGmT_Qrh-lNKNRAcBvEBA%3D&amp;expnd=1&amp;ved=2ahUKEwiD2dH9j_eSAxXokokEHcN8PSsQyecJegQIHxAS" TargetMode="External"/><Relationship Id="rId2" Type="http://schemas.openxmlformats.org/officeDocument/2006/relationships/hyperlink" Target="https://www.google.com/search?sa=X&amp;sca_esv=3058830500fed2cb&amp;rlz=1C1UEAD_enUS959US959&amp;biw=1422&amp;bih=702&amp;sxsrf=ANbL-n4W4oPSTEtLI1jM219AVPsHpK08fA:1772107796349&amp;q=litigation&amp;si=AL3DRZEURtzDFJcIjdLqU4U7OTsegS9Fx4FHSjJTxixUkQ7AganetfwZsbKYCEpsv4Kg-5665FqrgD3S-Zs7gmxE_rlyKVWCjvlYccEFG5_GrCGtCaIJPNc%3D&amp;expnd=1&amp;ved=2ahUKEwiD2dH9j_eSAxXokokEHcN8PSsQyecJegQIHxAR" TargetMode="Externa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c-span.org/clip/america-250/justice-barrett-on-the-shadow-docket/5175410" TargetMode="External"/><Relationship Id="rId1" Type="http://schemas.openxmlformats.org/officeDocument/2006/relationships/slideLayout" Target="../slideLayouts/slideLayout1.xml"/><Relationship Id="rId5" Type="http://schemas.openxmlformats.org/officeDocument/2006/relationships/hyperlink" Target="https://youtu.be/StorpCnJjck" TargetMode="External"/><Relationship Id="rId4" Type="http://schemas.openxmlformats.org/officeDocument/2006/relationships/hyperlink" Target="https://www.youtube.com/watch?v=lAJgRuZIexI"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youtu.be/StorpCnJjck" TargetMode="External"/><Relationship Id="rId2" Type="http://schemas.openxmlformats.org/officeDocument/2006/relationships/hyperlink" Target="https://www.bing.com/videos/riverview/relatedvideo?q=key+supreme+court+cases+in+2026&amp;&amp;mid=82CAFB06F761F3CE5C9A82CAFB06F761F3CE5C9A&amp;churl=https%3a%2f%2fwww.youtube.com%2fchannel%2fUCK8Ar8dzFbKIJiALebDysUQ&amp;FORM=VRDGAR" TargetMode="External"/><Relationship Id="rId1" Type="http://schemas.openxmlformats.org/officeDocument/2006/relationships/slideLayout" Target="../slideLayouts/slideLayout1.xml"/><Relationship Id="rId5" Type="http://schemas.openxmlformats.org/officeDocument/2006/relationships/hyperlink" Target="https://www.bing.com/videos/riverview/relatedvideo?q=temporary+status+case+supreme+court&amp;&amp;mid=158E0A52F50CFF1ED669158E0A52F50CFF1ED669&amp;churl=https%3a%2f%2fwww.youtube.com%2fchannel%2fUCVuFPbAjTi3mqpH-0veJRWg&amp;FORM=VRDGAR" TargetMode="Externa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hyperlink" Target="https://www.youtube.com/watch?v=3NTNbOmYYas&amp;t=156s" TargetMode="External"/><Relationship Id="rId4" Type="http://schemas.openxmlformats.org/officeDocument/2006/relationships/image" Target="../media/image16.png"/><Relationship Id="rId9"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youtu.be/gdlN01Od3vI"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gpb.pbslearningmedia.org/resource/arct14.soc.amexdoldel/the-emergence-of-political-parties-in-the-early-republic-american-experience/"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www.c-span.org/clip/campaign-2024/vermin-supreme-2023/5096806" TargetMode="External"/><Relationship Id="rId2" Type="http://schemas.openxmlformats.org/officeDocument/2006/relationships/hyperlink" Target="https://youtu.be/k06FPs04u3I" TargetMode="Externa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2" Type="http://schemas.openxmlformats.org/officeDocument/2006/relationships/hyperlink" Target="https://www.youtube.com/watch?v=xeVyfiP0cLk&amp;ab_channel=VanNeistat" TargetMode="Externa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youtu.be/CN4BIqMyTAk"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youtu.be/oHRPMJmzBBw"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youtu.be/WfrXIGclkLA"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youtu.be/ajavsMbCapY"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hyperlink" Target="https://youtu.be/T2jwSUhu7ok" TargetMode="External"/><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4" name="Title 5">
            <a:extLst>
              <a:ext uri="{FF2B5EF4-FFF2-40B4-BE49-F238E27FC236}">
                <a16:creationId xmlns:a16="http://schemas.microsoft.com/office/drawing/2014/main" id="{5FD5215A-5EC4-7548-9376-BE650D5B742D}"/>
              </a:ext>
            </a:extLst>
          </p:cNvPr>
          <p:cNvSpPr txBox="1">
            <a:spLocks/>
          </p:cNvSpPr>
          <p:nvPr/>
        </p:nvSpPr>
        <p:spPr>
          <a:xfrm>
            <a:off x="2185493" y="91252"/>
            <a:ext cx="4404046" cy="644274"/>
          </a:xfrm>
          <a:prstGeom prst="rect">
            <a:avLst/>
          </a:prstGeom>
        </p:spPr>
        <p:txBody>
          <a:bodyPr rtlCol="0">
            <a:normAutofit fontScale="85000" lnSpcReduction="10000"/>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United States Congress</a:t>
            </a:r>
          </a:p>
        </p:txBody>
      </p:sp>
      <p:sp>
        <p:nvSpPr>
          <p:cNvPr id="3" name="Content Placeholder 2">
            <a:extLst>
              <a:ext uri="{FF2B5EF4-FFF2-40B4-BE49-F238E27FC236}">
                <a16:creationId xmlns:a16="http://schemas.microsoft.com/office/drawing/2014/main" id="{23C2A5B1-1E61-3240-A7F5-EF24B7BD5261}"/>
              </a:ext>
            </a:extLst>
          </p:cNvPr>
          <p:cNvSpPr txBox="1">
            <a:spLocks/>
          </p:cNvSpPr>
          <p:nvPr/>
        </p:nvSpPr>
        <p:spPr bwMode="auto">
          <a:xfrm>
            <a:off x="388532" y="632266"/>
            <a:ext cx="8109284" cy="467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600"/>
              </a:spcAft>
              <a:buFont typeface="Arial" panose="020B0604020202020204" pitchFamily="34" charset="0"/>
              <a:buChar char="•"/>
            </a:pPr>
            <a:r>
              <a:rPr lang="en-US" altLang="en-US" dirty="0">
                <a:solidFill>
                  <a:srgbClr val="002060"/>
                </a:solidFill>
                <a:cs typeface="Calibri" panose="020F0502020204030204" pitchFamily="34" charset="0"/>
              </a:rPr>
              <a:t>Current Status:</a:t>
            </a:r>
            <a:br>
              <a:rPr lang="en-US" altLang="en-US" dirty="0">
                <a:solidFill>
                  <a:srgbClr val="002060"/>
                </a:solidFill>
                <a:cs typeface="Calibri" panose="020F0502020204030204" pitchFamily="34" charset="0"/>
              </a:rPr>
            </a:br>
            <a:r>
              <a:rPr lang="en-US" altLang="en-US" sz="1200" dirty="0">
                <a:solidFill>
                  <a:srgbClr val="002060"/>
                </a:solidFill>
                <a:cs typeface="Calibri" panose="020F0502020204030204" pitchFamily="34" charset="0"/>
              </a:rPr>
              <a:t>https://www.google.com/search?q=MTG%2C+AOC+%26+Jasmine+Crockett+trade+insults+at+House+Oversight+Committee+hearing+%7C+LiveNOW+from+FOX+(youtube.com)&amp;rlz=1C1UEAD_enUS959US959&amp;oq=MTG%2C+AOC+%26+Jasmine+Crockett+trade+insults+at+House+Oversight+Committee+hearing+%7C+LiveNOW+from+FOX+(youtube.com)&amp;gs_lcrp=EgZjaHJvbWUyBggAEEUYOdIBCDEzNzVqMGo3qAIIsAIB8QVzkbn54ZkNGvEFc5G5-eGZDRo&amp;sourceid=chrome&amp;ie=UTF-8</a:t>
            </a:r>
          </a:p>
          <a:p>
            <a:pPr eaLnBrk="1" hangingPunct="1">
              <a:spcAft>
                <a:spcPts val="600"/>
              </a:spcAft>
              <a:buFont typeface="Arial" panose="020B0604020202020204" pitchFamily="34" charset="0"/>
              <a:buChar char="•"/>
            </a:pPr>
            <a:endParaRPr lang="en-US" altLang="en-US" dirty="0">
              <a:cs typeface="Calibri" panose="020F0502020204030204" pitchFamily="34" charset="0"/>
            </a:endParaRPr>
          </a:p>
          <a:p>
            <a:pPr marL="914400" lvl="2" indent="0"/>
            <a:br>
              <a:rPr lang="en-US" altLang="en-US" sz="2500" dirty="0">
                <a:cs typeface="Calibri" panose="020F0502020204030204" pitchFamily="34" charset="0"/>
              </a:rPr>
            </a:br>
            <a:br>
              <a:rPr lang="en-US" altLang="en-US" sz="2500" dirty="0">
                <a:cs typeface="Calibri" panose="020F0502020204030204" pitchFamily="34" charset="0"/>
              </a:rPr>
            </a:br>
            <a:endParaRPr lang="en-US" altLang="en-US" sz="2500" dirty="0">
              <a:cs typeface="Calibri" panose="020F0502020204030204" pitchFamily="34" charset="0"/>
            </a:endParaRPr>
          </a:p>
        </p:txBody>
      </p:sp>
      <p:pic>
        <p:nvPicPr>
          <p:cNvPr id="6" name="Picture 5">
            <a:extLst>
              <a:ext uri="{FF2B5EF4-FFF2-40B4-BE49-F238E27FC236}">
                <a16:creationId xmlns:a16="http://schemas.microsoft.com/office/drawing/2014/main" id="{A2011E12-9401-AA2F-161E-EAA59C141F2E}"/>
              </a:ext>
            </a:extLst>
          </p:cNvPr>
          <p:cNvPicPr>
            <a:picLocks noChangeAspect="1"/>
          </p:cNvPicPr>
          <p:nvPr/>
        </p:nvPicPr>
        <p:blipFill>
          <a:blip r:embed="rId3"/>
          <a:stretch>
            <a:fillRect/>
          </a:stretch>
        </p:blipFill>
        <p:spPr>
          <a:xfrm>
            <a:off x="1717608" y="2252078"/>
            <a:ext cx="5451132" cy="4514670"/>
          </a:xfrm>
          <a:prstGeom prst="rect">
            <a:avLst/>
          </a:prstGeom>
        </p:spPr>
      </p:pic>
    </p:spTree>
    <p:extLst>
      <p:ext uri="{BB962C8B-B14F-4D97-AF65-F5344CB8AC3E}">
        <p14:creationId xmlns:p14="http://schemas.microsoft.com/office/powerpoint/2010/main" val="81057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8168C74-D109-8408-D040-E585FEE3FB35}"/>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A7BDF84B-416B-4533-8758-F5274669032C}"/>
              </a:ext>
            </a:extLst>
          </p:cNvPr>
          <p:cNvSpPr txBox="1">
            <a:spLocks/>
          </p:cNvSpPr>
          <p:nvPr/>
        </p:nvSpPr>
        <p:spPr>
          <a:xfrm>
            <a:off x="2185493" y="91252"/>
            <a:ext cx="4404046" cy="644274"/>
          </a:xfrm>
          <a:prstGeom prst="rect">
            <a:avLst/>
          </a:prstGeom>
        </p:spPr>
        <p:txBody>
          <a:bodyPr rtlCol="0">
            <a:normAutofit fontScale="85000" lnSpcReduction="10000"/>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United States Congress</a:t>
            </a:r>
          </a:p>
        </p:txBody>
      </p:sp>
      <p:sp>
        <p:nvSpPr>
          <p:cNvPr id="3" name="Content Placeholder 2">
            <a:extLst>
              <a:ext uri="{FF2B5EF4-FFF2-40B4-BE49-F238E27FC236}">
                <a16:creationId xmlns:a16="http://schemas.microsoft.com/office/drawing/2014/main" id="{2563ABC1-C030-1441-91DA-5EEB97261975}"/>
              </a:ext>
            </a:extLst>
          </p:cNvPr>
          <p:cNvSpPr txBox="1">
            <a:spLocks/>
          </p:cNvSpPr>
          <p:nvPr/>
        </p:nvSpPr>
        <p:spPr bwMode="auto">
          <a:xfrm>
            <a:off x="396484" y="894659"/>
            <a:ext cx="8109284" cy="467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600"/>
              </a:spcAft>
              <a:buFont typeface="Arial" panose="020B0604020202020204" pitchFamily="34" charset="0"/>
              <a:buChar char="•"/>
            </a:pPr>
            <a:r>
              <a:rPr lang="en-US" altLang="en-US" dirty="0">
                <a:solidFill>
                  <a:srgbClr val="FF0000"/>
                </a:solidFill>
                <a:cs typeface="Calibri" panose="020F0502020204030204" pitchFamily="34" charset="0"/>
                <a:hlinkClick r:id="rId3">
                  <a:extLst>
                    <a:ext uri="{A12FA001-AC4F-418D-AE19-62706E023703}">
                      <ahyp:hlinkClr xmlns:ahyp="http://schemas.microsoft.com/office/drawing/2018/hyperlinkcolor" val="tx"/>
                    </a:ext>
                  </a:extLst>
                </a:hlinkClick>
              </a:rPr>
              <a:t>https://gpb.pbslearningmedia.org/resource/civ23-soc-peoplesbranch/congress-the-peoples-branch-the-constitution-explained/</a:t>
            </a:r>
            <a:endParaRPr lang="en-US" altLang="en-US" dirty="0">
              <a:solidFill>
                <a:srgbClr val="FF0000"/>
              </a:solidFill>
              <a:cs typeface="Calibri" panose="020F0502020204030204" pitchFamily="34" charset="0"/>
            </a:endParaRPr>
          </a:p>
          <a:p>
            <a:pPr eaLnBrk="1" hangingPunct="1">
              <a:spcAft>
                <a:spcPts val="600"/>
              </a:spcAft>
              <a:buFont typeface="Arial" panose="020B0604020202020204" pitchFamily="34" charset="0"/>
              <a:buChar char="•"/>
            </a:pPr>
            <a:r>
              <a:rPr lang="en-US" altLang="en-US" dirty="0">
                <a:cs typeface="Calibri" panose="020F0502020204030204" pitchFamily="34" charset="0"/>
              </a:rPr>
              <a:t>The U.S. Constitution designed a bicameral national legislature: a Congress composed of two separate chambers, the Senate and the House of Representatives. </a:t>
            </a:r>
          </a:p>
          <a:p>
            <a:pPr eaLnBrk="1" hangingPunct="1">
              <a:spcAft>
                <a:spcPts val="600"/>
              </a:spcAft>
              <a:buFont typeface="Arial" panose="020B0604020202020204" pitchFamily="34" charset="0"/>
              <a:buChar char="•"/>
            </a:pPr>
            <a:r>
              <a:rPr lang="en-US" altLang="en-US" dirty="0">
                <a:cs typeface="Calibri" panose="020F0502020204030204" pitchFamily="34" charset="0"/>
              </a:rPr>
              <a:t>Qualification to Run for Congress</a:t>
            </a:r>
          </a:p>
          <a:p>
            <a:pPr lvl="1">
              <a:spcAft>
                <a:spcPts val="600"/>
              </a:spcAft>
              <a:buFont typeface="Arial" panose="020B0604020202020204" pitchFamily="34" charset="0"/>
              <a:buChar char="•"/>
            </a:pPr>
            <a:r>
              <a:rPr lang="en-US" altLang="en-US" sz="2000" dirty="0">
                <a:cs typeface="Calibri" panose="020F0502020204030204" pitchFamily="34" charset="0"/>
              </a:rPr>
              <a:t>House of Representatives – Elected every two years</a:t>
            </a:r>
          </a:p>
          <a:p>
            <a:pPr lvl="2">
              <a:buFont typeface="Arial" panose="020B0604020202020204" pitchFamily="34" charset="0"/>
              <a:buChar char="•"/>
            </a:pPr>
            <a:r>
              <a:rPr lang="en-US" altLang="en-US" sz="2000" dirty="0">
                <a:cs typeface="Calibri" panose="020F0502020204030204" pitchFamily="34" charset="0"/>
              </a:rPr>
              <a:t>At least 25 years old</a:t>
            </a:r>
          </a:p>
          <a:p>
            <a:pPr lvl="2">
              <a:buFont typeface="Arial" panose="020B0604020202020204" pitchFamily="34" charset="0"/>
              <a:buChar char="•"/>
            </a:pPr>
            <a:r>
              <a:rPr lang="en-US" altLang="en-US" sz="2000" dirty="0">
                <a:cs typeface="Calibri" panose="020F0502020204030204" pitchFamily="34" charset="0"/>
              </a:rPr>
              <a:t>U.S. Citizen for at least seven years</a:t>
            </a:r>
          </a:p>
          <a:p>
            <a:pPr lvl="2">
              <a:buFont typeface="Arial" panose="020B0604020202020204" pitchFamily="34" charset="0"/>
              <a:buChar char="•"/>
            </a:pPr>
            <a:r>
              <a:rPr lang="en-US" altLang="en-US" sz="2000" dirty="0">
                <a:cs typeface="Calibri" panose="020F0502020204030204" pitchFamily="34" charset="0"/>
              </a:rPr>
              <a:t>Inhabitant of the state he or she represents.</a:t>
            </a:r>
          </a:p>
          <a:p>
            <a:pPr lvl="1">
              <a:buFont typeface="Arial" panose="020B0604020202020204" pitchFamily="34" charset="0"/>
              <a:buChar char="•"/>
            </a:pPr>
            <a:r>
              <a:rPr lang="en-US" altLang="en-US" sz="2000" dirty="0">
                <a:cs typeface="Calibri" panose="020F0502020204030204" pitchFamily="34" charset="0"/>
              </a:rPr>
              <a:t>Senate – Elected every six years</a:t>
            </a:r>
          </a:p>
          <a:p>
            <a:pPr lvl="2">
              <a:buFont typeface="Arial" panose="020B0604020202020204" pitchFamily="34" charset="0"/>
              <a:buChar char="•"/>
            </a:pPr>
            <a:r>
              <a:rPr lang="en-US" altLang="en-US" sz="2000" dirty="0">
                <a:cs typeface="Calibri" panose="020F0502020204030204" pitchFamily="34" charset="0"/>
              </a:rPr>
              <a:t>At least 30 years old</a:t>
            </a:r>
          </a:p>
          <a:p>
            <a:pPr lvl="2">
              <a:buFont typeface="Arial" panose="020B0604020202020204" pitchFamily="34" charset="0"/>
              <a:buChar char="•"/>
            </a:pPr>
            <a:r>
              <a:rPr lang="en-US" altLang="en-US" sz="2000" dirty="0">
                <a:cs typeface="Calibri" panose="020F0502020204030204" pitchFamily="34" charset="0"/>
              </a:rPr>
              <a:t>U.S. Citizen for at least nine years</a:t>
            </a:r>
          </a:p>
          <a:p>
            <a:pPr lvl="2">
              <a:buFont typeface="Arial" panose="020B0604020202020204" pitchFamily="34" charset="0"/>
              <a:buChar char="•"/>
            </a:pPr>
            <a:r>
              <a:rPr lang="en-US" altLang="en-US" sz="2000" dirty="0">
                <a:cs typeface="Calibri" panose="020F0502020204030204" pitchFamily="34" charset="0"/>
              </a:rPr>
              <a:t>Inhabitant of the state he or she represents.</a:t>
            </a:r>
          </a:p>
          <a:p>
            <a:pPr marL="914400" lvl="2" indent="0"/>
            <a:br>
              <a:rPr lang="en-US" altLang="en-US" sz="2500" dirty="0">
                <a:cs typeface="Calibri" panose="020F0502020204030204" pitchFamily="34" charset="0"/>
              </a:rPr>
            </a:br>
            <a:br>
              <a:rPr lang="en-US" altLang="en-US" sz="2500" dirty="0">
                <a:cs typeface="Calibri" panose="020F0502020204030204" pitchFamily="34" charset="0"/>
              </a:rPr>
            </a:br>
            <a:endParaRPr lang="en-US" altLang="en-US" sz="2500" dirty="0">
              <a:cs typeface="Calibri" panose="020F0502020204030204" pitchFamily="34" charset="0"/>
            </a:endParaRPr>
          </a:p>
        </p:txBody>
      </p:sp>
    </p:spTree>
    <p:extLst>
      <p:ext uri="{BB962C8B-B14F-4D97-AF65-F5344CB8AC3E}">
        <p14:creationId xmlns:p14="http://schemas.microsoft.com/office/powerpoint/2010/main" val="2983512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373411-D53C-4D4B-0E89-5FBF88035C5B}"/>
              </a:ext>
            </a:extLst>
          </p:cNvPr>
          <p:cNvSpPr>
            <a:spLocks noGrp="1"/>
          </p:cNvSpPr>
          <p:nvPr>
            <p:ph type="sldNum" sz="quarter" idx="12"/>
          </p:nvPr>
        </p:nvSpPr>
        <p:spPr/>
        <p:txBody>
          <a:bodyPr/>
          <a:lstStyle/>
          <a:p>
            <a:fld id="{8B669E2B-989C-4E6F-AC01-17ADF5549382}" type="slidenum">
              <a:rPr lang="en-US" smtClean="0"/>
              <a:t>3</a:t>
            </a:fld>
            <a:endParaRPr lang="en-US"/>
          </a:p>
        </p:txBody>
      </p:sp>
      <p:pic>
        <p:nvPicPr>
          <p:cNvPr id="3" name="Picture 2" descr="Map of Georgia's 14 congressional districts for the 119th Congress, showing district boundaries and numbers across the state.">
            <a:extLst>
              <a:ext uri="{FF2B5EF4-FFF2-40B4-BE49-F238E27FC236}">
                <a16:creationId xmlns:a16="http://schemas.microsoft.com/office/drawing/2014/main" id="{AFD391CF-7957-9BD4-0C6C-118AF486CBE9}"/>
              </a:ext>
            </a:extLst>
          </p:cNvPr>
          <p:cNvPicPr>
            <a:picLocks noChangeAspect="1"/>
          </p:cNvPicPr>
          <p:nvPr/>
        </p:nvPicPr>
        <p:blipFill>
          <a:blip r:embed="rId2"/>
          <a:stretch>
            <a:fillRect/>
          </a:stretch>
        </p:blipFill>
        <p:spPr>
          <a:xfrm>
            <a:off x="1224697" y="107576"/>
            <a:ext cx="6750423" cy="6750423"/>
          </a:xfrm>
          <a:prstGeom prst="rect">
            <a:avLst/>
          </a:prstGeom>
        </p:spPr>
      </p:pic>
    </p:spTree>
    <p:extLst>
      <p:ext uri="{BB962C8B-B14F-4D97-AF65-F5344CB8AC3E}">
        <p14:creationId xmlns:p14="http://schemas.microsoft.com/office/powerpoint/2010/main" val="326936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58C15B5-92D4-69D1-625D-154C5E1BDC4E}"/>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555F6893-C622-B707-D244-950D1EB29AE5}"/>
              </a:ext>
            </a:extLst>
          </p:cNvPr>
          <p:cNvSpPr txBox="1">
            <a:spLocks/>
          </p:cNvSpPr>
          <p:nvPr/>
        </p:nvSpPr>
        <p:spPr>
          <a:xfrm>
            <a:off x="1288111" y="0"/>
            <a:ext cx="5868062" cy="644274"/>
          </a:xfrm>
          <a:prstGeom prst="rect">
            <a:avLst/>
          </a:prstGeom>
        </p:spPr>
        <p:txBody>
          <a:bodyPr rtlCol="0">
            <a:normAutofit fontScale="77500" lnSpcReduction="20000"/>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Congress – Constitutional Powers</a:t>
            </a:r>
          </a:p>
        </p:txBody>
      </p:sp>
      <p:sp>
        <p:nvSpPr>
          <p:cNvPr id="3" name="Content Placeholder 2">
            <a:extLst>
              <a:ext uri="{FF2B5EF4-FFF2-40B4-BE49-F238E27FC236}">
                <a16:creationId xmlns:a16="http://schemas.microsoft.com/office/drawing/2014/main" id="{12AE3F4D-20B3-AD0B-1E01-A3A4F93B6251}"/>
              </a:ext>
            </a:extLst>
          </p:cNvPr>
          <p:cNvSpPr txBox="1">
            <a:spLocks/>
          </p:cNvSpPr>
          <p:nvPr/>
        </p:nvSpPr>
        <p:spPr bwMode="auto">
          <a:xfrm>
            <a:off x="517358" y="468103"/>
            <a:ext cx="8109284" cy="5339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cs typeface="Calibri" panose="020F0502020204030204" pitchFamily="34" charset="0"/>
              </a:rPr>
              <a:t>Article 1:  Constitutional Power for the Legislative Branch</a:t>
            </a:r>
            <a:endParaRPr lang="en-US" altLang="en-US" sz="1800" dirty="0">
              <a:cs typeface="Calibri" panose="020F0502020204030204" pitchFamily="34" charset="0"/>
              <a:hlinkClick r:id="rId3"/>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FF0000"/>
                </a:solidFill>
                <a:cs typeface="Calibri" panose="020F0502020204030204" pitchFamily="34" charset="0"/>
                <a:hlinkClick r:id="rId3">
                  <a:extLst>
                    <a:ext uri="{A12FA001-AC4F-418D-AE19-62706E023703}">
                      <ahyp:hlinkClr xmlns:ahyp="http://schemas.microsoft.com/office/drawing/2018/hyperlinkcolor" val="tx"/>
                    </a:ext>
                  </a:extLst>
                </a:hlinkClick>
              </a:rPr>
              <a:t>https://www.youtube.com/watch?v=EZc0eCZi61Q</a:t>
            </a:r>
            <a:endParaRPr lang="en-US" altLang="en-US" sz="1800" dirty="0">
              <a:solidFill>
                <a:srgbClr val="FF0000"/>
              </a:solidFill>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cs typeface="Calibri" panose="020F0502020204030204" pitchFamily="34" charset="0"/>
              </a:rPr>
              <a:t>(only up to 4:31 minutes)</a:t>
            </a:r>
            <a:br>
              <a:rPr lang="en-US" altLang="en-US" sz="1800" dirty="0">
                <a:cs typeface="Calibri" panose="020F0502020204030204" pitchFamily="34" charset="0"/>
              </a:rPr>
            </a:br>
            <a:endParaRPr lang="en-US" altLang="en-US" sz="1800" dirty="0">
              <a:cs typeface="Calibri" panose="020F0502020204030204" pitchFamily="34" charset="0"/>
            </a:endParaRP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Power to tax and spend money “Power of the Purse”</a:t>
            </a: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Senate: Confirmation Power</a:t>
            </a:r>
          </a:p>
          <a:p>
            <a:pPr marL="1028700" lvl="2" indent="-342900">
              <a:lnSpc>
                <a:spcPct val="107000"/>
              </a:lnSpc>
              <a:buFont typeface="Symbol" panose="05050102010706020507" pitchFamily="18" charset="2"/>
              <a:buChar char=""/>
            </a:pPr>
            <a:r>
              <a:rPr lang="en-US" sz="1400" kern="100" dirty="0">
                <a:latin typeface="Aptos" panose="020B0004020202020204" pitchFamily="34" charset="0"/>
                <a:ea typeface="Aptos" panose="020B0004020202020204" pitchFamily="34" charset="0"/>
                <a:cs typeface="Times New Roman" panose="02020603050405020304" pitchFamily="18" charset="0"/>
              </a:rPr>
              <a:t>Recommended by the President, Confirmed by the Senate (majority vote)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1485900" lvl="3" indent="-342900">
              <a:lnSpc>
                <a:spcPct val="107000"/>
              </a:lnSpc>
              <a:buFont typeface="Symbol" panose="05050102010706020507" pitchFamily="18" charset="2"/>
              <a:buChar char=""/>
            </a:pPr>
            <a:r>
              <a:rPr lang="en-US" sz="1400" kern="100" dirty="0">
                <a:latin typeface="Aptos" panose="020B0004020202020204" pitchFamily="34" charset="0"/>
                <a:ea typeface="Aptos" panose="020B0004020202020204" pitchFamily="34" charset="0"/>
                <a:cs typeface="Times New Roman" panose="02020603050405020304" pitchFamily="18" charset="0"/>
              </a:rPr>
              <a:t>Cabinet, All Federal Judges (including the Supreme Court)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600"/>
              </a:spcAft>
              <a:buFont typeface="Symbol" panose="05050102010706020507" pitchFamily="18"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Borrow money</a:t>
            </a: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Power to Imp</a:t>
            </a:r>
            <a:r>
              <a:rPr lang="en-US" sz="1800" kern="100" dirty="0">
                <a:latin typeface="Aptos" panose="020B0004020202020204" pitchFamily="34" charset="0"/>
                <a:ea typeface="Aptos" panose="020B0004020202020204" pitchFamily="34" charset="0"/>
                <a:cs typeface="Times New Roman" panose="02020603050405020304" pitchFamily="18" charset="0"/>
              </a:rPr>
              <a:t>each (House: Resolution to Impeach, Senate:   Trial)</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declare war, grant letters of marque and reprisal, and make rules concerning captures on land and </a:t>
            </a:r>
            <a:r>
              <a:rPr lang="en-US" sz="1800" kern="100" dirty="0">
                <a:effectLst/>
                <a:latin typeface="Aptos" panose="020B0004020202020204" pitchFamily="34" charset="0"/>
                <a:ea typeface="Aptos" panose="020B0004020202020204" pitchFamily="34" charset="0"/>
                <a:cs typeface="Times New Roman" panose="02020603050405020304" pitchFamily="18" charset="0"/>
                <a:hlinkClick r:id="rId4" tooltip="Prize (law)">
                  <a:extLst>
                    <a:ext uri="{A12FA001-AC4F-418D-AE19-62706E023703}">
                      <ahyp:hlinkClr xmlns:ahyp="http://schemas.microsoft.com/office/drawing/2018/hyperlinkcolor" val="tx"/>
                    </a:ext>
                  </a:extLst>
                </a:hlinkClick>
              </a:rPr>
              <a:t>water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nSpc>
                <a:spcPct val="107000"/>
              </a:lnSpc>
              <a:spcAft>
                <a:spcPts val="600"/>
              </a:spcAft>
              <a:buFont typeface="Symbol" panose="05050102010706020507" pitchFamily="18" charset="2"/>
              <a:buChar char=""/>
            </a:pPr>
            <a:r>
              <a:rPr lang="en-US" sz="1800" kern="100" dirty="0">
                <a:latin typeface="Aptos" panose="020B0004020202020204" pitchFamily="34" charset="0"/>
                <a:ea typeface="Aptos" panose="020B0004020202020204" pitchFamily="34" charset="0"/>
                <a:cs typeface="Times New Roman" panose="02020603050405020304" pitchFamily="18" charset="0"/>
              </a:rPr>
              <a:t>I</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nvestigate and to oversee the executive branch.</a:t>
            </a: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Impose and Adjust Tariffs  - 1962 (Trade Expansion Act-”threat to national security”)</a:t>
            </a: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Power to raise an army and navy: (Airforce added)</a:t>
            </a: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Establish laws of naturalization</a:t>
            </a:r>
          </a:p>
          <a:p>
            <a:pPr marL="342900" marR="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Establish lower courts</a:t>
            </a:r>
          </a:p>
          <a:p>
            <a:pPr marL="342900" lvl="0" indent="-342900">
              <a:lnSpc>
                <a:spcPct val="107000"/>
              </a:lnSpc>
              <a:spcAft>
                <a:spcPts val="6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Necessary and Proper Clause – Elastic Clause</a:t>
            </a:r>
            <a:br>
              <a:rPr lang="en-US" sz="1800" b="1" kern="100" dirty="0">
                <a:latin typeface="Aptos" panose="020B0004020202020204" pitchFamily="34" charset="0"/>
                <a:ea typeface="Aptos" panose="020B0004020202020204" pitchFamily="34" charset="0"/>
                <a:cs typeface="Times New Roman" panose="02020603050405020304" pitchFamily="18" charset="0"/>
              </a:rPr>
            </a:br>
            <a:r>
              <a:rPr lang="en-US" sz="1400" kern="100" dirty="0">
                <a:solidFill>
                  <a:srgbClr val="FF0000"/>
                </a:solidFill>
                <a:highlight>
                  <a:srgbClr val="FFFF00"/>
                </a:highlight>
                <a:latin typeface="Aptos" panose="020B0004020202020204" pitchFamily="34" charset="0"/>
                <a:ea typeface="Aptos" panose="020B000402020202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https://youtu.be/EsudHmV-B_Y</a:t>
            </a:r>
            <a:br>
              <a:rPr lang="en-US" altLang="en-US" sz="2500" dirty="0">
                <a:cs typeface="Calibri" panose="020F0502020204030204" pitchFamily="34" charset="0"/>
              </a:rPr>
            </a:br>
            <a:endParaRPr lang="en-US" altLang="en-US" sz="2500" dirty="0">
              <a:cs typeface="Calibri" panose="020F0502020204030204" pitchFamily="34" charset="0"/>
            </a:endParaRPr>
          </a:p>
        </p:txBody>
      </p:sp>
    </p:spTree>
    <p:extLst>
      <p:ext uri="{BB962C8B-B14F-4D97-AF65-F5344CB8AC3E}">
        <p14:creationId xmlns:p14="http://schemas.microsoft.com/office/powerpoint/2010/main" val="593617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BC1FD7D2-BD15-414E-8D77-8DE0A1887C44}"/>
              </a:ext>
            </a:extLst>
          </p:cNvPr>
          <p:cNvSpPr txBox="1">
            <a:spLocks/>
          </p:cNvSpPr>
          <p:nvPr/>
        </p:nvSpPr>
        <p:spPr>
          <a:xfrm>
            <a:off x="334021" y="470051"/>
            <a:ext cx="8248505" cy="758156"/>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800" b="1" dirty="0">
                <a:latin typeface="Calibri" panose="020F0502020204030204" pitchFamily="34" charset="0"/>
                <a:ea typeface="+mj-ea"/>
                <a:cs typeface="Calibri" panose="020F0502020204030204" pitchFamily="34" charset="0"/>
              </a:rPr>
              <a:t> Division of labor in Congress: the House</a:t>
            </a:r>
          </a:p>
        </p:txBody>
      </p:sp>
      <p:sp>
        <p:nvSpPr>
          <p:cNvPr id="3" name="Content Placeholder 2">
            <a:extLst>
              <a:ext uri="{FF2B5EF4-FFF2-40B4-BE49-F238E27FC236}">
                <a16:creationId xmlns:a16="http://schemas.microsoft.com/office/drawing/2014/main" id="{731C952B-44DB-7E49-84A0-1C036BE70AC8}"/>
              </a:ext>
            </a:extLst>
          </p:cNvPr>
          <p:cNvSpPr txBox="1">
            <a:spLocks/>
          </p:cNvSpPr>
          <p:nvPr/>
        </p:nvSpPr>
        <p:spPr bwMode="auto">
          <a:xfrm>
            <a:off x="334021" y="1337140"/>
            <a:ext cx="8136211" cy="4588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600"/>
              </a:spcAft>
              <a:buFont typeface="Arial" panose="020B0604020202020204" pitchFamily="34" charset="0"/>
              <a:buChar char="•"/>
            </a:pPr>
            <a:r>
              <a:rPr lang="en-US" altLang="en-US" sz="2500" dirty="0">
                <a:cs typeface="Calibri" panose="020F0502020204030204" pitchFamily="34" charset="0"/>
              </a:rPr>
              <a:t>The </a:t>
            </a:r>
            <a:r>
              <a:rPr lang="en-US" altLang="en-US" sz="2500" i="1" dirty="0">
                <a:cs typeface="Calibri" panose="020F0502020204030204" pitchFamily="34" charset="0"/>
              </a:rPr>
              <a:t>speaker</a:t>
            </a:r>
            <a:r>
              <a:rPr lang="en-US" altLang="en-US" sz="2500" dirty="0">
                <a:cs typeface="Calibri" panose="020F0502020204030204" pitchFamily="34" charset="0"/>
              </a:rPr>
              <a:t> is the most important leadership position, elected by all.</a:t>
            </a:r>
          </a:p>
          <a:p>
            <a:pPr lvl="1">
              <a:spcAft>
                <a:spcPts val="600"/>
              </a:spcAft>
              <a:buFont typeface="Arial" panose="020B0604020202020204" pitchFamily="34" charset="0"/>
              <a:buChar char="•"/>
            </a:pPr>
            <a:r>
              <a:rPr lang="en-US" sz="2000" dirty="0">
                <a:latin typeface="Calibri" panose="020F0502020204030204" pitchFamily="34" charset="0"/>
                <a:cs typeface="Calibri" panose="020F0502020204030204" pitchFamily="34" charset="0"/>
              </a:rPr>
              <a:t>Current Speaker:   Rep. Mike Johnson</a:t>
            </a:r>
            <a:endParaRPr lang="en-US" altLang="en-US" sz="2000" b="1" dirty="0">
              <a:cs typeface="Calibri" panose="020F0502020204030204" pitchFamily="34" charset="0"/>
            </a:endParaRPr>
          </a:p>
          <a:p>
            <a:pPr eaLnBrk="1" hangingPunct="1">
              <a:spcAft>
                <a:spcPts val="600"/>
              </a:spcAft>
              <a:buFont typeface="Arial" panose="020B0604020202020204" pitchFamily="34" charset="0"/>
              <a:buChar char="•"/>
            </a:pPr>
            <a:r>
              <a:rPr lang="en-US" altLang="en-US" sz="2500" dirty="0">
                <a:cs typeface="Calibri" panose="020F0502020204030204" pitchFamily="34" charset="0"/>
              </a:rPr>
              <a:t>The</a:t>
            </a:r>
            <a:r>
              <a:rPr lang="en-US" altLang="en-US" sz="2500" i="1" dirty="0">
                <a:cs typeface="Calibri" panose="020F0502020204030204" pitchFamily="34" charset="0"/>
              </a:rPr>
              <a:t> majority leader </a:t>
            </a:r>
            <a:r>
              <a:rPr lang="en-US" altLang="en-US" sz="2500" dirty="0">
                <a:cs typeface="Calibri" panose="020F0502020204030204" pitchFamily="34" charset="0"/>
              </a:rPr>
              <a:t>holds considerable power and is in the best position to assume the speakership when the speaker steps down.</a:t>
            </a:r>
          </a:p>
          <a:p>
            <a:pPr eaLnBrk="1" hangingPunct="1">
              <a:spcAft>
                <a:spcPts val="600"/>
              </a:spcAft>
              <a:buFont typeface="Arial" panose="020B0604020202020204" pitchFamily="34" charset="0"/>
              <a:buChar char="•"/>
            </a:pPr>
            <a:r>
              <a:rPr lang="en-US" altLang="en-US" sz="2500" dirty="0">
                <a:cs typeface="Calibri" panose="020F0502020204030204" pitchFamily="34" charset="0"/>
              </a:rPr>
              <a:t>The</a:t>
            </a:r>
            <a:r>
              <a:rPr lang="en-US" altLang="en-US" sz="2500" b="1" dirty="0">
                <a:cs typeface="Calibri" panose="020F0502020204030204" pitchFamily="34" charset="0"/>
              </a:rPr>
              <a:t> </a:t>
            </a:r>
            <a:r>
              <a:rPr lang="en-US" altLang="en-US" sz="2500" i="1" dirty="0">
                <a:cs typeface="Calibri" panose="020F0502020204030204" pitchFamily="34" charset="0"/>
              </a:rPr>
              <a:t>minority leader </a:t>
            </a:r>
            <a:r>
              <a:rPr lang="en-US" altLang="en-US" sz="2500" dirty="0">
                <a:cs typeface="Calibri" panose="020F0502020204030204" pitchFamily="34" charset="0"/>
              </a:rPr>
              <a:t>is the official leader of the opposition.</a:t>
            </a:r>
          </a:p>
          <a:p>
            <a:pPr marL="800100" lvl="1" indent="-342900">
              <a:spcAft>
                <a:spcPts val="600"/>
              </a:spcAft>
              <a:buFont typeface="Courier New" panose="02070309020205020404" pitchFamily="49" charset="0"/>
              <a:buChar char="o"/>
            </a:pPr>
            <a:r>
              <a:rPr lang="en-US" altLang="en-US" sz="2000" dirty="0">
                <a:cs typeface="Calibri" panose="020F0502020204030204" pitchFamily="34" charset="0"/>
              </a:rPr>
              <a:t>Rep. Hakeem Jeffries </a:t>
            </a:r>
          </a:p>
          <a:p>
            <a:pPr eaLnBrk="1" hangingPunct="1">
              <a:spcAft>
                <a:spcPts val="600"/>
              </a:spcAft>
              <a:buFont typeface="Arial" panose="020B0604020202020204" pitchFamily="34" charset="0"/>
              <a:buChar char="•"/>
            </a:pPr>
            <a:r>
              <a:rPr lang="en-US" altLang="en-US" sz="2500" dirty="0">
                <a:cs typeface="Calibri" panose="020F0502020204030204" pitchFamily="34" charset="0"/>
              </a:rPr>
              <a:t>The </a:t>
            </a:r>
            <a:r>
              <a:rPr lang="en-US" altLang="en-US" sz="2500" i="1" dirty="0">
                <a:cs typeface="Calibri" panose="020F0502020204030204" pitchFamily="34" charset="0"/>
              </a:rPr>
              <a:t>whips</a:t>
            </a:r>
            <a:r>
              <a:rPr lang="en-US" altLang="en-US" sz="2500" dirty="0">
                <a:cs typeface="Calibri" panose="020F0502020204030204" pitchFamily="34" charset="0"/>
              </a:rPr>
              <a:t> ”whip up” votes and otherwise enforce party discipline.</a:t>
            </a:r>
            <a:endParaRPr lang="en-US" altLang="en-US" sz="2500" b="1" dirty="0">
              <a:cs typeface="Calibri" panose="020F0502020204030204" pitchFamily="34" charset="0"/>
            </a:endParaRPr>
          </a:p>
        </p:txBody>
      </p:sp>
    </p:spTree>
    <p:extLst>
      <p:ext uri="{BB962C8B-B14F-4D97-AF65-F5344CB8AC3E}">
        <p14:creationId xmlns:p14="http://schemas.microsoft.com/office/powerpoint/2010/main" val="190178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043C1035-9FDE-F844-A7A3-CCA8382D6FC6}"/>
              </a:ext>
            </a:extLst>
          </p:cNvPr>
          <p:cNvSpPr txBox="1">
            <a:spLocks/>
          </p:cNvSpPr>
          <p:nvPr/>
        </p:nvSpPr>
        <p:spPr>
          <a:xfrm>
            <a:off x="811331" y="720789"/>
            <a:ext cx="7844589" cy="602685"/>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en-US" sz="3600" b="1" dirty="0">
                <a:latin typeface="Calibri" panose="020F0502020204030204" pitchFamily="34" charset="0"/>
                <a:ea typeface="ＭＳ Ｐゴシック" panose="020B0600070205080204" pitchFamily="34" charset="-128"/>
                <a:cs typeface="Calibri" panose="020F0502020204030204" pitchFamily="34" charset="0"/>
              </a:rPr>
              <a:t>Division of labor in Congress: the Senate</a:t>
            </a:r>
            <a:endParaRPr lang="en-US" altLang="en-US" sz="3600" dirty="0">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 name="Content Placeholder 2">
            <a:extLst>
              <a:ext uri="{FF2B5EF4-FFF2-40B4-BE49-F238E27FC236}">
                <a16:creationId xmlns:a16="http://schemas.microsoft.com/office/drawing/2014/main" id="{6324DAA4-1B2B-1546-B474-C300E6B83C1D}"/>
              </a:ext>
            </a:extLst>
          </p:cNvPr>
          <p:cNvSpPr txBox="1">
            <a:spLocks/>
          </p:cNvSpPr>
          <p:nvPr/>
        </p:nvSpPr>
        <p:spPr bwMode="auto">
          <a:xfrm>
            <a:off x="1333905" y="1764297"/>
            <a:ext cx="6799443" cy="3080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1200"/>
              </a:spcAft>
              <a:buFont typeface="Arial" panose="020B0604020202020204" pitchFamily="34" charset="0"/>
              <a:buChar char="•"/>
            </a:pPr>
            <a:r>
              <a:rPr lang="en-US" altLang="en-US" sz="2500" dirty="0">
                <a:cs typeface="Calibri" panose="020F0502020204030204" pitchFamily="34" charset="0"/>
              </a:rPr>
              <a:t>Unlike the House, the Senate doesn’t have a speaker.</a:t>
            </a:r>
          </a:p>
          <a:p>
            <a:pPr eaLnBrk="1" hangingPunct="1">
              <a:spcAft>
                <a:spcPts val="1200"/>
              </a:spcAft>
              <a:buFont typeface="Arial" panose="020B0604020202020204" pitchFamily="34" charset="0"/>
              <a:buChar char="•"/>
            </a:pPr>
            <a:r>
              <a:rPr lang="en-US" altLang="en-US" sz="2500" dirty="0">
                <a:cs typeface="Calibri" panose="020F0502020204030204" pitchFamily="34" charset="0"/>
              </a:rPr>
              <a:t>Instead, the Senate has majority and minority leaders and whips; majority and minority leaders hold power.</a:t>
            </a:r>
          </a:p>
          <a:p>
            <a:pPr marL="800100" lvl="1" indent="-342900">
              <a:spcAft>
                <a:spcPts val="1200"/>
              </a:spcAft>
              <a:buFont typeface="Courier New" panose="02070309020205020404" pitchFamily="49" charset="0"/>
              <a:buChar char="o"/>
            </a:pPr>
            <a:r>
              <a:rPr lang="en-US" altLang="en-US" sz="2000" dirty="0">
                <a:cs typeface="Calibri" panose="020F0502020204030204" pitchFamily="34" charset="0"/>
              </a:rPr>
              <a:t>Current Majority Leader: Sen. John Thune</a:t>
            </a:r>
          </a:p>
          <a:p>
            <a:pPr marL="800100" lvl="1" indent="-342900">
              <a:spcAft>
                <a:spcPts val="1200"/>
              </a:spcAft>
              <a:buFont typeface="Courier New" panose="02070309020205020404" pitchFamily="49" charset="0"/>
              <a:buChar char="o"/>
            </a:pPr>
            <a:r>
              <a:rPr lang="en-US" altLang="en-US" sz="2000" dirty="0">
                <a:cs typeface="Calibri" panose="020F0502020204030204" pitchFamily="34" charset="0"/>
              </a:rPr>
              <a:t>Current Minority Leader: Sen. Chuck Schumer</a:t>
            </a:r>
          </a:p>
          <a:p>
            <a:pPr eaLnBrk="1" hangingPunct="1">
              <a:spcAft>
                <a:spcPts val="1200"/>
              </a:spcAft>
              <a:buFont typeface="Arial" panose="020B0604020202020204" pitchFamily="34" charset="0"/>
              <a:buChar char="•"/>
            </a:pPr>
            <a:r>
              <a:rPr lang="en-US" altLang="en-US" sz="2500" dirty="0">
                <a:cs typeface="Calibri" panose="020F0502020204030204" pitchFamily="34" charset="0"/>
              </a:rPr>
              <a:t>The Senate’s president is the elected vice president of the United States.</a:t>
            </a:r>
          </a:p>
          <a:p>
            <a:pPr marL="800100" lvl="1" indent="-342900">
              <a:spcAft>
                <a:spcPts val="1200"/>
              </a:spcAft>
              <a:buFont typeface="Courier New" panose="02070309020205020404" pitchFamily="49" charset="0"/>
              <a:buChar char="o"/>
            </a:pPr>
            <a:r>
              <a:rPr lang="en-US" altLang="en-US" sz="2000" dirty="0">
                <a:cs typeface="Calibri" panose="020F0502020204030204" pitchFamily="34" charset="0"/>
              </a:rPr>
              <a:t>Vice President JD Vance</a:t>
            </a:r>
          </a:p>
        </p:txBody>
      </p:sp>
    </p:spTree>
    <p:extLst>
      <p:ext uri="{BB962C8B-B14F-4D97-AF65-F5344CB8AC3E}">
        <p14:creationId xmlns:p14="http://schemas.microsoft.com/office/powerpoint/2010/main" val="256112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CAD782C4-C081-AA4B-88CC-BAB9FC3820A6}"/>
              </a:ext>
            </a:extLst>
          </p:cNvPr>
          <p:cNvSpPr txBox="1">
            <a:spLocks/>
          </p:cNvSpPr>
          <p:nvPr/>
        </p:nvSpPr>
        <p:spPr>
          <a:xfrm>
            <a:off x="1692442" y="398170"/>
            <a:ext cx="5630780" cy="669926"/>
          </a:xfrm>
          <a:prstGeom prst="rect">
            <a:avLst/>
          </a:prstGeom>
        </p:spPr>
        <p:txBody>
          <a:bodyPr rtlCol="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The Speaker of the House</a:t>
            </a:r>
          </a:p>
        </p:txBody>
      </p:sp>
      <p:sp>
        <p:nvSpPr>
          <p:cNvPr id="3" name="Content Placeholder 2">
            <a:extLst>
              <a:ext uri="{FF2B5EF4-FFF2-40B4-BE49-F238E27FC236}">
                <a16:creationId xmlns:a16="http://schemas.microsoft.com/office/drawing/2014/main" id="{CDB57BC8-1EB0-044F-99C7-7D8BA2A4323A}"/>
              </a:ext>
            </a:extLst>
          </p:cNvPr>
          <p:cNvSpPr txBox="1">
            <a:spLocks/>
          </p:cNvSpPr>
          <p:nvPr/>
        </p:nvSpPr>
        <p:spPr bwMode="auto">
          <a:xfrm>
            <a:off x="701842" y="1261054"/>
            <a:ext cx="7740316" cy="4132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Aft>
                <a:spcPts val="1200"/>
              </a:spcAft>
              <a:defRPr/>
            </a:pPr>
            <a:r>
              <a:rPr lang="en-US" sz="2300" dirty="0">
                <a:latin typeface="Calibri" panose="020F0502020204030204" pitchFamily="34" charset="0"/>
                <a:cs typeface="Calibri" panose="020F0502020204030204" pitchFamily="34" charset="0"/>
              </a:rPr>
              <a:t>The most important leadership position in the House is that of the </a:t>
            </a:r>
            <a:r>
              <a:rPr lang="en-US" sz="2300" b="1" dirty="0">
                <a:latin typeface="Calibri" panose="020F0502020204030204" pitchFamily="34" charset="0"/>
                <a:cs typeface="Calibri" panose="020F0502020204030204" pitchFamily="34" charset="0"/>
              </a:rPr>
              <a:t>speaker</a:t>
            </a:r>
            <a:r>
              <a:rPr lang="en-US" sz="2300" dirty="0">
                <a:latin typeface="Calibri" panose="020F0502020204030204" pitchFamily="34" charset="0"/>
                <a:cs typeface="Calibri" panose="020F0502020204030204" pitchFamily="34" charset="0"/>
              </a:rPr>
              <a:t>, who is elected by the entire body. </a:t>
            </a:r>
          </a:p>
          <a:p>
            <a:pPr marL="457200" indent="-457200" eaLnBrk="1" hangingPunct="1">
              <a:spcAft>
                <a:spcPts val="1200"/>
              </a:spcAft>
              <a:buFont typeface="Arial"/>
              <a:buChar char="•"/>
              <a:defRPr/>
            </a:pPr>
            <a:r>
              <a:rPr lang="en-US" sz="2300" dirty="0">
                <a:latin typeface="Calibri" panose="020F0502020204030204" pitchFamily="34" charset="0"/>
                <a:cs typeface="Calibri" panose="020F0502020204030204" pitchFamily="34" charset="0"/>
              </a:rPr>
              <a:t>The speaker is the presiding officer and head of the House, the partisan leader of the majority party in the House</a:t>
            </a:r>
          </a:p>
          <a:p>
            <a:pPr marL="1200150" lvl="1" indent="-457200">
              <a:spcAft>
                <a:spcPts val="1200"/>
              </a:spcAft>
              <a:buFont typeface="Arial"/>
              <a:buChar char="•"/>
              <a:defRPr/>
            </a:pPr>
            <a:r>
              <a:rPr lang="en-US" sz="2000" dirty="0">
                <a:latin typeface="Calibri" panose="020F0502020204030204" pitchFamily="34" charset="0"/>
                <a:cs typeface="Calibri" panose="020F0502020204030204" pitchFamily="34" charset="0"/>
              </a:rPr>
              <a:t>Constitution doesn’t say if the Speaker must be an elected member of the House.</a:t>
            </a:r>
          </a:p>
          <a:p>
            <a:pPr marL="1200150" lvl="1" indent="-457200">
              <a:spcAft>
                <a:spcPts val="1200"/>
              </a:spcAft>
              <a:buFont typeface="Arial"/>
              <a:buChar char="•"/>
              <a:defRPr/>
            </a:pPr>
            <a:r>
              <a:rPr lang="en-US" sz="2000" dirty="0">
                <a:latin typeface="Calibri" panose="020F0502020204030204" pitchFamily="34" charset="0"/>
                <a:cs typeface="Calibri" panose="020F0502020204030204" pitchFamily="34" charset="0"/>
              </a:rPr>
              <a:t>2</a:t>
            </a:r>
            <a:r>
              <a:rPr lang="en-US" sz="2000" baseline="30000" dirty="0">
                <a:latin typeface="Calibri" panose="020F0502020204030204" pitchFamily="34" charset="0"/>
                <a:cs typeface="Calibri" panose="020F0502020204030204" pitchFamily="34" charset="0"/>
              </a:rPr>
              <a:t>nd</a:t>
            </a:r>
            <a:r>
              <a:rPr lang="en-US" sz="2000" dirty="0">
                <a:latin typeface="Calibri" panose="020F0502020204030204" pitchFamily="34" charset="0"/>
                <a:cs typeface="Calibri" panose="020F0502020204030204" pitchFamily="34" charset="0"/>
              </a:rPr>
              <a:t> in Line to be President (behind the Vice President)</a:t>
            </a:r>
          </a:p>
          <a:p>
            <a:pPr marL="457200" indent="-457200" eaLnBrk="1" hangingPunct="1">
              <a:spcAft>
                <a:spcPts val="1200"/>
              </a:spcAft>
              <a:buFont typeface="Arial"/>
              <a:buChar char="•"/>
              <a:defRPr/>
            </a:pPr>
            <a:r>
              <a:rPr lang="en-US" sz="2300" dirty="0">
                <a:latin typeface="Calibri" panose="020F0502020204030204" pitchFamily="34" charset="0"/>
                <a:cs typeface="Calibri" panose="020F0502020204030204" pitchFamily="34" charset="0"/>
              </a:rPr>
              <a:t>The speaker serves until his or her party loses or until he or she is voted out of position or steps down.</a:t>
            </a:r>
          </a:p>
          <a:p>
            <a:pPr marL="457200" indent="-457200" eaLnBrk="1" hangingPunct="1">
              <a:spcAft>
                <a:spcPts val="1200"/>
              </a:spcAft>
              <a:buFont typeface="Arial"/>
              <a:buChar char="•"/>
              <a:defRPr/>
            </a:pPr>
            <a:r>
              <a:rPr lang="en-US" sz="2300" dirty="0">
                <a:latin typeface="Calibri" panose="020F0502020204030204" pitchFamily="34" charset="0"/>
                <a:cs typeface="Calibri" panose="020F0502020204030204" pitchFamily="34" charset="0"/>
              </a:rPr>
              <a:t>The speaker appoints members and chairs to committees and can create select committees to fulfill his or her purposes and then disband them.</a:t>
            </a:r>
          </a:p>
          <a:p>
            <a:pPr eaLnBrk="1" hangingPunct="1">
              <a:spcBef>
                <a:spcPct val="20000"/>
              </a:spcBef>
              <a:buFont typeface="Arial" charset="0"/>
              <a:buNone/>
              <a:defRPr/>
            </a:pPr>
            <a:endParaRPr lang="en-US"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28054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E0E40738-0EC9-664F-B13E-D20BC8BBD5B5}"/>
              </a:ext>
            </a:extLst>
          </p:cNvPr>
          <p:cNvSpPr txBox="1">
            <a:spLocks/>
          </p:cNvSpPr>
          <p:nvPr/>
        </p:nvSpPr>
        <p:spPr>
          <a:xfrm>
            <a:off x="782052" y="275007"/>
            <a:ext cx="7375932" cy="713874"/>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800" b="1" dirty="0">
                <a:latin typeface="Calibri" panose="020F0502020204030204" pitchFamily="34" charset="0"/>
                <a:ea typeface="+mj-ea"/>
                <a:cs typeface="Calibri" panose="020F0502020204030204" pitchFamily="34" charset="0"/>
              </a:rPr>
              <a:t> Types of congressional committees</a:t>
            </a:r>
          </a:p>
        </p:txBody>
      </p:sp>
      <p:sp>
        <p:nvSpPr>
          <p:cNvPr id="3" name="Content Placeholder 2">
            <a:extLst>
              <a:ext uri="{FF2B5EF4-FFF2-40B4-BE49-F238E27FC236}">
                <a16:creationId xmlns:a16="http://schemas.microsoft.com/office/drawing/2014/main" id="{038FB207-16DF-DF46-8E43-1F880B5D4B4C}"/>
              </a:ext>
            </a:extLst>
          </p:cNvPr>
          <p:cNvSpPr txBox="1">
            <a:spLocks/>
          </p:cNvSpPr>
          <p:nvPr/>
        </p:nvSpPr>
        <p:spPr bwMode="auto">
          <a:xfrm>
            <a:off x="551464" y="1501607"/>
            <a:ext cx="7512069" cy="4649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600"/>
              </a:spcAft>
              <a:buFont typeface="Arial" panose="020B0604020202020204" pitchFamily="34" charset="0"/>
              <a:buChar char="•"/>
            </a:pPr>
            <a:r>
              <a:rPr lang="en-US" altLang="en-US" sz="2200" b="1" dirty="0">
                <a:cs typeface="Calibri" panose="020F0502020204030204" pitchFamily="34" charset="0"/>
              </a:rPr>
              <a:t>Standing committees </a:t>
            </a:r>
            <a:r>
              <a:rPr lang="en-US" altLang="en-US" sz="2200" dirty="0">
                <a:cs typeface="Calibri" panose="020F0502020204030204" pitchFamily="34" charset="0"/>
              </a:rPr>
              <a:t>are permanent committees. They are the first call for proposed bills.</a:t>
            </a:r>
          </a:p>
          <a:p>
            <a:pPr marL="341313" indent="0" eaLnBrk="1" hangingPunct="1">
              <a:spcAft>
                <a:spcPts val="1200"/>
              </a:spcAft>
            </a:pPr>
            <a:r>
              <a:rPr lang="en-US" altLang="en-US" sz="2200" dirty="0">
                <a:solidFill>
                  <a:srgbClr val="FF0000"/>
                </a:solidFill>
                <a:cs typeface="Calibri" panose="020F0502020204030204" pitchFamily="34" charset="0"/>
                <a:hlinkClick r:id="rId2">
                  <a:extLst>
                    <a:ext uri="{A12FA001-AC4F-418D-AE19-62706E023703}">
                      <ahyp:hlinkClr xmlns:ahyp="http://schemas.microsoft.com/office/drawing/2018/hyperlinkcolor" val="tx"/>
                    </a:ext>
                  </a:extLst>
                </a:hlinkClick>
              </a:rPr>
              <a:t>https://www.congress.gov/committees</a:t>
            </a:r>
            <a:endParaRPr lang="en-US" altLang="en-US" sz="2200" dirty="0">
              <a:cs typeface="Calibri" panose="020F0502020204030204" pitchFamily="34" charset="0"/>
            </a:endParaRPr>
          </a:p>
          <a:p>
            <a:pPr eaLnBrk="1" hangingPunct="1">
              <a:spcAft>
                <a:spcPts val="600"/>
              </a:spcAft>
              <a:buFont typeface="Arial" panose="020B0604020202020204" pitchFamily="34" charset="0"/>
              <a:buChar char="•"/>
            </a:pPr>
            <a:r>
              <a:rPr lang="en-US" altLang="en-US" sz="2200" b="1" dirty="0">
                <a:cs typeface="Calibri" panose="020F0502020204030204" pitchFamily="34" charset="0"/>
              </a:rPr>
              <a:t>Conference committees </a:t>
            </a:r>
            <a:r>
              <a:rPr lang="en-US" altLang="en-US" sz="2200" dirty="0">
                <a:cs typeface="Calibri" panose="020F0502020204030204" pitchFamily="34" charset="0"/>
              </a:rPr>
              <a:t>are used to reconcile different bills passed in both the House and the Senate. They are appointed on an ad hoc basis.</a:t>
            </a:r>
          </a:p>
          <a:p>
            <a:pPr eaLnBrk="1" hangingPunct="1">
              <a:spcAft>
                <a:spcPts val="600"/>
              </a:spcAft>
              <a:buFont typeface="Arial" panose="020B0604020202020204" pitchFamily="34" charset="0"/>
              <a:buChar char="•"/>
            </a:pPr>
            <a:r>
              <a:rPr lang="en-US" altLang="en-US" sz="2200" b="1" dirty="0">
                <a:cs typeface="Calibri" panose="020F0502020204030204" pitchFamily="34" charset="0"/>
              </a:rPr>
              <a:t>Ad hoc committees</a:t>
            </a:r>
            <a:r>
              <a:rPr lang="en-US" altLang="en-US" sz="2200" dirty="0">
                <a:cs typeface="Calibri" panose="020F0502020204030204" pitchFamily="34" charset="0"/>
              </a:rPr>
              <a:t>, also called special or select committees, are temporary committees set up to address specific topics. These types of committees often conduct special investigations.</a:t>
            </a:r>
          </a:p>
          <a:p>
            <a:pPr eaLnBrk="1" hangingPunct="1">
              <a:spcBef>
                <a:spcPct val="20000"/>
              </a:spcBef>
              <a:buFont typeface="Arial" panose="020B0604020202020204" pitchFamily="34" charset="0"/>
              <a:buNone/>
            </a:pPr>
            <a:endParaRPr lang="en-US" altLang="en-US" sz="2200" dirty="0">
              <a:cs typeface="Calibri" panose="020F0502020204030204" pitchFamily="34" charset="0"/>
            </a:endParaRPr>
          </a:p>
        </p:txBody>
      </p:sp>
    </p:spTree>
    <p:extLst>
      <p:ext uri="{BB962C8B-B14F-4D97-AF65-F5344CB8AC3E}">
        <p14:creationId xmlns:p14="http://schemas.microsoft.com/office/powerpoint/2010/main" val="3842349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4" name="Title 5">
            <a:extLst>
              <a:ext uri="{FF2B5EF4-FFF2-40B4-BE49-F238E27FC236}">
                <a16:creationId xmlns:a16="http://schemas.microsoft.com/office/drawing/2014/main" id="{4F41A138-0880-7A4C-85A6-701427F98E53}"/>
              </a:ext>
            </a:extLst>
          </p:cNvPr>
          <p:cNvSpPr txBox="1">
            <a:spLocks/>
          </p:cNvSpPr>
          <p:nvPr/>
        </p:nvSpPr>
        <p:spPr>
          <a:xfrm>
            <a:off x="287033" y="300351"/>
            <a:ext cx="8759677" cy="652296"/>
          </a:xfrm>
          <a:prstGeom prst="rect">
            <a:avLst/>
          </a:prstGeom>
        </p:spPr>
        <p:txBody>
          <a:bodyPr rtlCol="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en-US" sz="3600" b="1" dirty="0">
                <a:latin typeface="Calibri" panose="020F0502020204030204" pitchFamily="34" charset="0"/>
                <a:ea typeface="+mj-ea"/>
                <a:cs typeface="Calibri" panose="020F0502020204030204" pitchFamily="34" charset="0"/>
              </a:rPr>
              <a:t>Gerrymandering and apportionment of seats</a:t>
            </a:r>
          </a:p>
        </p:txBody>
      </p:sp>
      <p:sp>
        <p:nvSpPr>
          <p:cNvPr id="3" name="Content Placeholder 2">
            <a:extLst>
              <a:ext uri="{FF2B5EF4-FFF2-40B4-BE49-F238E27FC236}">
                <a16:creationId xmlns:a16="http://schemas.microsoft.com/office/drawing/2014/main" id="{808203EF-C747-6042-89C3-B410D51C08F4}"/>
              </a:ext>
            </a:extLst>
          </p:cNvPr>
          <p:cNvSpPr txBox="1">
            <a:spLocks/>
          </p:cNvSpPr>
          <p:nvPr/>
        </p:nvSpPr>
        <p:spPr bwMode="auto">
          <a:xfrm>
            <a:off x="502256" y="1108295"/>
            <a:ext cx="7881932" cy="3369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1200"/>
              </a:spcAft>
              <a:buFont typeface="Arial" panose="020B0604020202020204" pitchFamily="34" charset="0"/>
              <a:buChar char="•"/>
            </a:pPr>
            <a:r>
              <a:rPr lang="en-US" altLang="en-US" sz="2500" b="1" dirty="0"/>
              <a:t>Gerrymandering</a:t>
            </a:r>
            <a:r>
              <a:rPr lang="en-US" altLang="en-US" sz="2500" dirty="0"/>
              <a:t> is the manipulative dividing of election district boundaries to give majority advantage to one party.</a:t>
            </a:r>
          </a:p>
          <a:p>
            <a:pPr eaLnBrk="1" hangingPunct="1">
              <a:spcAft>
                <a:spcPts val="1200"/>
              </a:spcAft>
              <a:buFont typeface="Arial" panose="020B0604020202020204" pitchFamily="34" charset="0"/>
              <a:buChar char="•"/>
            </a:pPr>
            <a:r>
              <a:rPr lang="en-US" altLang="en-US" sz="2500" b="1" dirty="0"/>
              <a:t>Congressional apportionment </a:t>
            </a:r>
            <a:r>
              <a:rPr lang="en-US" altLang="en-US" sz="2500" dirty="0"/>
              <a:t>is achieved through the equal proportions method, which uses a mathematical formula to allocate seats based on U.S. Census Bureau population data, gathered every ten years as required by the Constitution.</a:t>
            </a:r>
          </a:p>
          <a:p>
            <a:pPr eaLnBrk="1" hangingPunct="1">
              <a:spcAft>
                <a:spcPts val="1200"/>
              </a:spcAft>
              <a:buFont typeface="Arial" panose="020B0604020202020204" pitchFamily="34" charset="0"/>
              <a:buChar char="•"/>
            </a:pPr>
            <a:r>
              <a:rPr lang="en-US" altLang="en-US" sz="2500" dirty="0"/>
              <a:t>Historically Every Ten Years to Coincide with the Census.</a:t>
            </a:r>
          </a:p>
        </p:txBody>
      </p:sp>
    </p:spTree>
    <p:extLst>
      <p:ext uri="{BB962C8B-B14F-4D97-AF65-F5344CB8AC3E}">
        <p14:creationId xmlns:p14="http://schemas.microsoft.com/office/powerpoint/2010/main" val="1649207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0BF279-E1AA-4908-C4AD-580D2FAE39E7}"/>
              </a:ext>
            </a:extLst>
          </p:cNvPr>
          <p:cNvSpPr>
            <a:spLocks noGrp="1"/>
          </p:cNvSpPr>
          <p:nvPr>
            <p:ph type="sldNum" sz="quarter" idx="12"/>
          </p:nvPr>
        </p:nvSpPr>
        <p:spPr/>
        <p:txBody>
          <a:bodyPr/>
          <a:lstStyle/>
          <a:p>
            <a:fld id="{8B669E2B-989C-4E6F-AC01-17ADF5549382}" type="slidenum">
              <a:rPr lang="en-US" smtClean="0"/>
              <a:t>10</a:t>
            </a:fld>
            <a:endParaRPr lang="en-US"/>
          </a:p>
        </p:txBody>
      </p:sp>
      <p:pic>
        <p:nvPicPr>
          <p:cNvPr id="4" name="Picture 3">
            <a:extLst>
              <a:ext uri="{FF2B5EF4-FFF2-40B4-BE49-F238E27FC236}">
                <a16:creationId xmlns:a16="http://schemas.microsoft.com/office/drawing/2014/main" id="{99A1ABB2-B89D-AABF-9CE5-8BB8CFCA887E}"/>
              </a:ext>
            </a:extLst>
          </p:cNvPr>
          <p:cNvPicPr>
            <a:picLocks noChangeAspect="1"/>
          </p:cNvPicPr>
          <p:nvPr/>
        </p:nvPicPr>
        <p:blipFill>
          <a:blip r:embed="rId2"/>
          <a:stretch>
            <a:fillRect/>
          </a:stretch>
        </p:blipFill>
        <p:spPr>
          <a:xfrm>
            <a:off x="1009547" y="2838614"/>
            <a:ext cx="5014911" cy="3810803"/>
          </a:xfrm>
          <a:prstGeom prst="rect">
            <a:avLst/>
          </a:prstGeom>
        </p:spPr>
      </p:pic>
      <p:sp>
        <p:nvSpPr>
          <p:cNvPr id="10" name="TextBox 9">
            <a:extLst>
              <a:ext uri="{FF2B5EF4-FFF2-40B4-BE49-F238E27FC236}">
                <a16:creationId xmlns:a16="http://schemas.microsoft.com/office/drawing/2014/main" id="{5FC67BD0-3EEC-EAE7-C997-B4133E80DC02}"/>
              </a:ext>
            </a:extLst>
          </p:cNvPr>
          <p:cNvSpPr txBox="1"/>
          <p:nvPr/>
        </p:nvSpPr>
        <p:spPr>
          <a:xfrm>
            <a:off x="842838" y="956896"/>
            <a:ext cx="4627658" cy="1938992"/>
          </a:xfrm>
          <a:prstGeom prst="rect">
            <a:avLst/>
          </a:prstGeom>
          <a:noFill/>
        </p:spPr>
        <p:txBody>
          <a:bodyPr wrap="square">
            <a:spAutoFit/>
          </a:bodyPr>
          <a:lstStyle/>
          <a:p>
            <a:pPr marL="341313" indent="-341313" eaLnBrk="1" hangingPunct="1">
              <a:spcAft>
                <a:spcPts val="1200"/>
              </a:spcAft>
              <a:buFont typeface="Arial" panose="020B0604020202020204" pitchFamily="34" charset="0"/>
              <a:buChar char="•"/>
            </a:pPr>
            <a:r>
              <a:rPr lang="en-US" altLang="en-US" sz="2000" dirty="0"/>
              <a:t>Last Time Redistricting between Census for Political Reasons:  2003 (Texas) </a:t>
            </a:r>
          </a:p>
          <a:p>
            <a:pPr marL="341313" indent="-341313" eaLnBrk="1" hangingPunct="1">
              <a:spcAft>
                <a:spcPts val="1200"/>
              </a:spcAft>
              <a:buFont typeface="Arial" panose="020B0604020202020204" pitchFamily="34" charset="0"/>
              <a:buChar char="•"/>
            </a:pPr>
            <a:r>
              <a:rPr lang="en-US" altLang="en-US" sz="2000" dirty="0">
                <a:solidFill>
                  <a:srgbClr val="FF0000"/>
                </a:solidFill>
              </a:rPr>
              <a:t>https://youtu.be/pbOFFpH27io</a:t>
            </a:r>
          </a:p>
          <a:p>
            <a:pPr marL="341313" indent="-341313" eaLnBrk="1" hangingPunct="1">
              <a:spcAft>
                <a:spcPts val="1200"/>
              </a:spcAft>
              <a:buFont typeface="Arial" panose="020B0604020202020204" pitchFamily="34" charset="0"/>
              <a:buChar char="•"/>
            </a:pPr>
            <a:r>
              <a:rPr lang="en-US" sz="2000" dirty="0">
                <a:solidFill>
                  <a:srgbClr val="FF0000"/>
                </a:solidFill>
                <a:hlinkClick r:id="rId3">
                  <a:extLst>
                    <a:ext uri="{A12FA001-AC4F-418D-AE19-62706E023703}">
                      <ahyp:hlinkClr xmlns:ahyp="http://schemas.microsoft.com/office/drawing/2018/hyperlinkcolor" val="tx"/>
                    </a:ext>
                  </a:extLst>
                </a:hlinkClick>
              </a:rPr>
              <a:t>Bing Videos</a:t>
            </a:r>
            <a:endParaRPr lang="en-US" altLang="en-US" sz="2000" dirty="0">
              <a:solidFill>
                <a:srgbClr val="FF0000"/>
              </a:solidFill>
            </a:endParaRPr>
          </a:p>
        </p:txBody>
      </p:sp>
      <p:sp>
        <p:nvSpPr>
          <p:cNvPr id="12" name="Title 5">
            <a:extLst>
              <a:ext uri="{FF2B5EF4-FFF2-40B4-BE49-F238E27FC236}">
                <a16:creationId xmlns:a16="http://schemas.microsoft.com/office/drawing/2014/main" id="{8FB3D72D-6986-18F8-8A0E-43BE59FAD6EE}"/>
              </a:ext>
            </a:extLst>
          </p:cNvPr>
          <p:cNvSpPr txBox="1">
            <a:spLocks/>
          </p:cNvSpPr>
          <p:nvPr/>
        </p:nvSpPr>
        <p:spPr>
          <a:xfrm>
            <a:off x="192161" y="61812"/>
            <a:ext cx="8759677" cy="652296"/>
          </a:xfrm>
          <a:prstGeom prst="rect">
            <a:avLst/>
          </a:prstGeom>
        </p:spPr>
        <p:txBody>
          <a:bodyPr rtlCol="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en-US" sz="3600" b="1" dirty="0">
                <a:latin typeface="Calibri" panose="020F0502020204030204" pitchFamily="34" charset="0"/>
                <a:ea typeface="+mj-ea"/>
                <a:cs typeface="Calibri" panose="020F0502020204030204" pitchFamily="34" charset="0"/>
              </a:rPr>
              <a:t>2025 – 2026 Redistricting</a:t>
            </a:r>
          </a:p>
        </p:txBody>
      </p:sp>
    </p:spTree>
    <p:extLst>
      <p:ext uri="{BB962C8B-B14F-4D97-AF65-F5344CB8AC3E}">
        <p14:creationId xmlns:p14="http://schemas.microsoft.com/office/powerpoint/2010/main" val="1816423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BCC78F-C127-FC02-0212-69BAD3BEF837}"/>
              </a:ext>
            </a:extLst>
          </p:cNvPr>
          <p:cNvPicPr>
            <a:picLocks noChangeAspect="1"/>
          </p:cNvPicPr>
          <p:nvPr/>
        </p:nvPicPr>
        <p:blipFill>
          <a:blip r:embed="rId2"/>
          <a:stretch>
            <a:fillRect/>
          </a:stretch>
        </p:blipFill>
        <p:spPr>
          <a:xfrm>
            <a:off x="75067" y="1183341"/>
            <a:ext cx="8957960" cy="4473388"/>
          </a:xfrm>
          <a:prstGeom prst="rect">
            <a:avLst/>
          </a:prstGeom>
        </p:spPr>
      </p:pic>
    </p:spTree>
    <p:extLst>
      <p:ext uri="{BB962C8B-B14F-4D97-AF65-F5344CB8AC3E}">
        <p14:creationId xmlns:p14="http://schemas.microsoft.com/office/powerpoint/2010/main" val="2308117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a:xfrm>
            <a:off x="0" y="0"/>
            <a:ext cx="8062912" cy="659535"/>
          </a:xfrm>
        </p:spPr>
        <p:txBody>
          <a:bodyPr/>
          <a:lstStyle/>
          <a:p>
            <a:r>
              <a:rPr lang="en-US" b="1" dirty="0"/>
              <a:t>Figure 11.3</a:t>
            </a:r>
          </a:p>
        </p:txBody>
      </p:sp>
      <p:sp>
        <p:nvSpPr>
          <p:cNvPr id="7" name="Text"/>
          <p:cNvSpPr>
            <a:spLocks noGrp="1"/>
          </p:cNvSpPr>
          <p:nvPr>
            <p:ph type="body" sz="quarter" idx="14"/>
          </p:nvPr>
        </p:nvSpPr>
        <p:spPr>
          <a:xfrm>
            <a:off x="457200" y="6268909"/>
            <a:ext cx="8062912" cy="766482"/>
          </a:xfrm>
        </p:spPr>
        <p:txBody>
          <a:bodyPr>
            <a:normAutofit fontScale="70000" lnSpcReduction="20000"/>
          </a:bodyPr>
          <a:lstStyle/>
          <a:p>
            <a:r>
              <a:rPr lang="en-US" sz="1600" dirty="0"/>
              <a:t>Although the total number of seats in the House of Representatives has been capped at 435, the apportionment of seats by state may change each decade following the official census. In this map, we see the changes in seat reapportionment that followed the 2020 Census.</a:t>
            </a:r>
          </a:p>
          <a:p>
            <a:br>
              <a:rPr lang="en-US" sz="1600" dirty="0"/>
            </a:br>
            <a:endParaRPr lang="en-US" sz="1600" dirty="0"/>
          </a:p>
        </p:txBody>
      </p:sp>
      <p:pic>
        <p:nvPicPr>
          <p:cNvPr id="4" name="Picture Placeholder 3"/>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669273" y="329767"/>
            <a:ext cx="8017527" cy="5961751"/>
          </a:xfrm>
        </p:spPr>
      </p:pic>
    </p:spTree>
    <p:extLst>
      <p:ext uri="{BB962C8B-B14F-4D97-AF65-F5344CB8AC3E}">
        <p14:creationId xmlns:p14="http://schemas.microsoft.com/office/powerpoint/2010/main" val="1842276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98A9F-078B-27E1-3C0C-CA8DB373D184}"/>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C84C82BD-D532-2720-2B40-415AEC47D568}"/>
              </a:ext>
            </a:extLst>
          </p:cNvPr>
          <p:cNvSpPr txBox="1">
            <a:spLocks/>
          </p:cNvSpPr>
          <p:nvPr/>
        </p:nvSpPr>
        <p:spPr>
          <a:xfrm>
            <a:off x="782052" y="275007"/>
            <a:ext cx="7375932" cy="713874"/>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800" b="1" dirty="0">
                <a:latin typeface="Calibri" panose="020F0502020204030204" pitchFamily="34" charset="0"/>
                <a:ea typeface="+mj-ea"/>
                <a:cs typeface="Calibri" panose="020F0502020204030204" pitchFamily="34" charset="0"/>
              </a:rPr>
              <a:t>Budget, Debt and the </a:t>
            </a:r>
            <a:r>
              <a:rPr lang="en-US" sz="3800" b="1" dirty="0" err="1">
                <a:latin typeface="Calibri" panose="020F0502020204030204" pitchFamily="34" charset="0"/>
                <a:ea typeface="+mj-ea"/>
                <a:cs typeface="Calibri" panose="020F0502020204030204" pitchFamily="34" charset="0"/>
              </a:rPr>
              <a:t>Fillibuster</a:t>
            </a:r>
            <a:endParaRPr lang="en-US" sz="3800" b="1" dirty="0">
              <a:latin typeface="Calibri" panose="020F0502020204030204" pitchFamily="34" charset="0"/>
              <a:ea typeface="+mj-ea"/>
              <a:cs typeface="Calibri" panose="020F0502020204030204" pitchFamily="34" charset="0"/>
            </a:endParaRPr>
          </a:p>
        </p:txBody>
      </p:sp>
      <p:sp>
        <p:nvSpPr>
          <p:cNvPr id="2" name="Rectangle 1">
            <a:extLst>
              <a:ext uri="{FF2B5EF4-FFF2-40B4-BE49-F238E27FC236}">
                <a16:creationId xmlns:a16="http://schemas.microsoft.com/office/drawing/2014/main" id="{A52DEA4B-BE76-4F38-CEEA-55EE73A8F762}"/>
              </a:ext>
            </a:extLst>
          </p:cNvPr>
          <p:cNvSpPr>
            <a:spLocks noChangeArrowheads="1"/>
          </p:cNvSpPr>
          <p:nvPr/>
        </p:nvSpPr>
        <p:spPr bwMode="auto">
          <a:xfrm>
            <a:off x="441297" y="1116078"/>
            <a:ext cx="8261406" cy="680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highlight>
                  <a:srgbClr val="FFFF00"/>
                </a:highligh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highlight>
                  <a:srgbClr val="FFFF00"/>
                </a:highlight>
                <a:latin typeface="Arial" panose="020B0604020202020204" pitchFamily="34" charset="0"/>
              </a:rPr>
              <a:t> </a:t>
            </a:r>
            <a:r>
              <a:rPr lang="en-US" altLang="en-US" sz="1600" b="1" dirty="0">
                <a:solidFill>
                  <a:schemeClr val="tx1"/>
                </a:solidFill>
                <a:latin typeface="Arial" panose="020B0604020202020204" pitchFamily="34" charset="0"/>
              </a:rPr>
              <a:t>Budget</a:t>
            </a:r>
          </a:p>
          <a:p>
            <a:pPr marL="171450" lvl="0" indent="-171450" eaLnBrk="0" fontAlgn="base" hangingPunct="0">
              <a:spcBef>
                <a:spcPct val="0"/>
              </a:spcBef>
              <a:spcAft>
                <a:spcPct val="0"/>
              </a:spcAft>
              <a:buClrTx/>
              <a:buFont typeface="Arial" panose="020B0604020202020204" pitchFamily="34" charset="0"/>
              <a:buChar char="•"/>
            </a:pPr>
            <a:r>
              <a:rPr lang="en-US" altLang="en-US" sz="1200" dirty="0">
                <a:solidFill>
                  <a:schemeClr val="tx1"/>
                </a:solidFill>
                <a:latin typeface="Arial" panose="020B0604020202020204" pitchFamily="34" charset="0"/>
              </a:rPr>
              <a:t>Must pass a budget by September 30</a:t>
            </a:r>
          </a:p>
          <a:p>
            <a:pPr marL="461963" lvl="0" indent="-179388" eaLnBrk="0" fontAlgn="base" hangingPunct="0">
              <a:spcBef>
                <a:spcPct val="0"/>
              </a:spcBef>
              <a:spcAft>
                <a:spcPct val="0"/>
              </a:spcAft>
              <a:buClrTx/>
              <a:buFont typeface="Courier New" panose="02070309020205020404" pitchFamily="49" charset="0"/>
              <a:buChar char="o"/>
            </a:pPr>
            <a:r>
              <a:rPr lang="en-US" altLang="en-US" sz="1200" dirty="0">
                <a:solidFill>
                  <a:schemeClr val="tx1"/>
                </a:solidFill>
                <a:latin typeface="Arial" panose="020B0604020202020204" pitchFamily="34" charset="0"/>
              </a:rPr>
              <a:t>12 Appropriation Bills</a:t>
            </a:r>
          </a:p>
          <a:p>
            <a:pPr marL="461963" lvl="0" indent="-179388" eaLnBrk="0" fontAlgn="base" hangingPunct="0">
              <a:spcBef>
                <a:spcPct val="0"/>
              </a:spcBef>
              <a:spcAft>
                <a:spcPct val="0"/>
              </a:spcAft>
              <a:buClrTx/>
              <a:buFont typeface="Courier New" panose="02070309020205020404" pitchFamily="49" charset="0"/>
              <a:buChar char="o"/>
            </a:pPr>
            <a:r>
              <a:rPr lang="en-US" altLang="en-US" sz="1200" dirty="0">
                <a:solidFill>
                  <a:schemeClr val="tx1"/>
                </a:solidFill>
                <a:latin typeface="Arial" panose="020B0604020202020204" pitchFamily="34" charset="0"/>
              </a:rPr>
              <a:t>Last time Congress Passed a Budget on Time?</a:t>
            </a:r>
            <a:br>
              <a:rPr lang="en-US" altLang="en-US" sz="1200" dirty="0">
                <a:solidFill>
                  <a:schemeClr val="tx1"/>
                </a:solidFill>
                <a:latin typeface="Arial" panose="020B0604020202020204" pitchFamily="34" charset="0"/>
              </a:rPr>
            </a:br>
            <a:endParaRPr lang="en-US" altLang="en-US" sz="1200" dirty="0">
              <a:solidFill>
                <a:schemeClr val="tx1"/>
              </a:solidFill>
              <a:latin typeface="Arial" panose="020B0604020202020204" pitchFamily="34" charset="0"/>
            </a:endParaRPr>
          </a:p>
          <a:p>
            <a:pPr marL="171450" lvl="0" indent="-171450" eaLnBrk="0" fontAlgn="base" hangingPunct="0">
              <a:spcBef>
                <a:spcPct val="0"/>
              </a:spcBef>
              <a:spcAft>
                <a:spcPct val="0"/>
              </a:spcAft>
              <a:buClrTx/>
              <a:buFont typeface="Arial" panose="020B0604020202020204" pitchFamily="34" charset="0"/>
              <a:buChar char="•"/>
            </a:pPr>
            <a:r>
              <a:rPr lang="en-US" altLang="en-US" sz="1200" dirty="0">
                <a:solidFill>
                  <a:schemeClr val="tx1"/>
                </a:solidFill>
                <a:latin typeface="Arial" panose="020B0604020202020204" pitchFamily="34" charset="0"/>
              </a:rPr>
              <a:t>Budget Year – October 1 to September 30</a:t>
            </a:r>
            <a:endParaRPr lang="en-US" altLang="en-US" sz="1200" dirty="0">
              <a:solidFill>
                <a:srgbClr val="FF0000"/>
              </a:solidFill>
              <a:latin typeface="Arial" panose="020B0604020202020204" pitchFamily="34" charset="0"/>
            </a:endParaRPr>
          </a:p>
          <a:p>
            <a:pPr marL="461963" lvl="0" indent="-179388" eaLnBrk="0" fontAlgn="base" hangingPunct="0">
              <a:spcBef>
                <a:spcPct val="0"/>
              </a:spcBef>
              <a:spcAft>
                <a:spcPct val="0"/>
              </a:spcAft>
              <a:buClrTx/>
              <a:buFont typeface="Courier New" panose="02070309020205020404" pitchFamily="49" charset="0"/>
              <a:buChar char="o"/>
            </a:pPr>
            <a:r>
              <a:rPr lang="en-US" altLang="en-US" sz="1200" dirty="0">
                <a:solidFill>
                  <a:schemeClr val="tx1"/>
                </a:solidFill>
                <a:latin typeface="Arial" panose="020B0604020202020204" pitchFamily="34" charset="0"/>
              </a:rPr>
              <a:t>What is a Continuing Resolution?</a:t>
            </a:r>
          </a:p>
          <a:p>
            <a:pPr marL="461963" lvl="0" indent="-179388" eaLnBrk="0" fontAlgn="base" hangingPunct="0">
              <a:spcBef>
                <a:spcPct val="0"/>
              </a:spcBef>
              <a:spcAft>
                <a:spcPct val="0"/>
              </a:spcAft>
              <a:buClrTx/>
              <a:buFont typeface="Courier New" panose="02070309020205020404" pitchFamily="49" charset="0"/>
              <a:buChar char="o"/>
            </a:pPr>
            <a:r>
              <a:rPr lang="en-US" altLang="en-US" sz="1200" dirty="0">
                <a:solidFill>
                  <a:schemeClr val="tx1"/>
                </a:solidFill>
                <a:latin typeface="Arial" panose="020B0604020202020204" pitchFamily="34" charset="0"/>
              </a:rPr>
              <a:t>December 11th</a:t>
            </a:r>
          </a:p>
          <a:p>
            <a:pPr lvl="0" eaLnBrk="0" fontAlgn="base" hangingPunct="0">
              <a:spcBef>
                <a:spcPct val="0"/>
              </a:spcBef>
              <a:spcAft>
                <a:spcPct val="0"/>
              </a:spcAft>
              <a:buClrTx/>
            </a:pPr>
            <a:endParaRPr lang="en-US" altLang="en-US" sz="1200" dirty="0"/>
          </a:p>
          <a:p>
            <a:pPr lvl="0" eaLnBrk="0" fontAlgn="base" hangingPunct="0">
              <a:spcBef>
                <a:spcPct val="0"/>
              </a:spcBef>
              <a:spcAft>
                <a:spcPct val="0"/>
              </a:spcAft>
              <a:buClrTx/>
            </a:pPr>
            <a:br>
              <a:rPr lang="en-US" altLang="en-US" sz="1200" dirty="0"/>
            </a:br>
            <a:r>
              <a:rPr lang="en-US" altLang="en-US" sz="1600" b="1" dirty="0"/>
              <a:t>National Debt</a:t>
            </a:r>
          </a:p>
          <a:p>
            <a:pPr marL="171450" lvl="0" indent="-171450" eaLnBrk="0" fontAlgn="base" hangingPunct="0">
              <a:spcBef>
                <a:spcPct val="0"/>
              </a:spcBef>
              <a:spcAft>
                <a:spcPct val="0"/>
              </a:spcAft>
              <a:buClrTx/>
              <a:buFont typeface="Arial" panose="020B0604020202020204" pitchFamily="34" charset="0"/>
              <a:buChar char="•"/>
            </a:pPr>
            <a:r>
              <a:rPr lang="en-US" altLang="en-US" sz="1200" dirty="0">
                <a:solidFill>
                  <a:srgbClr val="FF0000"/>
                </a:solidFill>
                <a:latin typeface="Arial" panose="020B0604020202020204" pitchFamily="34" charset="0"/>
                <a:hlinkClick r:id="rId2">
                  <a:extLst>
                    <a:ext uri="{A12FA001-AC4F-418D-AE19-62706E023703}">
                      <ahyp:hlinkClr xmlns:ahyp="http://schemas.microsoft.com/office/drawing/2018/hyperlinkcolor" val="tx"/>
                    </a:ext>
                  </a:extLst>
                </a:hlinkClick>
              </a:rPr>
              <a:t>https://www.foxbusiness.com/video/6403779268112</a:t>
            </a:r>
            <a:endParaRPr lang="en-US" altLang="en-US" sz="1200" dirty="0">
              <a:solidFill>
                <a:srgbClr val="FF0000"/>
              </a:solidFill>
              <a:latin typeface="Arial" panose="020B0604020202020204" pitchFamily="34" charset="0"/>
            </a:endParaRPr>
          </a:p>
          <a:p>
            <a:pPr marL="461963" lvl="1" indent="-179388" eaLnBrk="0" fontAlgn="base" hangingPunct="0">
              <a:spcBef>
                <a:spcPct val="0"/>
              </a:spcBef>
              <a:spcAft>
                <a:spcPct val="0"/>
              </a:spcAft>
              <a:buClrTx/>
              <a:buFont typeface="Courier New" panose="02070309020205020404" pitchFamily="49" charset="0"/>
              <a:buChar char="o"/>
            </a:pPr>
            <a:r>
              <a:rPr lang="en-US" altLang="en-US" sz="1200" dirty="0">
                <a:solidFill>
                  <a:srgbClr val="FF0000"/>
                </a:solidFill>
                <a:latin typeface="Arial" panose="020B0604020202020204" pitchFamily="34" charset="0"/>
              </a:rPr>
              <a:t>What is causing the National Debt</a:t>
            </a:r>
          </a:p>
          <a:p>
            <a:pPr marL="171450" lvl="0" indent="-171450" eaLnBrk="0" fontAlgn="base" hangingPunct="0">
              <a:spcBef>
                <a:spcPct val="0"/>
              </a:spcBef>
              <a:spcAft>
                <a:spcPct val="0"/>
              </a:spcAft>
              <a:buClrTx/>
              <a:buFont typeface="Arial" panose="020B0604020202020204" pitchFamily="34" charset="0"/>
              <a:buChar char="•"/>
            </a:pPr>
            <a:endParaRPr lang="en-US" altLang="en-US" sz="1200" dirty="0">
              <a:solidFill>
                <a:srgbClr val="FF0000"/>
              </a:solidFill>
              <a:latin typeface="Arial" panose="020B0604020202020204" pitchFamily="34" charset="0"/>
            </a:endParaRPr>
          </a:p>
          <a:p>
            <a:pPr lvl="0" eaLnBrk="0" fontAlgn="base" hangingPunct="0">
              <a:spcBef>
                <a:spcPct val="0"/>
              </a:spcBef>
              <a:spcAft>
                <a:spcPct val="0"/>
              </a:spcAft>
              <a:buClrTx/>
            </a:pPr>
            <a:r>
              <a:rPr lang="en-US" altLang="en-US" sz="1600" b="1" dirty="0" err="1">
                <a:solidFill>
                  <a:schemeClr val="tx1"/>
                </a:solidFill>
                <a:latin typeface="Arial" panose="020B0604020202020204" pitchFamily="34" charset="0"/>
              </a:rPr>
              <a:t>Fillibuster</a:t>
            </a:r>
            <a:endParaRPr lang="en-US" altLang="en-US" sz="1600" b="1" dirty="0">
              <a:solidFill>
                <a:schemeClr val="tx1"/>
              </a:solidFill>
              <a:latin typeface="Arial" panose="020B0604020202020204" pitchFamily="34" charset="0"/>
            </a:endParaRPr>
          </a:p>
          <a:p>
            <a:pPr marL="171450" indent="-171450" eaLnBrk="0" fontAlgn="base" hangingPunct="0">
              <a:spcBef>
                <a:spcPct val="0"/>
              </a:spcBef>
              <a:spcAft>
                <a:spcPct val="0"/>
              </a:spcAft>
              <a:buClrTx/>
              <a:buFont typeface="Arial" panose="020B0604020202020204" pitchFamily="34" charset="0"/>
              <a:buChar char="•"/>
            </a:pPr>
            <a:r>
              <a:rPr lang="en-US" altLang="en-US" sz="1200" dirty="0">
                <a:solidFill>
                  <a:srgbClr val="FF0000"/>
                </a:solidFill>
                <a:latin typeface="Arial" panose="020B0604020202020204" pitchFamily="34" charset="0"/>
                <a:hlinkClick r:id="rId3">
                  <a:extLst>
                    <a:ext uri="{A12FA001-AC4F-418D-AE19-62706E023703}">
                      <ahyp:hlinkClr xmlns:ahyp="http://schemas.microsoft.com/office/drawing/2018/hyperlinkcolor" val="tx"/>
                    </a:ext>
                  </a:extLst>
                </a:hlinkClick>
              </a:rPr>
              <a:t>https://youtu.be/y_0DRy1NSl0?si=wK_ULv3obyVb40fG</a:t>
            </a:r>
            <a:endParaRPr lang="en-US" altLang="en-US" sz="1200" dirty="0">
              <a:solidFill>
                <a:srgbClr val="FF0000"/>
              </a:solidFill>
              <a:latin typeface="Arial" panose="020B0604020202020204" pitchFamily="34" charset="0"/>
            </a:endParaRPr>
          </a:p>
          <a:p>
            <a:pPr marL="171450" indent="-171450" eaLnBrk="0" fontAlgn="base" hangingPunct="0">
              <a:spcBef>
                <a:spcPct val="0"/>
              </a:spcBef>
              <a:spcAft>
                <a:spcPct val="0"/>
              </a:spcAft>
              <a:buClrTx/>
              <a:buFont typeface="Arial" panose="020B0604020202020204" pitchFamily="34" charset="0"/>
              <a:buChar char="•"/>
            </a:pPr>
            <a:r>
              <a:rPr lang="en-US" altLang="en-US" sz="1200" dirty="0">
                <a:solidFill>
                  <a:schemeClr val="tx1"/>
                </a:solidFill>
                <a:latin typeface="Arial" panose="020B0604020202020204" pitchFamily="34" charset="0"/>
              </a:rPr>
              <a:t>Cloture</a:t>
            </a:r>
          </a:p>
          <a:p>
            <a:pPr marL="171450" indent="-171450" eaLnBrk="0" fontAlgn="base" hangingPunct="0">
              <a:spcBef>
                <a:spcPct val="0"/>
              </a:spcBef>
              <a:spcAft>
                <a:spcPct val="0"/>
              </a:spcAft>
              <a:buClrTx/>
              <a:buFont typeface="Arial" panose="020B0604020202020204" pitchFamily="34" charset="0"/>
              <a:buChar char="•"/>
            </a:pPr>
            <a:r>
              <a:rPr lang="en-US" altLang="en-US" sz="1200" dirty="0">
                <a:solidFill>
                  <a:schemeClr val="tx1"/>
                </a:solidFill>
                <a:latin typeface="Arial" panose="020B0604020202020204" pitchFamily="34" charset="0"/>
              </a:rPr>
              <a:t>Nuclear Option</a:t>
            </a:r>
          </a:p>
          <a:p>
            <a:pPr marL="633413" lvl="0" indent="-171450">
              <a:buFont typeface="Courier New" panose="02070309020205020404" pitchFamily="49" charset="0"/>
              <a:buChar char="o"/>
            </a:pPr>
            <a:r>
              <a:rPr lang="en-US" sz="1200" dirty="0"/>
              <a:t>2013 (Democrats): Led by Majority Leader Harry Reid, Senate Democrats lowered the threshold to a simple majority for executive branch and lower federal court judges after facing heavy blockades on nominees.</a:t>
            </a:r>
          </a:p>
          <a:p>
            <a:pPr marL="633413" lvl="0" indent="-171450">
              <a:buFont typeface="Courier New" panose="02070309020205020404" pitchFamily="49" charset="0"/>
              <a:buChar char="o"/>
            </a:pPr>
            <a:r>
              <a:rPr lang="en-US" sz="1200" dirty="0"/>
              <a:t>2017 (Republicans): Senate Republicans extended the nuclear option to Supreme Court nominations to confirm Neil Gorsuch.</a:t>
            </a:r>
          </a:p>
          <a:p>
            <a:pPr marL="633413" lvl="0" indent="-171450">
              <a:buFont typeface="Courier New" panose="02070309020205020404" pitchFamily="49" charset="0"/>
              <a:buChar char="o"/>
            </a:pPr>
            <a:r>
              <a:rPr lang="en-US" sz="1200" dirty="0"/>
              <a:t>2019 (Republicans): Republicans used it again to reduce floor debate time for lower-level nominees.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chemeClr val="tx1"/>
                </a:solidFill>
                <a:latin typeface="Arial" panose="020B0604020202020204" pitchFamily="34" charset="0"/>
              </a:rPr>
              <a:t>Budget Reconciliation</a:t>
            </a:r>
          </a:p>
          <a:p>
            <a:pPr marL="171450" lvl="0" indent="-171450" eaLnBrk="0" fontAlgn="base" hangingPunct="0">
              <a:spcBef>
                <a:spcPct val="0"/>
              </a:spcBef>
              <a:spcAft>
                <a:spcPct val="0"/>
              </a:spcAft>
              <a:buClrTx/>
              <a:buFont typeface="Arial" panose="020B0604020202020204" pitchFamily="34" charset="0"/>
              <a:buChar char="•"/>
            </a:pPr>
            <a:r>
              <a:rPr lang="en-US" altLang="en-US" sz="1200" dirty="0">
                <a:solidFill>
                  <a:srgbClr val="FF0000"/>
                </a:solidFill>
                <a:latin typeface="Arial" panose="020B0604020202020204" pitchFamily="34" charset="0"/>
              </a:rPr>
              <a:t>https://www.bloomberg.com/news/videos/2025-05-12/how-budget-reconciliation-works-in-congress-video</a:t>
            </a:r>
            <a:endParaRPr lang="en-US" altLang="en-US" sz="16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a:t>
            </a:r>
          </a:p>
        </p:txBody>
      </p:sp>
      <p:sp>
        <p:nvSpPr>
          <p:cNvPr id="5" name="AutoShape 2">
            <a:hlinkClick r:id="rId4"/>
            <a:extLst>
              <a:ext uri="{FF2B5EF4-FFF2-40B4-BE49-F238E27FC236}">
                <a16:creationId xmlns:a16="http://schemas.microsoft.com/office/drawing/2014/main" id="{2A434E04-22F5-F345-942B-315093F21D76}"/>
              </a:ext>
            </a:extLst>
          </p:cNvPr>
          <p:cNvSpPr>
            <a:spLocks noChangeAspect="1" noChangeArrowheads="1"/>
          </p:cNvSpPr>
          <p:nvPr/>
        </p:nvSpPr>
        <p:spPr bwMode="auto">
          <a:xfrm>
            <a:off x="8571561" y="342900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hlinkClick r:id="rId5"/>
            <a:extLst>
              <a:ext uri="{FF2B5EF4-FFF2-40B4-BE49-F238E27FC236}">
                <a16:creationId xmlns:a16="http://schemas.microsoft.com/office/drawing/2014/main" id="{054273DF-244B-898C-5AE7-33512E1D2625}"/>
              </a:ext>
            </a:extLst>
          </p:cNvPr>
          <p:cNvSpPr>
            <a:spLocks noChangeAspect="1" noChangeArrowheads="1"/>
          </p:cNvSpPr>
          <p:nvPr/>
        </p:nvSpPr>
        <p:spPr bwMode="auto">
          <a:xfrm>
            <a:off x="3472511" y="37195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94726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A73156-F23D-07FA-3A80-4CF2EA175D82}"/>
              </a:ext>
            </a:extLst>
          </p:cNvPr>
          <p:cNvSpPr txBox="1"/>
          <p:nvPr/>
        </p:nvSpPr>
        <p:spPr>
          <a:xfrm>
            <a:off x="1514723" y="1853436"/>
            <a:ext cx="6229847" cy="3539430"/>
          </a:xfrm>
          <a:prstGeom prst="rect">
            <a:avLst/>
          </a:prstGeom>
          <a:noFill/>
        </p:spPr>
        <p:txBody>
          <a:bodyPr wrap="square">
            <a:spAutoFit/>
          </a:bodyPr>
          <a:lstStyle/>
          <a:p>
            <a:r>
              <a:rPr lang="en-US" sz="3600" b="0" i="1" dirty="0">
                <a:solidFill>
                  <a:srgbClr val="000000"/>
                </a:solidFill>
                <a:effectLst/>
                <a:latin typeface="Arial" panose="020B0604020202020204" pitchFamily="34" charset="0"/>
              </a:rPr>
              <a:t>The executive Power shall be vested in a President of the United States of America.</a:t>
            </a:r>
          </a:p>
          <a:p>
            <a:endParaRPr lang="en-US" sz="3600" dirty="0">
              <a:latin typeface="Arial" panose="020B0604020202020204" pitchFamily="34" charset="0"/>
            </a:endParaRPr>
          </a:p>
          <a:p>
            <a:r>
              <a:rPr lang="en-US" sz="1600" dirty="0">
                <a:latin typeface="Arial" panose="020B0604020202020204" pitchFamily="34" charset="0"/>
              </a:rPr>
              <a:t>Article 2, Section 1: U.S. Constitution</a:t>
            </a:r>
            <a:br>
              <a:rPr lang="en-US" sz="1600" dirty="0">
                <a:latin typeface="Arial" panose="020B0604020202020204" pitchFamily="34" charset="0"/>
              </a:rPr>
            </a:br>
            <a:r>
              <a:rPr lang="en-US" sz="1600" dirty="0">
                <a:latin typeface="Arial" panose="020B0604020202020204" pitchFamily="34" charset="0"/>
              </a:rPr>
              <a:t>https://youtu.be/w1UPkog5CrY</a:t>
            </a:r>
          </a:p>
          <a:p>
            <a:endParaRPr lang="en-US" sz="1600" dirty="0">
              <a:latin typeface="Arial" panose="020B0604020202020204" pitchFamily="34" charset="0"/>
            </a:endParaRPr>
          </a:p>
          <a:p>
            <a:endParaRPr lang="en-US" sz="1600" dirty="0">
              <a:latin typeface="Arial" panose="020B0604020202020204" pitchFamily="34" charset="0"/>
            </a:endParaRPr>
          </a:p>
          <a:p>
            <a:r>
              <a:rPr lang="en-US" sz="1600" dirty="0"/>
              <a:t>https://youtu.be/sl_gO3uOds8</a:t>
            </a:r>
          </a:p>
        </p:txBody>
      </p:sp>
      <p:sp>
        <p:nvSpPr>
          <p:cNvPr id="4" name="Rectangle 1">
            <a:extLst>
              <a:ext uri="{FF2B5EF4-FFF2-40B4-BE49-F238E27FC236}">
                <a16:creationId xmlns:a16="http://schemas.microsoft.com/office/drawing/2014/main" id="{8A555C00-88AB-BEEA-98D1-568788FC6089}"/>
              </a:ext>
            </a:extLst>
          </p:cNvPr>
          <p:cNvSpPr>
            <a:spLocks noChangeArrowheads="1"/>
          </p:cNvSpPr>
          <p:nvPr/>
        </p:nvSpPr>
        <p:spPr bwMode="auto">
          <a:xfrm>
            <a:off x="594561" y="5776622"/>
            <a:ext cx="789190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905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a:buClrTx/>
            </a:pPr>
            <a:r>
              <a:rPr kumimoji="0" lang="en-US" altLang="en-US" sz="1600" b="0" i="1" u="none" strike="noStrike" cap="none" normalizeH="0" baseline="0" dirty="0">
                <a:ln>
                  <a:noFill/>
                </a:ln>
                <a:solidFill>
                  <a:srgbClr val="000000"/>
                </a:solidFill>
                <a:effectLst/>
                <a:latin typeface="+mj-lt"/>
              </a:rPr>
              <a:t>* Article II Executive Vesting Clause does not limit the </a:t>
            </a:r>
            <a:r>
              <a:rPr kumimoji="0" lang="en-US" altLang="en-US" sz="1600" b="0" i="1" u="none" strike="noStrike" cap="none" normalizeH="0" baseline="0" dirty="0">
                <a:ln>
                  <a:noFill/>
                </a:ln>
                <a:solidFill>
                  <a:schemeClr val="tx1"/>
                </a:solidFill>
                <a:effectLst/>
                <a:latin typeface="+mj-lt"/>
              </a:rPr>
              <a:t>executive Power</a:t>
            </a:r>
            <a:r>
              <a:rPr kumimoji="0" lang="en-US" altLang="en-US" sz="1600" b="0" i="1" u="none" strike="noStrike" cap="none" normalizeH="0" baseline="0" dirty="0">
                <a:ln>
                  <a:noFill/>
                </a:ln>
                <a:solidFill>
                  <a:srgbClr val="000000"/>
                </a:solidFill>
                <a:effectLst/>
                <a:latin typeface="+mj-lt"/>
              </a:rPr>
              <a:t> in any way. </a:t>
            </a:r>
          </a:p>
          <a:p>
            <a:pPr marL="0" marR="0" lvl="0" indent="1905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187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4" name="Title 5">
            <a:extLst>
              <a:ext uri="{FF2B5EF4-FFF2-40B4-BE49-F238E27FC236}">
                <a16:creationId xmlns:a16="http://schemas.microsoft.com/office/drawing/2014/main" id="{0F2A607A-DD9B-4E4A-9C25-A94BFE2455D4}"/>
              </a:ext>
            </a:extLst>
          </p:cNvPr>
          <p:cNvSpPr txBox="1">
            <a:spLocks/>
          </p:cNvSpPr>
          <p:nvPr/>
        </p:nvSpPr>
        <p:spPr>
          <a:xfrm>
            <a:off x="1183499" y="289243"/>
            <a:ext cx="6704194" cy="708670"/>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Design of the executive branch</a:t>
            </a:r>
          </a:p>
        </p:txBody>
      </p:sp>
      <p:sp>
        <p:nvSpPr>
          <p:cNvPr id="3" name="Content Placeholder 2">
            <a:extLst>
              <a:ext uri="{FF2B5EF4-FFF2-40B4-BE49-F238E27FC236}">
                <a16:creationId xmlns:a16="http://schemas.microsoft.com/office/drawing/2014/main" id="{2033DA0B-AC9D-EC45-9F8D-C0D87554C52D}"/>
              </a:ext>
            </a:extLst>
          </p:cNvPr>
          <p:cNvSpPr txBox="1">
            <a:spLocks/>
          </p:cNvSpPr>
          <p:nvPr/>
        </p:nvSpPr>
        <p:spPr>
          <a:xfrm>
            <a:off x="400918" y="1228821"/>
            <a:ext cx="8342164" cy="6189271"/>
          </a:xfrm>
          <a:prstGeom prst="rect">
            <a:avLst/>
          </a:prstGeom>
        </p:spPr>
        <p:txBody>
          <a:bodyPr>
            <a:no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marL="341313" indent="-341313" eaLnBrk="1" hangingPunct="1">
              <a:spcAft>
                <a:spcPts val="600"/>
              </a:spcAft>
              <a:buFont typeface="Arial" panose="020B0604020202020204" pitchFamily="34" charset="0"/>
              <a:buChar char="•"/>
            </a:pPr>
            <a:r>
              <a:rPr lang="en-US" altLang="en-US" sz="2200" dirty="0"/>
              <a:t>The president is a single </a:t>
            </a:r>
            <a:r>
              <a:rPr lang="en-US" altLang="en-US" sz="2200" b="1" dirty="0"/>
              <a:t>executive</a:t>
            </a:r>
            <a:r>
              <a:rPr lang="en-US" altLang="en-US" sz="2200" dirty="0"/>
              <a:t> elected by the Electoral College for four years and who is limited to serve two terms.</a:t>
            </a:r>
          </a:p>
          <a:p>
            <a:pPr eaLnBrk="1" hangingPunct="1">
              <a:spcAft>
                <a:spcPts val="600"/>
              </a:spcAft>
            </a:pPr>
            <a:r>
              <a:rPr lang="en-US" altLang="en-US" sz="2200" dirty="0"/>
              <a:t>	https://youtu.be/UkepSGMgC-E</a:t>
            </a:r>
          </a:p>
          <a:p>
            <a:pPr marL="741363" lvl="2" indent="-341313" eaLnBrk="1" hangingPunct="1">
              <a:spcAft>
                <a:spcPts val="600"/>
              </a:spcAft>
              <a:buFont typeface="Arial" panose="020B0604020202020204" pitchFamily="34" charset="0"/>
              <a:buChar char="•"/>
            </a:pPr>
            <a:r>
              <a:rPr lang="en-US" altLang="en-US" sz="2000" dirty="0"/>
              <a:t>Winner Take All (except Nebraska and Maine)</a:t>
            </a:r>
          </a:p>
          <a:p>
            <a:pPr marL="1255713" lvl="4" indent="-341313" eaLnBrk="1" hangingPunct="1">
              <a:spcAft>
                <a:spcPts val="600"/>
              </a:spcAft>
              <a:buFont typeface="Arial" panose="020B0604020202020204" pitchFamily="34" charset="0"/>
              <a:buChar char="•"/>
            </a:pPr>
            <a:r>
              <a:rPr lang="en-US" altLang="en-US" sz="1800" dirty="0"/>
              <a:t>In Nebraska and Maine, whoever the number of electoral votes is determined in how many Congressional districts a candidate wins.</a:t>
            </a:r>
          </a:p>
          <a:p>
            <a:pPr marL="341313" indent="-341313" eaLnBrk="1" hangingPunct="1">
              <a:spcAft>
                <a:spcPts val="600"/>
              </a:spcAft>
              <a:buFont typeface="Arial" panose="020B0604020202020204" pitchFamily="34" charset="0"/>
              <a:buChar char="•"/>
            </a:pPr>
            <a:r>
              <a:rPr lang="en-US" altLang="en-US" sz="2200" dirty="0"/>
              <a:t>The chief executive must be at least thirty-five years old and a “natural born” U.S. citizen who has been an inhabitant of the United States for at least fourteen years.</a:t>
            </a:r>
          </a:p>
          <a:p>
            <a:pPr marL="341313" indent="-341313" eaLnBrk="1" hangingPunct="1">
              <a:spcAft>
                <a:spcPts val="600"/>
              </a:spcAft>
              <a:buFont typeface="Arial" panose="020B0604020202020204" pitchFamily="34" charset="0"/>
              <a:buChar char="•"/>
            </a:pPr>
            <a:r>
              <a:rPr lang="en-US" altLang="en-US" sz="2200" dirty="0"/>
              <a:t>Historic Evolution of the Presidency</a:t>
            </a:r>
          </a:p>
          <a:p>
            <a:pPr lvl="1" eaLnBrk="1" hangingPunct="1">
              <a:spcAft>
                <a:spcPts val="600"/>
              </a:spcAft>
              <a:buFont typeface="Arial" panose="020B0604020202020204" pitchFamily="34" charset="0"/>
              <a:buChar char="•"/>
            </a:pPr>
            <a:r>
              <a:rPr lang="en-US" altLang="en-US" sz="2000" dirty="0">
                <a:highlight>
                  <a:srgbClr val="FFFF00"/>
                </a:highlight>
                <a:hlinkClick r:id="rId3">
                  <a:extLst>
                    <a:ext uri="{A12FA001-AC4F-418D-AE19-62706E023703}">
                      <ahyp:hlinkClr xmlns:ahyp="http://schemas.microsoft.com/office/drawing/2018/hyperlinkcolor" val="tx"/>
                    </a:ext>
                  </a:extLst>
                </a:hlinkClick>
              </a:rPr>
              <a:t>https://youtu.be/Jh8Qpa4Aazw</a:t>
            </a:r>
            <a:br>
              <a:rPr lang="en-US" altLang="en-US" dirty="0"/>
            </a:br>
            <a:r>
              <a:rPr lang="en-US" altLang="en-US" sz="1200" dirty="0"/>
              <a:t>min 2:00 to end</a:t>
            </a:r>
          </a:p>
          <a:p>
            <a:pPr lvl="1" eaLnBrk="1" hangingPunct="1">
              <a:spcAft>
                <a:spcPts val="1200"/>
              </a:spcAft>
              <a:buFont typeface="Arial" panose="020B0604020202020204" pitchFamily="34" charset="0"/>
              <a:buChar char="•"/>
            </a:pPr>
            <a:endParaRPr lang="en-US" altLang="en-US" dirty="0"/>
          </a:p>
        </p:txBody>
      </p:sp>
    </p:spTree>
    <p:extLst>
      <p:ext uri="{BB962C8B-B14F-4D97-AF65-F5344CB8AC3E}">
        <p14:creationId xmlns:p14="http://schemas.microsoft.com/office/powerpoint/2010/main" val="2710386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38898ED-DA80-D98C-5317-8C4BC3B16558}"/>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29A363B4-F269-151A-29AA-F744E8AFFBA4}"/>
              </a:ext>
            </a:extLst>
          </p:cNvPr>
          <p:cNvSpPr txBox="1">
            <a:spLocks/>
          </p:cNvSpPr>
          <p:nvPr/>
        </p:nvSpPr>
        <p:spPr>
          <a:xfrm>
            <a:off x="900035" y="124651"/>
            <a:ext cx="6704194" cy="708670"/>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600" b="1" dirty="0">
                <a:latin typeface="Calibri" panose="020F0502020204030204" pitchFamily="34" charset="0"/>
                <a:ea typeface="+mj-ea"/>
                <a:cs typeface="Calibri" panose="020F0502020204030204" pitchFamily="34" charset="0"/>
              </a:rPr>
              <a:t>Powers of the Presidency</a:t>
            </a:r>
          </a:p>
        </p:txBody>
      </p:sp>
      <p:sp>
        <p:nvSpPr>
          <p:cNvPr id="3" name="Content Placeholder 2">
            <a:extLst>
              <a:ext uri="{FF2B5EF4-FFF2-40B4-BE49-F238E27FC236}">
                <a16:creationId xmlns:a16="http://schemas.microsoft.com/office/drawing/2014/main" id="{ECB31FEC-A252-ED3B-BA49-47741345C9B2}"/>
              </a:ext>
            </a:extLst>
          </p:cNvPr>
          <p:cNvSpPr txBox="1">
            <a:spLocks/>
          </p:cNvSpPr>
          <p:nvPr/>
        </p:nvSpPr>
        <p:spPr>
          <a:xfrm>
            <a:off x="247273" y="1210670"/>
            <a:ext cx="8342164" cy="6189271"/>
          </a:xfrm>
          <a:prstGeom prst="rect">
            <a:avLst/>
          </a:prstGeom>
        </p:spPr>
        <p:txBody>
          <a:bodyPr>
            <a:no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marL="341313" lvl="1" indent="-341313">
              <a:spcAft>
                <a:spcPts val="1200"/>
              </a:spcAft>
              <a:buFont typeface="Arial" panose="020B0604020202020204" pitchFamily="34" charset="0"/>
              <a:buChar char="•"/>
            </a:pPr>
            <a:r>
              <a:rPr lang="en-US" sz="1600" b="1" dirty="0">
                <a:solidFill>
                  <a:srgbClr val="333333"/>
                </a:solidFill>
                <a:latin typeface="Arial" panose="020B0604020202020204" pitchFamily="34" charset="0"/>
              </a:rPr>
              <a:t>Pursuant to the Oath of Office, will preserve, protect, and defend the Constitution of the United States.</a:t>
            </a:r>
            <a:endParaRPr lang="en-US" sz="1600" b="1" i="0" dirty="0">
              <a:solidFill>
                <a:srgbClr val="333333"/>
              </a:solidFill>
              <a:effectLst/>
              <a:latin typeface="Arial" panose="020B0604020202020204" pitchFamily="34" charset="0"/>
            </a:endParaRPr>
          </a:p>
          <a:p>
            <a:pPr marL="285750" indent="-285750">
              <a:spcAft>
                <a:spcPts val="1200"/>
              </a:spcAft>
              <a:buFont typeface="Arial" panose="020B0604020202020204" pitchFamily="34" charset="0"/>
              <a:buChar char="•"/>
            </a:pPr>
            <a:r>
              <a:rPr lang="en-US" sz="1600" b="1" i="0" dirty="0">
                <a:solidFill>
                  <a:srgbClr val="333333"/>
                </a:solidFill>
                <a:effectLst/>
                <a:latin typeface="Arial" panose="020B0604020202020204" pitchFamily="34" charset="0"/>
              </a:rPr>
              <a:t>Has the power to approve or veto bills and resolutions passed by Congress</a:t>
            </a:r>
          </a:p>
          <a:p>
            <a:pPr marL="1028700" lvl="1">
              <a:spcAft>
                <a:spcPts val="1200"/>
              </a:spcAft>
              <a:buFont typeface="Arial" panose="020B0604020202020204" pitchFamily="34" charset="0"/>
              <a:buChar char="•"/>
            </a:pPr>
            <a:r>
              <a:rPr lang="en-US" sz="1600" dirty="0">
                <a:solidFill>
                  <a:srgbClr val="333333"/>
                </a:solidFill>
                <a:latin typeface="Arial" panose="020B0604020202020204" pitchFamily="34" charset="0"/>
              </a:rPr>
              <a:t>2/3</a:t>
            </a:r>
            <a:r>
              <a:rPr lang="en-US" sz="1600" baseline="30000" dirty="0">
                <a:solidFill>
                  <a:srgbClr val="333333"/>
                </a:solidFill>
                <a:latin typeface="Arial" panose="020B0604020202020204" pitchFamily="34" charset="0"/>
              </a:rPr>
              <a:t>rd</a:t>
            </a:r>
            <a:r>
              <a:rPr lang="en-US" sz="1600" dirty="0">
                <a:solidFill>
                  <a:srgbClr val="333333"/>
                </a:solidFill>
                <a:latin typeface="Arial" panose="020B0604020202020204" pitchFamily="34" charset="0"/>
              </a:rPr>
              <a:t> vote in both the House of Representatives and Senate to Override a Veto</a:t>
            </a:r>
          </a:p>
          <a:p>
            <a:pPr marL="285750" indent="-285750" algn="l">
              <a:spcAft>
                <a:spcPts val="1200"/>
              </a:spcAft>
              <a:buFont typeface="Arial" panose="020B0604020202020204" pitchFamily="34" charset="0"/>
              <a:buChar char="•"/>
            </a:pPr>
            <a:r>
              <a:rPr lang="en-US" sz="1600" b="1" i="0" dirty="0">
                <a:solidFill>
                  <a:srgbClr val="333333"/>
                </a:solidFill>
                <a:effectLst/>
                <a:latin typeface="Arial" panose="020B0604020202020204" pitchFamily="34" charset="0"/>
              </a:rPr>
              <a:t>Commander-in-Chief of the United States military</a:t>
            </a:r>
          </a:p>
          <a:p>
            <a:pPr marL="1028700" lvl="1">
              <a:spcAft>
                <a:spcPts val="1200"/>
              </a:spcAft>
              <a:buFont typeface="Arial" panose="020B0604020202020204" pitchFamily="34" charset="0"/>
              <a:buChar char="•"/>
            </a:pPr>
            <a:r>
              <a:rPr lang="en-US" sz="1600" dirty="0">
                <a:solidFill>
                  <a:srgbClr val="333333"/>
                </a:solidFill>
                <a:latin typeface="Arial" panose="020B0604020202020204" pitchFamily="34" charset="0"/>
              </a:rPr>
              <a:t>Only Congress can Declare War</a:t>
            </a:r>
          </a:p>
          <a:p>
            <a:pPr marL="1028700" lvl="1">
              <a:spcAft>
                <a:spcPts val="1200"/>
              </a:spcAft>
              <a:buFont typeface="Arial" panose="020B0604020202020204" pitchFamily="34" charset="0"/>
              <a:buChar char="•"/>
            </a:pPr>
            <a:r>
              <a:rPr lang="en-US" sz="1600" dirty="0">
                <a:solidFill>
                  <a:srgbClr val="333333"/>
                </a:solidFill>
                <a:latin typeface="Arial" panose="020B0604020202020204" pitchFamily="34" charset="0"/>
              </a:rPr>
              <a:t>War Powers Act </a:t>
            </a:r>
          </a:p>
          <a:p>
            <a:pPr marL="1485900" lvl="2" indent="-285750">
              <a:spcAft>
                <a:spcPts val="1200"/>
              </a:spcAft>
              <a:buFont typeface="Courier New" panose="02070309020205020404" pitchFamily="49" charset="0"/>
              <a:buChar char="o"/>
            </a:pPr>
            <a:r>
              <a:rPr lang="en-US" sz="1600" dirty="0">
                <a:solidFill>
                  <a:srgbClr val="FF0000"/>
                </a:solidFill>
                <a:highlight>
                  <a:srgbClr val="FFFF00"/>
                </a:highlight>
                <a:latin typeface="Arial" panose="020B0604020202020204" pitchFamily="34" charset="0"/>
                <a:hlinkClick r:id="rId3">
                  <a:extLst>
                    <a:ext uri="{A12FA001-AC4F-418D-AE19-62706E023703}">
                      <ahyp:hlinkClr xmlns:ahyp="http://schemas.microsoft.com/office/drawing/2018/hyperlinkcolor" val="tx"/>
                    </a:ext>
                  </a:extLst>
                </a:hlinkClick>
              </a:rPr>
              <a:t>https://youtu.be/barQHoh3krc</a:t>
            </a:r>
            <a:br>
              <a:rPr lang="en-US" sz="1600" dirty="0">
                <a:solidFill>
                  <a:srgbClr val="FF0000"/>
                </a:solidFill>
                <a:highlight>
                  <a:srgbClr val="FFFF00"/>
                </a:highlight>
                <a:latin typeface="Arial" panose="020B0604020202020204" pitchFamily="34" charset="0"/>
              </a:rPr>
            </a:br>
            <a:r>
              <a:rPr lang="en-US" sz="1600" dirty="0">
                <a:highlight>
                  <a:srgbClr val="FFFF00"/>
                </a:highlight>
                <a:latin typeface="Arial" panose="020B0604020202020204" pitchFamily="34" charset="0"/>
              </a:rPr>
              <a:t>Current Situation:  Iran</a:t>
            </a:r>
            <a:br>
              <a:rPr lang="en-US" sz="1600" dirty="0">
                <a:solidFill>
                  <a:srgbClr val="FF0000"/>
                </a:solidFill>
                <a:highlight>
                  <a:srgbClr val="FFFF00"/>
                </a:highlight>
                <a:latin typeface="Arial" panose="020B0604020202020204" pitchFamily="34" charset="0"/>
              </a:rPr>
            </a:br>
            <a:r>
              <a:rPr lang="en-US" sz="1600" dirty="0">
                <a:solidFill>
                  <a:srgbClr val="FF0000"/>
                </a:solidFill>
                <a:latin typeface="Arial" panose="020B0604020202020204" pitchFamily="34" charset="0"/>
              </a:rPr>
              <a:t>https://www.c-span.org/clip/white-house-event/trump-says-he-doesnt-need-congress-authorization-to-continue-iran-war-beyond-60-days/5199801</a:t>
            </a:r>
            <a:endParaRPr lang="en-US" sz="1600" dirty="0">
              <a:solidFill>
                <a:srgbClr val="FF0000"/>
              </a:solidFill>
              <a:highlight>
                <a:srgbClr val="FFFF00"/>
              </a:highlight>
              <a:latin typeface="Arial" panose="020B0604020202020204" pitchFamily="34" charset="0"/>
            </a:endParaRPr>
          </a:p>
          <a:p>
            <a:pPr marL="1028700" lvl="1" indent="-290513">
              <a:spcAft>
                <a:spcPts val="1200"/>
              </a:spcAft>
              <a:buFont typeface="Arial" panose="020B0604020202020204" pitchFamily="34" charset="0"/>
              <a:buChar char="•"/>
            </a:pPr>
            <a:r>
              <a:rPr lang="en-US" sz="1600" b="0" i="0" dirty="0">
                <a:solidFill>
                  <a:srgbClr val="333333"/>
                </a:solidFill>
                <a:effectLst/>
                <a:latin typeface="Arial" panose="020B0604020202020204" pitchFamily="34" charset="0"/>
              </a:rPr>
              <a:t>Declare State of National Emergency</a:t>
            </a:r>
            <a:br>
              <a:rPr lang="en-US" sz="1600" dirty="0">
                <a:solidFill>
                  <a:srgbClr val="333333"/>
                </a:solidFill>
                <a:latin typeface="Arial" panose="020B0604020202020204" pitchFamily="34" charset="0"/>
              </a:rPr>
            </a:br>
            <a:r>
              <a:rPr lang="en-US" sz="1600" dirty="0">
                <a:solidFill>
                  <a:srgbClr val="FF0000"/>
                </a:solidFill>
                <a:latin typeface="Arial" panose="020B0604020202020204" pitchFamily="34" charset="0"/>
                <a:hlinkClick r:id="rId4">
                  <a:extLst>
                    <a:ext uri="{A12FA001-AC4F-418D-AE19-62706E023703}">
                      <ahyp:hlinkClr xmlns:ahyp="http://schemas.microsoft.com/office/drawing/2018/hyperlinkcolor" val="tx"/>
                    </a:ext>
                  </a:extLst>
                </a:hlinkClick>
              </a:rPr>
              <a:t>https://www.youtube.com/shorts/vB1xK7j5Nz4?feature=share</a:t>
            </a:r>
            <a:br>
              <a:rPr lang="en-US" sz="1600" dirty="0">
                <a:solidFill>
                  <a:srgbClr val="FF0000"/>
                </a:solidFill>
                <a:latin typeface="Arial" panose="020B0604020202020204" pitchFamily="34" charset="0"/>
              </a:rPr>
            </a:br>
            <a:br>
              <a:rPr lang="en-US" sz="1600" dirty="0">
                <a:solidFill>
                  <a:srgbClr val="333333"/>
                </a:solidFill>
                <a:latin typeface="Arial" panose="020B0604020202020204" pitchFamily="34" charset="0"/>
              </a:rPr>
            </a:br>
            <a:r>
              <a:rPr lang="en-US" sz="1600" b="0" i="0" dirty="0">
                <a:solidFill>
                  <a:srgbClr val="333333"/>
                </a:solidFill>
                <a:effectLst/>
                <a:latin typeface="Arial" panose="020B0604020202020204" pitchFamily="34" charset="0"/>
              </a:rPr>
              <a:t>Current Use of </a:t>
            </a:r>
            <a:r>
              <a:rPr lang="en-US" sz="1600" dirty="0">
                <a:solidFill>
                  <a:srgbClr val="333333"/>
                </a:solidFill>
                <a:latin typeface="Arial" panose="020B0604020202020204" pitchFamily="34" charset="0"/>
              </a:rPr>
              <a:t>National Emergency</a:t>
            </a:r>
            <a:br>
              <a:rPr lang="en-US" sz="1600" dirty="0">
                <a:solidFill>
                  <a:srgbClr val="333333"/>
                </a:solidFill>
                <a:latin typeface="Arial" panose="020B0604020202020204" pitchFamily="34" charset="0"/>
              </a:rPr>
            </a:br>
            <a:r>
              <a:rPr lang="en-US" sz="1600" dirty="0">
                <a:solidFill>
                  <a:srgbClr val="333333"/>
                </a:solidFill>
                <a:latin typeface="Arial" panose="020B0604020202020204" pitchFamily="34" charset="0"/>
              </a:rPr>
              <a:t>https://www.nytimes.com/video/us/100000010351409/what-counts-as-a-national-emergency.html</a:t>
            </a:r>
            <a:endParaRPr lang="en-US" sz="1600" b="0" i="0" dirty="0">
              <a:solidFill>
                <a:srgbClr val="333333"/>
              </a:solidFill>
              <a:effectLst/>
              <a:latin typeface="Arial" panose="020B0604020202020204" pitchFamily="34" charset="0"/>
            </a:endParaRPr>
          </a:p>
          <a:p>
            <a:pPr marL="1028700" lvl="1">
              <a:spcAft>
                <a:spcPts val="1200"/>
              </a:spcAft>
              <a:buFont typeface="Arial" panose="020B0604020202020204" pitchFamily="34" charset="0"/>
              <a:buChar char="•"/>
            </a:pPr>
            <a:endParaRPr lang="en-US" sz="1600" b="1" i="0" dirty="0">
              <a:solidFill>
                <a:srgbClr val="202A43"/>
              </a:solidFill>
              <a:effectLst/>
              <a:latin typeface="Arial" panose="020B0604020202020204" pitchFamily="34" charset="0"/>
            </a:endParaRPr>
          </a:p>
          <a:p>
            <a:pPr marL="1028700" lvl="1">
              <a:spcAft>
                <a:spcPts val="1200"/>
              </a:spcAft>
              <a:buFont typeface="Arial" panose="020B0604020202020204" pitchFamily="34" charset="0"/>
              <a:buChar char="•"/>
            </a:pPr>
            <a:endParaRPr lang="en-US" sz="1600" b="0" i="0" dirty="0">
              <a:solidFill>
                <a:srgbClr val="333333"/>
              </a:solidFill>
              <a:effectLst/>
              <a:latin typeface="Arial" panose="020B0604020202020204" pitchFamily="34" charset="0"/>
            </a:endParaRPr>
          </a:p>
          <a:p>
            <a:pPr eaLnBrk="1" hangingPunct="1">
              <a:spcAft>
                <a:spcPts val="1200"/>
              </a:spcAft>
              <a:buFont typeface="Arial" panose="020B0604020202020204" pitchFamily="34" charset="0"/>
              <a:buChar char="•"/>
            </a:pPr>
            <a:endParaRPr lang="en-US" altLang="en-US" sz="1600" dirty="0"/>
          </a:p>
        </p:txBody>
      </p:sp>
    </p:spTree>
    <p:extLst>
      <p:ext uri="{BB962C8B-B14F-4D97-AF65-F5344CB8AC3E}">
        <p14:creationId xmlns:p14="http://schemas.microsoft.com/office/powerpoint/2010/main" val="3680908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0D3CC67-DAD0-798E-2227-5E11B17D9468}"/>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786ABBCE-DDCA-2C62-B8E7-07262BAF8979}"/>
              </a:ext>
            </a:extLst>
          </p:cNvPr>
          <p:cNvSpPr txBox="1">
            <a:spLocks/>
          </p:cNvSpPr>
          <p:nvPr/>
        </p:nvSpPr>
        <p:spPr>
          <a:xfrm>
            <a:off x="1359673" y="597756"/>
            <a:ext cx="6130455" cy="738063"/>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 </a:t>
            </a:r>
            <a:endParaRPr lang="en-US" sz="3600" b="1" dirty="0">
              <a:latin typeface="Calibri" panose="020F0502020204030204" pitchFamily="34" charset="0"/>
              <a:ea typeface="+mj-ea"/>
              <a:cs typeface="Calibri" panose="020F0502020204030204" pitchFamily="34" charset="0"/>
            </a:endParaRPr>
          </a:p>
        </p:txBody>
      </p:sp>
      <p:sp>
        <p:nvSpPr>
          <p:cNvPr id="3" name="Content Placeholder 2">
            <a:extLst>
              <a:ext uri="{FF2B5EF4-FFF2-40B4-BE49-F238E27FC236}">
                <a16:creationId xmlns:a16="http://schemas.microsoft.com/office/drawing/2014/main" id="{69198929-6FA5-5101-FA65-D829F31D9DAE}"/>
              </a:ext>
            </a:extLst>
          </p:cNvPr>
          <p:cNvSpPr txBox="1">
            <a:spLocks/>
          </p:cNvSpPr>
          <p:nvPr/>
        </p:nvSpPr>
        <p:spPr>
          <a:xfrm>
            <a:off x="472630" y="1110370"/>
            <a:ext cx="7742280" cy="5275439"/>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endParaRPr lang="en-US" sz="2000" b="1" dirty="0">
              <a:solidFill>
                <a:srgbClr val="333333"/>
              </a:solidFill>
              <a:latin typeface="Arial" panose="020B0604020202020204" pitchFamily="34" charset="0"/>
            </a:endParaRPr>
          </a:p>
          <a:p>
            <a:pPr>
              <a:defRPr/>
            </a:pPr>
            <a:r>
              <a:rPr lang="en-US" sz="2000" b="1" dirty="0">
                <a:solidFill>
                  <a:srgbClr val="333333"/>
                </a:solidFill>
                <a:latin typeface="Arial" panose="020B0604020202020204" pitchFamily="34" charset="0"/>
              </a:rPr>
              <a:t>Has the duty to see that the laws are faithfully executed.</a:t>
            </a:r>
          </a:p>
          <a:p>
            <a:pPr marL="0" indent="0">
              <a:buNone/>
              <a:defRPr/>
            </a:pPr>
            <a:endParaRPr lang="en-US" sz="2000" b="1" dirty="0">
              <a:solidFill>
                <a:srgbClr val="333333"/>
              </a:solidFill>
              <a:latin typeface="Arial" panose="020B0604020202020204" pitchFamily="34" charset="0"/>
            </a:endParaRPr>
          </a:p>
          <a:p>
            <a:pPr>
              <a:defRPr/>
            </a:pPr>
            <a:r>
              <a:rPr lang="en-US" sz="2000" b="1" dirty="0">
                <a:solidFill>
                  <a:srgbClr val="333333"/>
                </a:solidFill>
                <a:latin typeface="Arial" panose="020B0604020202020204" pitchFamily="34" charset="0"/>
              </a:rPr>
              <a:t>Power to write checks pursuant to appropriation laws.</a:t>
            </a:r>
            <a:br>
              <a:rPr lang="en-US" sz="1800" dirty="0">
                <a:solidFill>
                  <a:srgbClr val="333333"/>
                </a:solidFill>
                <a:latin typeface="Arial" panose="020B0604020202020204" pitchFamily="34" charset="0"/>
              </a:rPr>
            </a:br>
            <a:endParaRPr lang="en-US" sz="1800" dirty="0">
              <a:solidFill>
                <a:srgbClr val="333333"/>
              </a:solidFill>
              <a:latin typeface="Arial" panose="020B0604020202020204" pitchFamily="34" charset="0"/>
            </a:endParaRPr>
          </a:p>
          <a:p>
            <a:pPr>
              <a:defRPr/>
            </a:pPr>
            <a:r>
              <a:rPr lang="en-US" sz="2000" b="1" dirty="0">
                <a:latin typeface="+mj-lt"/>
              </a:rPr>
              <a:t>“Power of the Purse”</a:t>
            </a:r>
            <a:br>
              <a:rPr lang="en-US" sz="2000" b="0" i="0" dirty="0">
                <a:effectLst/>
                <a:latin typeface="+mj-lt"/>
              </a:rPr>
            </a:br>
            <a:endParaRPr lang="en-US" sz="2000" b="0" i="0" dirty="0">
              <a:effectLst/>
              <a:latin typeface="+mj-lt"/>
            </a:endParaRPr>
          </a:p>
          <a:p>
            <a:pPr lvl="1">
              <a:spcBef>
                <a:spcPts val="0"/>
              </a:spcBef>
              <a:spcAft>
                <a:spcPts val="1200"/>
              </a:spcAft>
              <a:defRPr/>
            </a:pPr>
            <a:r>
              <a:rPr lang="en-US" sz="1800" b="0" i="0" dirty="0">
                <a:effectLst/>
                <a:latin typeface="+mj-lt"/>
              </a:rPr>
              <a:t>“No Money shall be drawn from the Treasury, but in Consequence of Appropriations made by Law.” </a:t>
            </a:r>
          </a:p>
          <a:p>
            <a:pPr lvl="1">
              <a:spcBef>
                <a:spcPts val="0"/>
              </a:spcBef>
              <a:spcAft>
                <a:spcPts val="1200"/>
              </a:spcAft>
              <a:defRPr/>
            </a:pPr>
            <a:r>
              <a:rPr lang="en-US" sz="1800" dirty="0">
                <a:solidFill>
                  <a:srgbClr val="333333"/>
                </a:solidFill>
              </a:rPr>
              <a:t>Power to Not Spend Money Appropriated by Law?</a:t>
            </a:r>
            <a:br>
              <a:rPr lang="en-US" sz="1800" b="1" dirty="0">
                <a:solidFill>
                  <a:srgbClr val="333333"/>
                </a:solidFill>
              </a:rPr>
            </a:br>
            <a:r>
              <a:rPr lang="en-US" sz="1800" b="1" dirty="0">
                <a:solidFill>
                  <a:srgbClr val="333333"/>
                </a:solidFill>
              </a:rPr>
              <a:t>	</a:t>
            </a:r>
            <a:r>
              <a:rPr lang="en-US" sz="1800" dirty="0">
                <a:solidFill>
                  <a:srgbClr val="333333"/>
                </a:solidFill>
              </a:rPr>
              <a:t>Impoundment Act of 1974</a:t>
            </a:r>
            <a:br>
              <a:rPr lang="en-US" sz="1800" dirty="0">
                <a:solidFill>
                  <a:srgbClr val="333333"/>
                </a:solidFill>
              </a:rPr>
            </a:br>
            <a:r>
              <a:rPr lang="en-US" sz="1800" dirty="0">
                <a:solidFill>
                  <a:srgbClr val="002060"/>
                </a:solidFill>
                <a:hlinkClick r:id="rId3">
                  <a:extLst>
                    <a:ext uri="{A12FA001-AC4F-418D-AE19-62706E023703}">
                      <ahyp:hlinkClr xmlns:ahyp="http://schemas.microsoft.com/office/drawing/2018/hyperlinkcolor" val="tx"/>
                    </a:ext>
                  </a:extLst>
                </a:hlinkClick>
              </a:rPr>
              <a:t>https://youtu.be/H7Q2q_AgMQY</a:t>
            </a:r>
            <a:br>
              <a:rPr lang="en-US" sz="1800" dirty="0">
                <a:solidFill>
                  <a:srgbClr val="002060"/>
                </a:solidFill>
              </a:rPr>
            </a:br>
            <a:r>
              <a:rPr lang="en-US" sz="1800" dirty="0">
                <a:solidFill>
                  <a:srgbClr val="333333"/>
                </a:solidFill>
                <a:latin typeface="Arial" panose="020B0604020202020204" pitchFamily="34" charset="0"/>
              </a:rPr>
              <a:t>USAID</a:t>
            </a:r>
            <a:br>
              <a:rPr lang="en-US" sz="1800" dirty="0">
                <a:solidFill>
                  <a:srgbClr val="333333"/>
                </a:solidFill>
                <a:latin typeface="Arial" panose="020B0604020202020204" pitchFamily="34" charset="0"/>
              </a:rPr>
            </a:br>
            <a:r>
              <a:rPr lang="en-US" sz="1800" dirty="0">
                <a:solidFill>
                  <a:srgbClr val="002060"/>
                </a:solidFill>
                <a:latin typeface="Arial" panose="020B0604020202020204" pitchFamily="34" charset="0"/>
                <a:hlinkClick r:id="rId4">
                  <a:extLst>
                    <a:ext uri="{A12FA001-AC4F-418D-AE19-62706E023703}">
                      <ahyp:hlinkClr xmlns:ahyp="http://schemas.microsoft.com/office/drawing/2018/hyperlinkcolor" val="tx"/>
                    </a:ext>
                  </a:extLst>
                </a:hlinkClick>
              </a:rPr>
              <a:t>https://youtu.be/LCw-YQYFJBA</a:t>
            </a:r>
            <a:endParaRPr lang="en-US" sz="1800" dirty="0">
              <a:solidFill>
                <a:srgbClr val="002060"/>
              </a:solidFill>
              <a:latin typeface="Arial" panose="020B0604020202020204" pitchFamily="34" charset="0"/>
            </a:endParaRPr>
          </a:p>
          <a:p>
            <a:pPr lvl="1">
              <a:spcBef>
                <a:spcPts val="0"/>
              </a:spcBef>
              <a:spcAft>
                <a:spcPts val="1200"/>
              </a:spcAft>
              <a:defRPr/>
            </a:pPr>
            <a:r>
              <a:rPr lang="en-US" sz="1800" dirty="0">
                <a:solidFill>
                  <a:srgbClr val="002060"/>
                </a:solidFill>
                <a:latin typeface="Arial" panose="020B0604020202020204" pitchFamily="34" charset="0"/>
              </a:rPr>
              <a:t>“Pocket Rescission”</a:t>
            </a:r>
            <a:endParaRPr lang="en-US" sz="1800" dirty="0">
              <a:latin typeface="Arial" panose="020B0604020202020204" pitchFamily="34" charset="0"/>
            </a:endParaRPr>
          </a:p>
          <a:p>
            <a:pPr lvl="1">
              <a:spcBef>
                <a:spcPts val="0"/>
              </a:spcBef>
              <a:spcAft>
                <a:spcPts val="1200"/>
              </a:spcAft>
              <a:defRPr/>
            </a:pPr>
            <a:endParaRPr lang="en-US" sz="1400" b="0" i="0" dirty="0">
              <a:effectLst/>
              <a:latin typeface="+mj-lt"/>
            </a:endParaRPr>
          </a:p>
          <a:p>
            <a:pPr lvl="1">
              <a:spcBef>
                <a:spcPts val="0"/>
              </a:spcBef>
              <a:spcAft>
                <a:spcPts val="1200"/>
              </a:spcAft>
              <a:defRPr/>
            </a:pPr>
            <a:endParaRPr lang="en-US" sz="1400" b="0" i="0" dirty="0">
              <a:effectLst/>
              <a:latin typeface="+mj-lt"/>
            </a:endParaRPr>
          </a:p>
          <a:p>
            <a:pPr marL="457200" lvl="1" indent="0">
              <a:spcBef>
                <a:spcPts val="0"/>
              </a:spcBef>
              <a:spcAft>
                <a:spcPts val="1200"/>
              </a:spcAft>
              <a:buNone/>
              <a:defRPr/>
            </a:pPr>
            <a:endParaRPr lang="en-US" sz="1400" kern="100" dirty="0">
              <a:effectLst/>
              <a:latin typeface="+mj-lt"/>
              <a:ea typeface="Aptos" panose="020B0004020202020204" pitchFamily="34" charset="0"/>
              <a:cs typeface="Times New Roman" panose="02020603050405020304" pitchFamily="18" charset="0"/>
            </a:endParaRPr>
          </a:p>
          <a:p>
            <a:pPr>
              <a:spcBef>
                <a:spcPts val="0"/>
              </a:spcBef>
              <a:spcAft>
                <a:spcPts val="1200"/>
              </a:spcAft>
              <a:defRPr/>
            </a:pPr>
            <a:endParaRPr lang="en-US" altLang="en-US" dirty="0">
              <a:latin typeface="Calibri" panose="020F0502020204030204" pitchFamily="34" charset="0"/>
              <a:cs typeface="Calibri" panose="020F0502020204030204" pitchFamily="34" charset="0"/>
            </a:endParaRPr>
          </a:p>
          <a:p>
            <a:pPr fontAlgn="auto">
              <a:spcBef>
                <a:spcPts val="0"/>
              </a:spcBef>
              <a:spcAft>
                <a:spcPts val="1200"/>
              </a:spcAft>
              <a:defRPr/>
            </a:pPr>
            <a:endParaRPr lang="en-US" sz="2400" i="1" dirty="0">
              <a:latin typeface="Calibri" panose="020F0502020204030204" pitchFamily="34" charset="0"/>
              <a:cs typeface="Calibri" panose="020F0502020204030204" pitchFamily="34" charset="0"/>
            </a:endParaRPr>
          </a:p>
        </p:txBody>
      </p:sp>
      <p:sp>
        <p:nvSpPr>
          <p:cNvPr id="2" name="Title 5">
            <a:extLst>
              <a:ext uri="{FF2B5EF4-FFF2-40B4-BE49-F238E27FC236}">
                <a16:creationId xmlns:a16="http://schemas.microsoft.com/office/drawing/2014/main" id="{AD6D0427-AE58-50B3-8BDB-7C7C87D6B8DF}"/>
              </a:ext>
            </a:extLst>
          </p:cNvPr>
          <p:cNvSpPr txBox="1">
            <a:spLocks/>
          </p:cNvSpPr>
          <p:nvPr/>
        </p:nvSpPr>
        <p:spPr>
          <a:xfrm>
            <a:off x="900035" y="124651"/>
            <a:ext cx="6704194" cy="708670"/>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600" b="1" dirty="0">
                <a:latin typeface="Calibri" panose="020F0502020204030204" pitchFamily="34" charset="0"/>
                <a:ea typeface="+mj-ea"/>
                <a:cs typeface="Calibri" panose="020F0502020204030204" pitchFamily="34" charset="0"/>
              </a:rPr>
              <a:t>Powers of the Presidency</a:t>
            </a:r>
          </a:p>
        </p:txBody>
      </p:sp>
    </p:spTree>
    <p:extLst>
      <p:ext uri="{BB962C8B-B14F-4D97-AF65-F5344CB8AC3E}">
        <p14:creationId xmlns:p14="http://schemas.microsoft.com/office/powerpoint/2010/main" val="790957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02DEC72-AAD0-4FDE-1E0E-5C2E7FF93CE1}"/>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CB3A48EA-EBF5-5287-A9D4-3FDB436B582D}"/>
              </a:ext>
            </a:extLst>
          </p:cNvPr>
          <p:cNvSpPr txBox="1">
            <a:spLocks/>
          </p:cNvSpPr>
          <p:nvPr/>
        </p:nvSpPr>
        <p:spPr>
          <a:xfrm>
            <a:off x="900035" y="124651"/>
            <a:ext cx="6704194" cy="708670"/>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600" b="1" dirty="0">
                <a:latin typeface="Calibri" panose="020F0502020204030204" pitchFamily="34" charset="0"/>
                <a:ea typeface="+mj-ea"/>
                <a:cs typeface="Calibri" panose="020F0502020204030204" pitchFamily="34" charset="0"/>
              </a:rPr>
              <a:t>Powers of the Presidency</a:t>
            </a:r>
          </a:p>
        </p:txBody>
      </p:sp>
      <p:sp>
        <p:nvSpPr>
          <p:cNvPr id="3" name="Content Placeholder 2">
            <a:extLst>
              <a:ext uri="{FF2B5EF4-FFF2-40B4-BE49-F238E27FC236}">
                <a16:creationId xmlns:a16="http://schemas.microsoft.com/office/drawing/2014/main" id="{52067162-E562-837C-74F9-7CCF4EC1B361}"/>
              </a:ext>
            </a:extLst>
          </p:cNvPr>
          <p:cNvSpPr txBox="1">
            <a:spLocks/>
          </p:cNvSpPr>
          <p:nvPr/>
        </p:nvSpPr>
        <p:spPr>
          <a:xfrm>
            <a:off x="536090" y="544078"/>
            <a:ext cx="8342164" cy="6189271"/>
          </a:xfrm>
          <a:prstGeom prst="rect">
            <a:avLst/>
          </a:prstGeom>
        </p:spPr>
        <p:txBody>
          <a:bodyPr>
            <a:no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lvl="1" indent="0">
              <a:spcAft>
                <a:spcPts val="750"/>
              </a:spcAft>
            </a:pPr>
            <a:endParaRPr lang="en-US" sz="1600" b="0" i="0" dirty="0">
              <a:solidFill>
                <a:srgbClr val="333333"/>
              </a:solidFill>
              <a:effectLst/>
              <a:latin typeface="Arial" panose="020B0604020202020204" pitchFamily="34" charset="0"/>
            </a:endParaRPr>
          </a:p>
          <a:p>
            <a:pPr marL="285750" indent="-285750" algn="l">
              <a:spcAft>
                <a:spcPts val="750"/>
              </a:spcAft>
              <a:buFont typeface="Arial" panose="020B0604020202020204" pitchFamily="34" charset="0"/>
              <a:buChar char="•"/>
            </a:pPr>
            <a:r>
              <a:rPr lang="en-US" sz="1600" b="1" i="0" dirty="0">
                <a:solidFill>
                  <a:srgbClr val="333333"/>
                </a:solidFill>
                <a:effectLst/>
                <a:latin typeface="Arial" panose="020B0604020202020204" pitchFamily="34" charset="0"/>
              </a:rPr>
              <a:t>Power of Appointment </a:t>
            </a:r>
            <a:endParaRPr lang="en-US" sz="1600" dirty="0">
              <a:solidFill>
                <a:srgbClr val="333333"/>
              </a:solidFill>
              <a:latin typeface="Arial" panose="020B0604020202020204" pitchFamily="34" charset="0"/>
            </a:endParaRPr>
          </a:p>
          <a:p>
            <a:pPr marL="1028700" lvl="1">
              <a:spcAft>
                <a:spcPts val="750"/>
              </a:spcAft>
              <a:buFont typeface="Arial" panose="020B0604020202020204" pitchFamily="34" charset="0"/>
              <a:buChar char="•"/>
            </a:pPr>
            <a:r>
              <a:rPr lang="en-US" sz="1600" dirty="0">
                <a:solidFill>
                  <a:srgbClr val="000000"/>
                </a:solidFill>
                <a:latin typeface="Arial" panose="020B0604020202020204" pitchFamily="34" charset="0"/>
              </a:rPr>
              <a:t>S</a:t>
            </a:r>
            <a:r>
              <a:rPr lang="en-US" sz="1600" b="0" i="0" dirty="0">
                <a:solidFill>
                  <a:srgbClr val="000000"/>
                </a:solidFill>
                <a:effectLst/>
                <a:latin typeface="Arial" panose="020B0604020202020204" pitchFamily="34" charset="0"/>
              </a:rPr>
              <a:t>hall appoint Ambassadors, Judges of the supreme Court, and all other Officers of the United States</a:t>
            </a:r>
          </a:p>
          <a:p>
            <a:pPr marL="1028700" lvl="1">
              <a:spcAft>
                <a:spcPts val="750"/>
              </a:spcAft>
              <a:buFont typeface="Arial" panose="020B0604020202020204" pitchFamily="34" charset="0"/>
              <a:buChar char="•"/>
            </a:pPr>
            <a:r>
              <a:rPr lang="en-US" sz="1600" dirty="0">
                <a:solidFill>
                  <a:srgbClr val="000000"/>
                </a:solidFill>
                <a:latin typeface="Arial" panose="020B0604020202020204" pitchFamily="34" charset="0"/>
              </a:rPr>
              <a:t>What are “Other Officers”</a:t>
            </a:r>
          </a:p>
          <a:p>
            <a:pPr marL="1428750" lvl="2">
              <a:spcAft>
                <a:spcPts val="750"/>
              </a:spcAft>
              <a:buFont typeface="Arial" panose="020B0604020202020204" pitchFamily="34" charset="0"/>
              <a:buChar char="•"/>
            </a:pPr>
            <a:r>
              <a:rPr lang="en-US" sz="1600" dirty="0">
                <a:solidFill>
                  <a:srgbClr val="000000"/>
                </a:solidFill>
                <a:latin typeface="Arial" panose="020B0604020202020204" pitchFamily="34" charset="0"/>
              </a:rPr>
              <a:t>Courts Interpretation: “exercising significant authority pursuant to the laws of the United States”.  Examples:   FBI, National Intelligence</a:t>
            </a:r>
          </a:p>
          <a:p>
            <a:pPr lvl="1" indent="0">
              <a:spcAft>
                <a:spcPts val="750"/>
              </a:spcAft>
            </a:pPr>
            <a:endParaRPr lang="en-US" sz="1600" dirty="0">
              <a:solidFill>
                <a:srgbClr val="000000"/>
              </a:solidFill>
              <a:latin typeface="Arial" panose="020B0604020202020204" pitchFamily="34" charset="0"/>
            </a:endParaRPr>
          </a:p>
          <a:p>
            <a:pPr marL="285750" indent="-285750" algn="l">
              <a:spcAft>
                <a:spcPts val="750"/>
              </a:spcAft>
              <a:buFont typeface="Arial" panose="020B0604020202020204" pitchFamily="34" charset="0"/>
              <a:buChar char="•"/>
            </a:pPr>
            <a:r>
              <a:rPr lang="en-US" sz="1600" b="1" i="0" dirty="0">
                <a:solidFill>
                  <a:srgbClr val="333333"/>
                </a:solidFill>
                <a:effectLst/>
                <a:latin typeface="Arial" panose="020B0604020202020204" pitchFamily="34" charset="0"/>
              </a:rPr>
              <a:t>Has the power to convene one or both houses of Congress during extraordinary occasions, and when Congress cannot agree to adjourn has the power to adjourn them when he thinks the time is proper.</a:t>
            </a:r>
          </a:p>
          <a:p>
            <a:pPr eaLnBrk="1" hangingPunct="1">
              <a:spcAft>
                <a:spcPts val="1200"/>
              </a:spcAft>
              <a:buFont typeface="Arial" panose="020B0604020202020204" pitchFamily="34" charset="0"/>
              <a:buChar char="•"/>
            </a:pPr>
            <a:endParaRPr lang="en-US" altLang="en-US" sz="1600" dirty="0"/>
          </a:p>
        </p:txBody>
      </p:sp>
    </p:spTree>
    <p:extLst>
      <p:ext uri="{BB962C8B-B14F-4D97-AF65-F5344CB8AC3E}">
        <p14:creationId xmlns:p14="http://schemas.microsoft.com/office/powerpoint/2010/main" val="1763879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81A40DD-DBD5-0376-C602-5BBD79D04BEE}"/>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A06F0963-7782-A65E-A205-D2DE01B59083}"/>
              </a:ext>
            </a:extLst>
          </p:cNvPr>
          <p:cNvSpPr txBox="1">
            <a:spLocks/>
          </p:cNvSpPr>
          <p:nvPr/>
        </p:nvSpPr>
        <p:spPr>
          <a:xfrm>
            <a:off x="900035" y="124651"/>
            <a:ext cx="6704194" cy="708670"/>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600" b="1" dirty="0">
                <a:latin typeface="Calibri" panose="020F0502020204030204" pitchFamily="34" charset="0"/>
                <a:ea typeface="+mj-ea"/>
                <a:cs typeface="Calibri" panose="020F0502020204030204" pitchFamily="34" charset="0"/>
              </a:rPr>
              <a:t>Powers of the Presidency</a:t>
            </a:r>
          </a:p>
        </p:txBody>
      </p:sp>
      <p:sp>
        <p:nvSpPr>
          <p:cNvPr id="3" name="Content Placeholder 2">
            <a:extLst>
              <a:ext uri="{FF2B5EF4-FFF2-40B4-BE49-F238E27FC236}">
                <a16:creationId xmlns:a16="http://schemas.microsoft.com/office/drawing/2014/main" id="{602BD6D4-64C2-08F8-6631-E38C607BA803}"/>
              </a:ext>
            </a:extLst>
          </p:cNvPr>
          <p:cNvSpPr txBox="1">
            <a:spLocks/>
          </p:cNvSpPr>
          <p:nvPr/>
        </p:nvSpPr>
        <p:spPr>
          <a:xfrm>
            <a:off x="296266" y="1129896"/>
            <a:ext cx="8342164" cy="6189271"/>
          </a:xfrm>
          <a:prstGeom prst="rect">
            <a:avLst/>
          </a:prstGeom>
        </p:spPr>
        <p:txBody>
          <a:bodyPr>
            <a:no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lvl="1" indent="0">
              <a:spcAft>
                <a:spcPts val="750"/>
              </a:spcAft>
            </a:pPr>
            <a:endParaRPr lang="en-US" sz="1600" b="0" i="0" dirty="0">
              <a:solidFill>
                <a:srgbClr val="333333"/>
              </a:solidFill>
              <a:effectLst/>
              <a:latin typeface="Arial" panose="020B0604020202020204" pitchFamily="34" charset="0"/>
            </a:endParaRPr>
          </a:p>
          <a:p>
            <a:pPr marL="285750" indent="-285750" algn="l">
              <a:spcAft>
                <a:spcPts val="750"/>
              </a:spcAft>
              <a:buFont typeface="Arial" panose="020B0604020202020204" pitchFamily="34" charset="0"/>
              <a:buChar char="•"/>
            </a:pPr>
            <a:r>
              <a:rPr lang="en-US" sz="2000" b="1" i="0" dirty="0">
                <a:solidFill>
                  <a:srgbClr val="333333"/>
                </a:solidFill>
                <a:effectLst/>
                <a:latin typeface="Arial" panose="020B0604020202020204" pitchFamily="34" charset="0"/>
              </a:rPr>
              <a:t>Power to make treaties, with the advise and consent of the Senate. </a:t>
            </a:r>
            <a:r>
              <a:rPr lang="en-US" sz="2000" b="0" i="0" dirty="0">
                <a:solidFill>
                  <a:srgbClr val="333333"/>
                </a:solidFill>
                <a:effectLst/>
                <a:latin typeface="Arial" panose="020B0604020202020204" pitchFamily="34" charset="0"/>
              </a:rPr>
              <a:t>(2/3</a:t>
            </a:r>
            <a:r>
              <a:rPr lang="en-US" sz="2000" b="0" i="0" baseline="30000" dirty="0">
                <a:solidFill>
                  <a:srgbClr val="333333"/>
                </a:solidFill>
                <a:effectLst/>
                <a:latin typeface="Arial" panose="020B0604020202020204" pitchFamily="34" charset="0"/>
              </a:rPr>
              <a:t>rd</a:t>
            </a:r>
            <a:r>
              <a:rPr lang="en-US" sz="2000" b="0" i="0" dirty="0">
                <a:solidFill>
                  <a:srgbClr val="333333"/>
                </a:solidFill>
                <a:effectLst/>
                <a:latin typeface="Arial" panose="020B0604020202020204" pitchFamily="34" charset="0"/>
              </a:rPr>
              <a:t> vote to approve)</a:t>
            </a:r>
          </a:p>
          <a:p>
            <a:pPr marL="285750" indent="-285750" algn="l">
              <a:spcAft>
                <a:spcPts val="750"/>
              </a:spcAft>
              <a:buFont typeface="Arial" panose="020B0604020202020204" pitchFamily="34" charset="0"/>
              <a:buChar char="•"/>
            </a:pPr>
            <a:br>
              <a:rPr lang="en-US" sz="2000" b="1" i="0" dirty="0">
                <a:solidFill>
                  <a:srgbClr val="333333"/>
                </a:solidFill>
                <a:effectLst/>
                <a:latin typeface="Arial" panose="020B0604020202020204" pitchFamily="34" charset="0"/>
              </a:rPr>
            </a:br>
            <a:r>
              <a:rPr lang="en-US" sz="2000" b="1" i="0" dirty="0">
                <a:solidFill>
                  <a:srgbClr val="333333"/>
                </a:solidFill>
                <a:effectLst/>
                <a:latin typeface="Arial" panose="020B0604020202020204" pitchFamily="34" charset="0"/>
              </a:rPr>
              <a:t>Power to Create Executive </a:t>
            </a:r>
            <a:r>
              <a:rPr lang="en-US" sz="2000" b="1" dirty="0">
                <a:solidFill>
                  <a:srgbClr val="333333"/>
                </a:solidFill>
                <a:latin typeface="Arial" panose="020B0604020202020204" pitchFamily="34" charset="0"/>
              </a:rPr>
              <a:t>D</a:t>
            </a:r>
            <a:r>
              <a:rPr lang="en-US" sz="2000" b="1" i="0" dirty="0">
                <a:solidFill>
                  <a:srgbClr val="333333"/>
                </a:solidFill>
                <a:effectLst/>
                <a:latin typeface="Arial" panose="020B0604020202020204" pitchFamily="34" charset="0"/>
              </a:rPr>
              <a:t>epartments </a:t>
            </a:r>
            <a:r>
              <a:rPr lang="en-US" sz="2000" b="0" i="0" dirty="0">
                <a:solidFill>
                  <a:srgbClr val="333333"/>
                </a:solidFill>
                <a:effectLst/>
                <a:latin typeface="Arial" panose="020B0604020202020204" pitchFamily="34" charset="0"/>
              </a:rPr>
              <a:t>(creation of the Cabinet)</a:t>
            </a:r>
          </a:p>
          <a:p>
            <a:pPr marL="285750" lvl="1" eaLnBrk="1" hangingPunct="1">
              <a:spcAft>
                <a:spcPts val="1200"/>
              </a:spcAft>
              <a:buFont typeface="Arial" panose="020B0604020202020204" pitchFamily="34" charset="0"/>
              <a:buChar char="•"/>
            </a:pPr>
            <a:r>
              <a:rPr lang="en-US" sz="2000" b="1" dirty="0">
                <a:solidFill>
                  <a:srgbClr val="333333"/>
                </a:solidFill>
                <a:latin typeface="Arial" panose="020B0604020202020204" pitchFamily="34" charset="0"/>
              </a:rPr>
              <a:t>Power to Pardon</a:t>
            </a:r>
          </a:p>
          <a:p>
            <a:pPr marL="1028700" lvl="1">
              <a:spcAft>
                <a:spcPts val="750"/>
              </a:spcAft>
              <a:buFont typeface="Arial" panose="020B0604020202020204" pitchFamily="34" charset="0"/>
              <a:buChar char="•"/>
            </a:pPr>
            <a:r>
              <a:rPr lang="en-US" sz="1600" dirty="0">
                <a:solidFill>
                  <a:srgbClr val="333333"/>
                </a:solidFill>
                <a:latin typeface="Arial" panose="020B0604020202020204" pitchFamily="34" charset="0"/>
              </a:rPr>
              <a:t>Limited to federal cases, treason yes, impeachment, no</a:t>
            </a:r>
          </a:p>
          <a:p>
            <a:pPr marL="1028700" lvl="1">
              <a:spcAft>
                <a:spcPts val="750"/>
              </a:spcAft>
              <a:buFont typeface="Arial" panose="020B0604020202020204" pitchFamily="34" charset="0"/>
              <a:buChar char="•"/>
            </a:pPr>
            <a:r>
              <a:rPr lang="en-US" sz="1600" dirty="0">
                <a:solidFill>
                  <a:srgbClr val="FF0000"/>
                </a:solidFill>
                <a:latin typeface="Arial" panose="020B0604020202020204" pitchFamily="34" charset="0"/>
                <a:hlinkClick r:id="rId3">
                  <a:extLst>
                    <a:ext uri="{A12FA001-AC4F-418D-AE19-62706E023703}">
                      <ahyp:hlinkClr xmlns:ahyp="http://schemas.microsoft.com/office/drawing/2018/hyperlinkcolor" val="tx"/>
                    </a:ext>
                  </a:extLst>
                </a:hlinkClick>
              </a:rPr>
              <a:t>https://www.foxnews.com/video/6367469573112</a:t>
            </a:r>
            <a:endParaRPr lang="en-US" sz="1600" dirty="0">
              <a:solidFill>
                <a:srgbClr val="FF0000"/>
              </a:solidFill>
              <a:latin typeface="Arial" panose="020B0604020202020204" pitchFamily="34" charset="0"/>
            </a:endParaRPr>
          </a:p>
          <a:p>
            <a:pPr marL="1028700" lvl="1">
              <a:spcAft>
                <a:spcPts val="750"/>
              </a:spcAft>
              <a:buFont typeface="Arial" panose="020B0604020202020204" pitchFamily="34" charset="0"/>
              <a:buChar char="•"/>
            </a:pPr>
            <a:r>
              <a:rPr lang="en-US" sz="1600" dirty="0">
                <a:solidFill>
                  <a:srgbClr val="FF0000"/>
                </a:solidFill>
                <a:hlinkClick r:id="rId4">
                  <a:extLst>
                    <a:ext uri="{A12FA001-AC4F-418D-AE19-62706E023703}">
                      <ahyp:hlinkClr xmlns:ahyp="http://schemas.microsoft.com/office/drawing/2018/hyperlinkcolor" val="tx"/>
                    </a:ext>
                  </a:extLst>
                </a:hlinkClick>
              </a:rPr>
              <a:t>Bing Videos</a:t>
            </a:r>
            <a:endParaRPr lang="en-US" sz="1600" dirty="0">
              <a:solidFill>
                <a:srgbClr val="FF0000"/>
              </a:solidFill>
              <a:latin typeface="Arial" panose="020B0604020202020204" pitchFamily="34" charset="0"/>
            </a:endParaRPr>
          </a:p>
          <a:p>
            <a:pPr eaLnBrk="1" hangingPunct="1">
              <a:spcAft>
                <a:spcPts val="1200"/>
              </a:spcAft>
            </a:pPr>
            <a:endParaRPr lang="en-US" sz="1600" b="0" i="0" dirty="0">
              <a:solidFill>
                <a:srgbClr val="333333"/>
              </a:solidFill>
              <a:effectLst/>
              <a:latin typeface="+mj-lt"/>
            </a:endParaRPr>
          </a:p>
          <a:p>
            <a:pPr eaLnBrk="1" hangingPunct="1">
              <a:spcAft>
                <a:spcPts val="1200"/>
              </a:spcAft>
            </a:pPr>
            <a:endParaRPr lang="en-US" altLang="en-US" sz="1600" dirty="0"/>
          </a:p>
        </p:txBody>
      </p:sp>
    </p:spTree>
    <p:extLst>
      <p:ext uri="{BB962C8B-B14F-4D97-AF65-F5344CB8AC3E}">
        <p14:creationId xmlns:p14="http://schemas.microsoft.com/office/powerpoint/2010/main" val="626363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62AC92F-C213-1510-51AA-18C190512DF6}"/>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953F8001-5786-3BFE-BA7E-0764C0D2ED04}"/>
              </a:ext>
            </a:extLst>
          </p:cNvPr>
          <p:cNvSpPr txBox="1">
            <a:spLocks/>
          </p:cNvSpPr>
          <p:nvPr/>
        </p:nvSpPr>
        <p:spPr>
          <a:xfrm>
            <a:off x="900035" y="124651"/>
            <a:ext cx="6704194" cy="708670"/>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600" b="1" dirty="0">
                <a:latin typeface="Calibri" panose="020F0502020204030204" pitchFamily="34" charset="0"/>
                <a:ea typeface="+mj-ea"/>
                <a:cs typeface="Calibri" panose="020F0502020204030204" pitchFamily="34" charset="0"/>
              </a:rPr>
              <a:t>Power of Executive Orders</a:t>
            </a:r>
          </a:p>
        </p:txBody>
      </p:sp>
      <p:sp>
        <p:nvSpPr>
          <p:cNvPr id="3" name="Content Placeholder 2">
            <a:extLst>
              <a:ext uri="{FF2B5EF4-FFF2-40B4-BE49-F238E27FC236}">
                <a16:creationId xmlns:a16="http://schemas.microsoft.com/office/drawing/2014/main" id="{9E8D1A25-4A04-42B7-8CB8-5933D01BD71A}"/>
              </a:ext>
            </a:extLst>
          </p:cNvPr>
          <p:cNvSpPr txBox="1">
            <a:spLocks/>
          </p:cNvSpPr>
          <p:nvPr/>
        </p:nvSpPr>
        <p:spPr>
          <a:xfrm>
            <a:off x="329356" y="1026128"/>
            <a:ext cx="8342164" cy="6189271"/>
          </a:xfrm>
          <a:prstGeom prst="rect">
            <a:avLst/>
          </a:prstGeom>
        </p:spPr>
        <p:txBody>
          <a:bodyPr>
            <a:no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lvl="1" indent="0">
              <a:spcAft>
                <a:spcPts val="750"/>
              </a:spcAft>
            </a:pPr>
            <a:endParaRPr lang="en-US" sz="1600" b="0" i="0" dirty="0">
              <a:solidFill>
                <a:srgbClr val="333333"/>
              </a:solidFill>
              <a:effectLst/>
              <a:latin typeface="Arial" panose="020B0604020202020204" pitchFamily="34" charset="0"/>
            </a:endParaRPr>
          </a:p>
          <a:p>
            <a:pPr marL="285750" indent="-285750">
              <a:spcAft>
                <a:spcPts val="750"/>
              </a:spcAft>
              <a:buFont typeface="Arial" panose="020B0604020202020204" pitchFamily="34" charset="0"/>
              <a:buChar char="•"/>
            </a:pPr>
            <a:r>
              <a:rPr lang="en-US" sz="2000" dirty="0">
                <a:latin typeface="Arial" panose="020B0604020202020204" pitchFamily="34" charset="0"/>
                <a:hlinkClick r:id="rId3">
                  <a:extLst>
                    <a:ext uri="{A12FA001-AC4F-418D-AE19-62706E023703}">
                      <ahyp:hlinkClr xmlns:ahyp="http://schemas.microsoft.com/office/drawing/2018/hyperlinkcolor" val="tx"/>
                    </a:ext>
                  </a:extLst>
                </a:hlinkClick>
              </a:rPr>
              <a:t>https://youtu.be/oyOf3g-PJ94</a:t>
            </a:r>
            <a:endParaRPr lang="en-US" sz="2000" dirty="0">
              <a:latin typeface="Arial" panose="020B0604020202020204" pitchFamily="34" charset="0"/>
            </a:endParaRPr>
          </a:p>
          <a:p>
            <a:pPr marL="285750" indent="-285750">
              <a:spcAft>
                <a:spcPts val="750"/>
              </a:spcAft>
              <a:buFont typeface="Arial" panose="020B0604020202020204" pitchFamily="34" charset="0"/>
              <a:buChar char="•"/>
            </a:pPr>
            <a:r>
              <a:rPr lang="en-US" sz="2000" b="0" i="0" dirty="0">
                <a:solidFill>
                  <a:srgbClr val="333333"/>
                </a:solidFill>
                <a:effectLst/>
                <a:latin typeface="Arial" panose="020B0604020202020204" pitchFamily="34" charset="0"/>
              </a:rPr>
              <a:t>Li</a:t>
            </a:r>
            <a:r>
              <a:rPr lang="en-US" sz="2000" dirty="0">
                <a:solidFill>
                  <a:srgbClr val="333333"/>
                </a:solidFill>
                <a:latin typeface="Arial" panose="020B0604020202020204" pitchFamily="34" charset="0"/>
              </a:rPr>
              <a:t>mits in Blocking Executive Orders</a:t>
            </a:r>
            <a:br>
              <a:rPr lang="en-US" sz="2000" dirty="0">
                <a:solidFill>
                  <a:srgbClr val="333333"/>
                </a:solidFill>
                <a:latin typeface="Arial" panose="020B0604020202020204" pitchFamily="34" charset="0"/>
              </a:rPr>
            </a:br>
            <a:r>
              <a:rPr lang="en-US" sz="2000" dirty="0">
                <a:latin typeface="Arial" panose="020B0604020202020204" pitchFamily="34" charset="0"/>
                <a:hlinkClick r:id="rId4">
                  <a:extLst>
                    <a:ext uri="{A12FA001-AC4F-418D-AE19-62706E023703}">
                      <ahyp:hlinkClr xmlns:ahyp="http://schemas.microsoft.com/office/drawing/2018/hyperlinkcolor" val="tx"/>
                    </a:ext>
                  </a:extLst>
                </a:hlinkClick>
              </a:rPr>
              <a:t>https://youtu.be/Nj_ZDMNC2Yc</a:t>
            </a:r>
            <a:endParaRPr lang="en-US" sz="2000" dirty="0">
              <a:latin typeface="Arial" panose="020B0604020202020204" pitchFamily="34" charset="0"/>
            </a:endParaRPr>
          </a:p>
          <a:p>
            <a:pPr marL="285750" indent="-285750">
              <a:spcAft>
                <a:spcPts val="750"/>
              </a:spcAft>
              <a:buFont typeface="Arial" panose="020B0604020202020204" pitchFamily="34" charset="0"/>
              <a:buChar char="•"/>
            </a:pPr>
            <a:r>
              <a:rPr lang="en-US" sz="2000" dirty="0">
                <a:latin typeface="Arial" panose="020B0604020202020204" pitchFamily="34" charset="0"/>
              </a:rPr>
              <a:t>Canvas assignment</a:t>
            </a:r>
          </a:p>
          <a:p>
            <a:pPr marL="285750" indent="-285750">
              <a:spcAft>
                <a:spcPts val="750"/>
              </a:spcAft>
              <a:buFont typeface="Arial" panose="020B0604020202020204" pitchFamily="34" charset="0"/>
              <a:buChar char="•"/>
            </a:pPr>
            <a:endParaRPr lang="en-US" sz="1600" dirty="0">
              <a:solidFill>
                <a:srgbClr val="333333"/>
              </a:solidFill>
              <a:latin typeface="Arial" panose="020B0604020202020204" pitchFamily="34" charset="0"/>
            </a:endParaRPr>
          </a:p>
          <a:p>
            <a:pPr>
              <a:spcAft>
                <a:spcPts val="750"/>
              </a:spcAft>
            </a:pPr>
            <a:endParaRPr lang="en-US" sz="1600" b="0" i="0" dirty="0">
              <a:solidFill>
                <a:srgbClr val="333333"/>
              </a:solidFill>
              <a:effectLst/>
              <a:latin typeface="Arial" panose="020B0604020202020204" pitchFamily="34" charset="0"/>
            </a:endParaRPr>
          </a:p>
          <a:p>
            <a:pPr eaLnBrk="1" hangingPunct="1">
              <a:spcAft>
                <a:spcPts val="1200"/>
              </a:spcAft>
            </a:pPr>
            <a:endParaRPr lang="en-US" sz="1600" b="0" i="0" dirty="0">
              <a:solidFill>
                <a:srgbClr val="333333"/>
              </a:solidFill>
              <a:effectLst/>
              <a:latin typeface="+mj-lt"/>
            </a:endParaRPr>
          </a:p>
          <a:p>
            <a:pPr eaLnBrk="1" hangingPunct="1">
              <a:spcAft>
                <a:spcPts val="1200"/>
              </a:spcAft>
            </a:pPr>
            <a:endParaRPr lang="en-US" altLang="en-US" sz="1600" dirty="0"/>
          </a:p>
        </p:txBody>
      </p:sp>
    </p:spTree>
    <p:extLst>
      <p:ext uri="{BB962C8B-B14F-4D97-AF65-F5344CB8AC3E}">
        <p14:creationId xmlns:p14="http://schemas.microsoft.com/office/powerpoint/2010/main" val="897125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6EFF9F8-DDBA-FF55-56E3-C58A49E0582F}"/>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83084D4F-6144-C5FF-14A3-0C5FC07A7D07}"/>
              </a:ext>
            </a:extLst>
          </p:cNvPr>
          <p:cNvSpPr txBox="1">
            <a:spLocks/>
          </p:cNvSpPr>
          <p:nvPr/>
        </p:nvSpPr>
        <p:spPr>
          <a:xfrm>
            <a:off x="900035" y="124651"/>
            <a:ext cx="6704194" cy="708670"/>
          </a:xfrm>
          <a:prstGeom prst="rect">
            <a:avLst/>
          </a:prstGeom>
        </p:spPr>
        <p:txBody>
          <a:bodyPr rtlCol="0">
            <a:normAutofit fontScale="92500"/>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600" b="1" dirty="0">
                <a:latin typeface="Calibri" panose="020F0502020204030204" pitchFamily="34" charset="0"/>
                <a:ea typeface="+mj-ea"/>
                <a:cs typeface="Calibri" panose="020F0502020204030204" pitchFamily="34" charset="0"/>
              </a:rPr>
              <a:t>Testing the Powers of the Presidency</a:t>
            </a:r>
          </a:p>
        </p:txBody>
      </p:sp>
      <p:sp>
        <p:nvSpPr>
          <p:cNvPr id="3" name="Content Placeholder 2">
            <a:hlinkClick r:id="rId3"/>
            <a:extLst>
              <a:ext uri="{FF2B5EF4-FFF2-40B4-BE49-F238E27FC236}">
                <a16:creationId xmlns:a16="http://schemas.microsoft.com/office/drawing/2014/main" id="{40EF6711-27E1-46E4-7BD8-5D7582BA111E}"/>
              </a:ext>
            </a:extLst>
          </p:cNvPr>
          <p:cNvSpPr txBox="1">
            <a:spLocks/>
          </p:cNvSpPr>
          <p:nvPr/>
        </p:nvSpPr>
        <p:spPr>
          <a:xfrm>
            <a:off x="558658" y="833321"/>
            <a:ext cx="8342164" cy="6189271"/>
          </a:xfrm>
          <a:prstGeom prst="rect">
            <a:avLst/>
          </a:prstGeom>
        </p:spPr>
        <p:txBody>
          <a:bodyPr>
            <a:no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lvl="1" indent="0"/>
            <a:endParaRPr lang="en-US" sz="1600" b="0" i="0" dirty="0">
              <a:solidFill>
                <a:srgbClr val="333333"/>
              </a:solidFill>
              <a:effectLst/>
              <a:latin typeface="Arial" panose="020B0604020202020204" pitchFamily="34" charset="0"/>
            </a:endParaRPr>
          </a:p>
          <a:p>
            <a:pPr marL="285750" indent="-285750">
              <a:buFont typeface="Arial" panose="020B0604020202020204" pitchFamily="34" charset="0"/>
              <a:buChar char="•"/>
            </a:pPr>
            <a:r>
              <a:rPr lang="en-US" sz="1600" b="1" dirty="0">
                <a:solidFill>
                  <a:srgbClr val="333333"/>
                </a:solidFill>
                <a:latin typeface="+mj-lt"/>
              </a:rPr>
              <a:t>Power to Declare a National Emergency</a:t>
            </a:r>
            <a:br>
              <a:rPr lang="en-US" sz="1200" b="1" dirty="0">
                <a:solidFill>
                  <a:srgbClr val="333333"/>
                </a:solidFill>
                <a:latin typeface="+mj-lt"/>
              </a:rPr>
            </a:br>
            <a:r>
              <a:rPr lang="en-US" sz="1200" b="1" dirty="0">
                <a:solidFill>
                  <a:srgbClr val="333333"/>
                </a:solidFill>
                <a:latin typeface="+mj-lt"/>
              </a:rPr>
              <a:t>	</a:t>
            </a:r>
            <a:r>
              <a:rPr lang="en-US" sz="1200" dirty="0">
                <a:solidFill>
                  <a:srgbClr val="FF0000"/>
                </a:solidFill>
                <a:highlight>
                  <a:srgbClr val="FFFF00"/>
                </a:highlight>
                <a:hlinkClick r:id="rId4">
                  <a:extLst>
                    <a:ext uri="{A12FA001-AC4F-418D-AE19-62706E023703}">
                      <ahyp:hlinkClr xmlns:ahyp="http://schemas.microsoft.com/office/drawing/2018/hyperlinkcolor" val="tx"/>
                    </a:ext>
                  </a:extLst>
                </a:hlinkClick>
              </a:rPr>
              <a:t>Bing Videos</a:t>
            </a:r>
            <a:br>
              <a:rPr lang="en-US" sz="1200" dirty="0"/>
            </a:br>
            <a:endParaRPr lang="en-US" sz="1200" dirty="0"/>
          </a:p>
          <a:p>
            <a:pPr marL="285750" indent="-285750">
              <a:buFont typeface="Arial" panose="020B0604020202020204" pitchFamily="34" charset="0"/>
              <a:buChar char="•"/>
            </a:pPr>
            <a:r>
              <a:rPr lang="en-US" sz="1600" b="1" dirty="0">
                <a:solidFill>
                  <a:srgbClr val="333333"/>
                </a:solidFill>
                <a:latin typeface="+mj-lt"/>
              </a:rPr>
              <a:t>Does the President Have the Power to Impose Tariffs?</a:t>
            </a:r>
            <a:br>
              <a:rPr lang="en-US" sz="1200" b="1" dirty="0">
                <a:solidFill>
                  <a:srgbClr val="333333"/>
                </a:solidFill>
                <a:latin typeface="+mj-lt"/>
              </a:rPr>
            </a:br>
            <a:r>
              <a:rPr lang="en-US" sz="1200" b="1" dirty="0">
                <a:solidFill>
                  <a:srgbClr val="333333"/>
                </a:solidFill>
                <a:latin typeface="+mj-lt"/>
              </a:rPr>
              <a:t>	</a:t>
            </a:r>
            <a:r>
              <a:rPr lang="en-US" sz="1200" dirty="0">
                <a:solidFill>
                  <a:srgbClr val="333333"/>
                </a:solidFill>
                <a:latin typeface="+mj-lt"/>
              </a:rPr>
              <a:t>Congressional Constitutional Authority, </a:t>
            </a:r>
            <a:r>
              <a:rPr lang="en-US" sz="1200" dirty="0">
                <a:latin typeface="+mj-lt"/>
              </a:rPr>
              <a:t>Article I, Section 8 of the Constitution</a:t>
            </a:r>
            <a:br>
              <a:rPr lang="en-US" sz="1200" b="1" dirty="0">
                <a:solidFill>
                  <a:srgbClr val="333333"/>
                </a:solidFill>
                <a:latin typeface="+mj-lt"/>
              </a:rPr>
            </a:br>
            <a:r>
              <a:rPr lang="en-US" sz="1200" b="1" dirty="0">
                <a:solidFill>
                  <a:srgbClr val="333333"/>
                </a:solidFill>
                <a:latin typeface="+mj-lt"/>
              </a:rPr>
              <a:t>	</a:t>
            </a:r>
            <a:r>
              <a:rPr lang="en-US" sz="1200" dirty="0">
                <a:solidFill>
                  <a:srgbClr val="FF0000"/>
                </a:solidFill>
                <a:highlight>
                  <a:srgbClr val="FFFF00"/>
                </a:highlight>
                <a:latin typeface="+mj-lt"/>
                <a:hlinkClick r:id="rId5">
                  <a:extLst>
                    <a:ext uri="{A12FA001-AC4F-418D-AE19-62706E023703}">
                      <ahyp:hlinkClr xmlns:ahyp="http://schemas.microsoft.com/office/drawing/2018/hyperlinkcolor" val="tx"/>
                    </a:ext>
                  </a:extLst>
                </a:hlinkClick>
              </a:rPr>
              <a:t>https://youtu.be/Zv0Dqrl3QV8</a:t>
            </a:r>
            <a:br>
              <a:rPr lang="en-US" sz="1200" dirty="0">
                <a:solidFill>
                  <a:srgbClr val="FF0000"/>
                </a:solidFill>
                <a:highlight>
                  <a:srgbClr val="FFFF00"/>
                </a:highlight>
                <a:latin typeface="+mj-lt"/>
              </a:rPr>
            </a:br>
            <a:endParaRPr lang="en-US" sz="1200" dirty="0">
              <a:solidFill>
                <a:srgbClr val="FF0000"/>
              </a:solidFill>
              <a:highlight>
                <a:srgbClr val="FFFF00"/>
              </a:highlight>
              <a:latin typeface="+mj-lt"/>
            </a:endParaRPr>
          </a:p>
          <a:p>
            <a:pPr marL="285750" indent="-285750">
              <a:buFont typeface="Arial" panose="020B0604020202020204" pitchFamily="34" charset="0"/>
              <a:buChar char="•"/>
            </a:pPr>
            <a:r>
              <a:rPr lang="en-US" sz="1600" b="1" dirty="0">
                <a:solidFill>
                  <a:srgbClr val="333333"/>
                </a:solidFill>
                <a:latin typeface="+mj-lt"/>
              </a:rPr>
              <a:t>Does the President Have the Power to Withdraw from a Treaty?</a:t>
            </a:r>
          </a:p>
          <a:p>
            <a:pPr marL="285750"/>
            <a:r>
              <a:rPr lang="en-US" sz="1200" dirty="0">
                <a:solidFill>
                  <a:srgbClr val="333333"/>
                </a:solidFill>
                <a:latin typeface="+mj-lt"/>
              </a:rPr>
              <a:t>	NATO (</a:t>
            </a:r>
            <a:r>
              <a:rPr lang="en-US" sz="1200" dirty="0">
                <a:solidFill>
                  <a:srgbClr val="001D35"/>
                </a:solidFill>
                <a:latin typeface="+mj-lt"/>
              </a:rPr>
              <a:t>North Atlantic Treaty Organization, 1949)</a:t>
            </a:r>
          </a:p>
          <a:p>
            <a:pPr marL="285750"/>
            <a:r>
              <a:rPr lang="en-US" sz="1200" dirty="0">
                <a:solidFill>
                  <a:srgbClr val="001D35"/>
                </a:solidFill>
                <a:latin typeface="+mj-lt"/>
              </a:rPr>
              <a:t>	</a:t>
            </a:r>
            <a:r>
              <a:rPr lang="en-US" sz="1200" dirty="0">
                <a:solidFill>
                  <a:srgbClr val="FF0000"/>
                </a:solidFill>
                <a:highlight>
                  <a:srgbClr val="FFFF00"/>
                </a:highlight>
                <a:latin typeface="+mj-lt"/>
                <a:hlinkClick r:id="rId6">
                  <a:extLst>
                    <a:ext uri="{A12FA001-AC4F-418D-AE19-62706E023703}">
                      <ahyp:hlinkClr xmlns:ahyp="http://schemas.microsoft.com/office/drawing/2018/hyperlinkcolor" val="tx"/>
                    </a:ext>
                  </a:extLst>
                </a:hlinkClick>
              </a:rPr>
              <a:t>https://youtu.be/pjPkwSlgR4I</a:t>
            </a:r>
            <a:endParaRPr lang="en-US" sz="1200" dirty="0">
              <a:solidFill>
                <a:srgbClr val="FF0000"/>
              </a:solidFill>
              <a:highlight>
                <a:srgbClr val="FFFF00"/>
              </a:highlight>
              <a:latin typeface="+mj-lt"/>
            </a:endParaRPr>
          </a:p>
          <a:p>
            <a:pPr marL="285750"/>
            <a:endParaRPr lang="en-US" sz="1200" dirty="0">
              <a:solidFill>
                <a:srgbClr val="FF0000"/>
              </a:solidFill>
              <a:highlight>
                <a:srgbClr val="FFFF00"/>
              </a:highlight>
              <a:latin typeface="+mj-lt"/>
            </a:endParaRPr>
          </a:p>
          <a:p>
            <a:pPr marL="285750" indent="-285750">
              <a:buFont typeface="Arial" panose="020B0604020202020204" pitchFamily="34" charset="0"/>
              <a:buChar char="•"/>
            </a:pPr>
            <a:r>
              <a:rPr lang="en-US" sz="1600" b="1" dirty="0">
                <a:solidFill>
                  <a:srgbClr val="001D35"/>
                </a:solidFill>
                <a:latin typeface="+mj-lt"/>
              </a:rPr>
              <a:t>Does the President Have the Power to Deport Undocumented Immigrants Without Due Process?</a:t>
            </a:r>
            <a:br>
              <a:rPr lang="en-US" sz="1200" b="1" dirty="0">
                <a:solidFill>
                  <a:srgbClr val="001D35"/>
                </a:solidFill>
                <a:latin typeface="+mj-lt"/>
              </a:rPr>
            </a:br>
            <a:r>
              <a:rPr lang="en-US" sz="1200" b="1" dirty="0">
                <a:solidFill>
                  <a:srgbClr val="001D35"/>
                </a:solidFill>
                <a:latin typeface="+mj-lt"/>
              </a:rPr>
              <a:t>	</a:t>
            </a:r>
            <a:r>
              <a:rPr lang="en-US" sz="1200" dirty="0">
                <a:solidFill>
                  <a:srgbClr val="001D35"/>
                </a:solidFill>
                <a:latin typeface="+mj-lt"/>
              </a:rPr>
              <a:t>Alien Enemies Act</a:t>
            </a:r>
            <a:br>
              <a:rPr lang="en-US" sz="1200" dirty="0">
                <a:solidFill>
                  <a:srgbClr val="001D35"/>
                </a:solidFill>
                <a:latin typeface="+mj-lt"/>
              </a:rPr>
            </a:br>
            <a:r>
              <a:rPr lang="en-US" sz="1200" dirty="0">
                <a:solidFill>
                  <a:srgbClr val="001D35"/>
                </a:solidFill>
                <a:latin typeface="+mj-lt"/>
              </a:rPr>
              <a:t>	</a:t>
            </a:r>
            <a:r>
              <a:rPr lang="en-US" sz="1200" dirty="0">
                <a:solidFill>
                  <a:srgbClr val="FF0000"/>
                </a:solidFill>
                <a:highlight>
                  <a:srgbClr val="FFFF00"/>
                </a:highlight>
                <a:latin typeface="+mj-lt"/>
                <a:hlinkClick r:id="rId7">
                  <a:extLst>
                    <a:ext uri="{A12FA001-AC4F-418D-AE19-62706E023703}">
                      <ahyp:hlinkClr xmlns:ahyp="http://schemas.microsoft.com/office/drawing/2018/hyperlinkcolor" val="tx"/>
                    </a:ext>
                  </a:extLst>
                </a:hlinkClick>
              </a:rPr>
              <a:t>https://youtu.be/GSDv6n26zGQ</a:t>
            </a:r>
            <a:br>
              <a:rPr lang="en-US" sz="1200" dirty="0">
                <a:solidFill>
                  <a:srgbClr val="FF0000"/>
                </a:solidFill>
                <a:highlight>
                  <a:srgbClr val="FFFF00"/>
                </a:highlight>
                <a:latin typeface="+mj-lt"/>
              </a:rPr>
            </a:br>
            <a:endParaRPr lang="en-US" sz="1200" dirty="0">
              <a:solidFill>
                <a:srgbClr val="FF0000"/>
              </a:solidFill>
              <a:highlight>
                <a:srgbClr val="FFFF00"/>
              </a:highlight>
              <a:latin typeface="+mj-lt"/>
            </a:endParaRPr>
          </a:p>
          <a:p>
            <a:pPr marL="285750" indent="-285750">
              <a:buFont typeface="Arial" panose="020B0604020202020204" pitchFamily="34" charset="0"/>
              <a:buChar char="•"/>
            </a:pPr>
            <a:r>
              <a:rPr lang="en-US" sz="1600" b="1" dirty="0">
                <a:solidFill>
                  <a:srgbClr val="001D35"/>
                </a:solidFill>
                <a:latin typeface="+mj-lt"/>
              </a:rPr>
              <a:t>Does the President Have the Power to </a:t>
            </a:r>
            <a:r>
              <a:rPr lang="en-US" sz="1600" b="1" dirty="0">
                <a:solidFill>
                  <a:srgbClr val="333333"/>
                </a:solidFill>
                <a:latin typeface="+mj-lt"/>
              </a:rPr>
              <a:t>send the military to the Southern Border or in times of unrest into States (ex.  Los Angeles?)</a:t>
            </a:r>
          </a:p>
          <a:p>
            <a:pPr marL="285750"/>
            <a:r>
              <a:rPr lang="en-US" sz="1200" dirty="0">
                <a:solidFill>
                  <a:srgbClr val="333333"/>
                </a:solidFill>
                <a:latin typeface="+mj-lt"/>
              </a:rPr>
              <a:t>	Posse Act/1878  (No?)</a:t>
            </a:r>
            <a:br>
              <a:rPr lang="en-US" sz="1200" dirty="0">
                <a:solidFill>
                  <a:srgbClr val="333333"/>
                </a:solidFill>
                <a:latin typeface="+mj-lt"/>
              </a:rPr>
            </a:br>
            <a:r>
              <a:rPr lang="en-US" sz="1200" dirty="0">
                <a:solidFill>
                  <a:srgbClr val="333333"/>
                </a:solidFill>
                <a:latin typeface="+mj-lt"/>
              </a:rPr>
              <a:t>	</a:t>
            </a:r>
            <a:r>
              <a:rPr lang="en-US" sz="1200" dirty="0">
                <a:solidFill>
                  <a:srgbClr val="FF0000"/>
                </a:solidFill>
                <a:highlight>
                  <a:srgbClr val="FFFF00"/>
                </a:highlight>
                <a:latin typeface="+mj-lt"/>
                <a:hlinkClick r:id="rId8">
                  <a:extLst>
                    <a:ext uri="{A12FA001-AC4F-418D-AE19-62706E023703}">
                      <ahyp:hlinkClr xmlns:ahyp="http://schemas.microsoft.com/office/drawing/2018/hyperlinkcolor" val="tx"/>
                    </a:ext>
                  </a:extLst>
                </a:hlinkClick>
              </a:rPr>
              <a:t>https://youtu.be/FiETMImO6xw</a:t>
            </a:r>
            <a:endParaRPr lang="en-US" sz="1200" dirty="0">
              <a:solidFill>
                <a:srgbClr val="FF0000"/>
              </a:solidFill>
              <a:highlight>
                <a:srgbClr val="FFFF00"/>
              </a:highlight>
              <a:latin typeface="+mj-lt"/>
            </a:endParaRPr>
          </a:p>
          <a:p>
            <a:pPr lvl="1" indent="0">
              <a:spcAft>
                <a:spcPts val="750"/>
              </a:spcAft>
            </a:pPr>
            <a:r>
              <a:rPr lang="en-US" sz="1200" dirty="0">
                <a:solidFill>
                  <a:srgbClr val="333333"/>
                </a:solidFill>
                <a:latin typeface="+mj-lt"/>
              </a:rPr>
              <a:t>	Insurrection Act of 1807 (yes?)</a:t>
            </a:r>
            <a:br>
              <a:rPr lang="en-US" sz="1200" b="1" dirty="0">
                <a:solidFill>
                  <a:srgbClr val="333333"/>
                </a:solidFill>
                <a:latin typeface="+mj-lt"/>
              </a:rPr>
            </a:br>
            <a:r>
              <a:rPr lang="en-US" sz="1200" b="1" dirty="0">
                <a:solidFill>
                  <a:srgbClr val="333333"/>
                </a:solidFill>
                <a:latin typeface="+mj-lt"/>
              </a:rPr>
              <a:t>	</a:t>
            </a:r>
            <a:r>
              <a:rPr lang="en-US" sz="1200" dirty="0">
                <a:solidFill>
                  <a:srgbClr val="FF0000"/>
                </a:solidFill>
                <a:highlight>
                  <a:srgbClr val="FFFF00"/>
                </a:highlight>
                <a:latin typeface="+mj-lt"/>
                <a:hlinkClick r:id="rId3">
                  <a:extLst>
                    <a:ext uri="{A12FA001-AC4F-418D-AE19-62706E023703}">
                      <ahyp:hlinkClr xmlns:ahyp="http://schemas.microsoft.com/office/drawing/2018/hyperlinkcolor" val="tx"/>
                    </a:ext>
                  </a:extLst>
                </a:hlinkClick>
              </a:rPr>
              <a:t>https://youtu.be/X5Ztd7Aq_kg</a:t>
            </a:r>
            <a:endParaRPr lang="en-US" sz="1600" b="1" dirty="0">
              <a:solidFill>
                <a:srgbClr val="333333"/>
              </a:solidFill>
              <a:latin typeface="Arial" panose="020B0604020202020204" pitchFamily="34" charset="0"/>
            </a:endParaRPr>
          </a:p>
          <a:p>
            <a:pPr marL="285750">
              <a:spcAft>
                <a:spcPts val="750"/>
              </a:spcAft>
              <a:buFont typeface="Arial" panose="020B0604020202020204" pitchFamily="34" charset="0"/>
              <a:buChar char="•"/>
            </a:pPr>
            <a:endParaRPr lang="en-US" sz="1600" dirty="0">
              <a:solidFill>
                <a:srgbClr val="333333"/>
              </a:solidFill>
              <a:latin typeface="Arial" panose="020B0604020202020204" pitchFamily="34" charset="0"/>
            </a:endParaRPr>
          </a:p>
          <a:p>
            <a:pPr marL="1028700" lvl="1">
              <a:spcAft>
                <a:spcPts val="750"/>
              </a:spcAft>
              <a:buFont typeface="Arial" panose="020B0604020202020204" pitchFamily="34" charset="0"/>
              <a:buChar char="•"/>
            </a:pPr>
            <a:endParaRPr lang="en-US" sz="1600" b="0" i="0" dirty="0">
              <a:solidFill>
                <a:srgbClr val="333333"/>
              </a:solidFill>
              <a:effectLst/>
              <a:latin typeface="Arial" panose="020B0604020202020204" pitchFamily="34" charset="0"/>
            </a:endParaRPr>
          </a:p>
          <a:p>
            <a:pPr eaLnBrk="1" hangingPunct="1">
              <a:spcAft>
                <a:spcPts val="1200"/>
              </a:spcAft>
            </a:pPr>
            <a:endParaRPr lang="en-US" altLang="en-US" sz="1600" dirty="0"/>
          </a:p>
        </p:txBody>
      </p:sp>
    </p:spTree>
    <p:extLst>
      <p:ext uri="{BB962C8B-B14F-4D97-AF65-F5344CB8AC3E}">
        <p14:creationId xmlns:p14="http://schemas.microsoft.com/office/powerpoint/2010/main" val="728662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4" name="Title 5">
            <a:extLst>
              <a:ext uri="{FF2B5EF4-FFF2-40B4-BE49-F238E27FC236}">
                <a16:creationId xmlns:a16="http://schemas.microsoft.com/office/drawing/2014/main" id="{5FD5215A-5EC4-7548-9376-BE650D5B742D}"/>
              </a:ext>
            </a:extLst>
          </p:cNvPr>
          <p:cNvSpPr txBox="1">
            <a:spLocks/>
          </p:cNvSpPr>
          <p:nvPr/>
        </p:nvSpPr>
        <p:spPr>
          <a:xfrm>
            <a:off x="2185493" y="91252"/>
            <a:ext cx="4404046" cy="644274"/>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200" b="1" dirty="0">
                <a:latin typeface="Calibri" panose="020F0502020204030204" pitchFamily="34" charset="0"/>
                <a:ea typeface="+mj-ea"/>
                <a:cs typeface="Calibri" panose="020F0502020204030204" pitchFamily="34" charset="0"/>
              </a:rPr>
              <a:t>Judicial System</a:t>
            </a:r>
          </a:p>
        </p:txBody>
      </p:sp>
      <p:sp>
        <p:nvSpPr>
          <p:cNvPr id="3" name="Content Placeholder 2">
            <a:extLst>
              <a:ext uri="{FF2B5EF4-FFF2-40B4-BE49-F238E27FC236}">
                <a16:creationId xmlns:a16="http://schemas.microsoft.com/office/drawing/2014/main" id="{23C2A5B1-1E61-3240-A7F5-EF24B7BD5261}"/>
              </a:ext>
            </a:extLst>
          </p:cNvPr>
          <p:cNvSpPr txBox="1">
            <a:spLocks/>
          </p:cNvSpPr>
          <p:nvPr/>
        </p:nvSpPr>
        <p:spPr bwMode="auto">
          <a:xfrm>
            <a:off x="332874" y="576500"/>
            <a:ext cx="8109284" cy="467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marL="0" indent="0" eaLnBrk="1" hangingPunct="1">
              <a:spcAft>
                <a:spcPts val="600"/>
              </a:spcAft>
            </a:pPr>
            <a:r>
              <a:rPr lang="en-US" sz="2200" dirty="0"/>
              <a:t>"The judicial Power of the United States, shall be vested in one supreme Court, and in such inferior Courts as the Congress may from time to time ordain and establish.“</a:t>
            </a:r>
          </a:p>
          <a:p>
            <a:pPr marL="0" indent="0" eaLnBrk="1" hangingPunct="1">
              <a:spcAft>
                <a:spcPts val="600"/>
              </a:spcAft>
            </a:pPr>
            <a:r>
              <a:rPr lang="en-US" altLang="en-US" sz="2000" dirty="0">
                <a:cs typeface="Calibri" panose="020F0502020204030204" pitchFamily="34" charset="0"/>
              </a:rPr>
              <a:t>Qualifications and Term of Office</a:t>
            </a:r>
          </a:p>
          <a:p>
            <a:pPr lvl="1">
              <a:buFont typeface="Arial" panose="020B0604020202020204" pitchFamily="34" charset="0"/>
              <a:buChar char="•"/>
            </a:pPr>
            <a:r>
              <a:rPr lang="en-US" sz="1600" b="0" i="0" dirty="0">
                <a:solidFill>
                  <a:srgbClr val="333333"/>
                </a:solidFill>
                <a:effectLst/>
                <a:cs typeface="Calibri" panose="020F0502020204030204" pitchFamily="34" charset="0"/>
              </a:rPr>
              <a:t>"shall hold their Offices during good </a:t>
            </a:r>
            <a:r>
              <a:rPr lang="en-US" sz="1600" b="0" i="0" dirty="0" err="1">
                <a:solidFill>
                  <a:srgbClr val="333333"/>
                </a:solidFill>
                <a:effectLst/>
                <a:cs typeface="Calibri" panose="020F0502020204030204" pitchFamily="34" charset="0"/>
              </a:rPr>
              <a:t>Behaviour</a:t>
            </a:r>
            <a:r>
              <a:rPr lang="en-US" sz="1600" b="0" i="0" dirty="0">
                <a:solidFill>
                  <a:srgbClr val="333333"/>
                </a:solidFill>
                <a:effectLst/>
                <a:cs typeface="Calibri" panose="020F0502020204030204" pitchFamily="34" charset="0"/>
              </a:rPr>
              <a:t>.“</a:t>
            </a:r>
          </a:p>
          <a:p>
            <a:pPr lvl="2">
              <a:buFont typeface="Arial" panose="020B0604020202020204" pitchFamily="34" charset="0"/>
              <a:buChar char="•"/>
            </a:pPr>
            <a:r>
              <a:rPr lang="en-US" altLang="en-US" sz="1600" dirty="0">
                <a:solidFill>
                  <a:srgbClr val="333333"/>
                </a:solidFill>
                <a:cs typeface="Calibri" panose="020F0502020204030204" pitchFamily="34" charset="0"/>
              </a:rPr>
              <a:t>Hold office as long as they want or impeached</a:t>
            </a:r>
            <a:endParaRPr lang="en-US" altLang="en-US" sz="1600" dirty="0">
              <a:cs typeface="Calibri" panose="020F0502020204030204" pitchFamily="34" charset="0"/>
            </a:endParaRPr>
          </a:p>
          <a:p>
            <a:pPr lvl="1">
              <a:buFont typeface="Arial" panose="020B0604020202020204" pitchFamily="34" charset="0"/>
              <a:buChar char="•"/>
            </a:pPr>
            <a:r>
              <a:rPr lang="en-US" altLang="en-US" sz="1600" dirty="0">
                <a:cs typeface="Calibri" panose="020F0502020204030204" pitchFamily="34" charset="0"/>
              </a:rPr>
              <a:t>Nominated by the President</a:t>
            </a:r>
          </a:p>
          <a:p>
            <a:pPr lvl="1">
              <a:buFont typeface="Arial" panose="020B0604020202020204" pitchFamily="34" charset="0"/>
              <a:buChar char="•"/>
            </a:pPr>
            <a:r>
              <a:rPr lang="en-US" altLang="en-US" sz="1600" dirty="0">
                <a:cs typeface="Calibri" panose="020F0502020204030204" pitchFamily="34" charset="0"/>
              </a:rPr>
              <a:t>Confirmed by the Senate – Majority Vote</a:t>
            </a:r>
          </a:p>
          <a:p>
            <a:pPr lvl="1">
              <a:spcAft>
                <a:spcPts val="600"/>
              </a:spcAft>
              <a:buFont typeface="Arial" panose="020B0604020202020204" pitchFamily="34" charset="0"/>
              <a:buChar char="•"/>
            </a:pPr>
            <a:r>
              <a:rPr lang="en-US" altLang="en-US" sz="1600" dirty="0">
                <a:cs typeface="Calibri" panose="020F0502020204030204" pitchFamily="34" charset="0"/>
              </a:rPr>
              <a:t>Constitution doesn’t set any qualifications, yet justices have either been a lawyer or studied law.</a:t>
            </a:r>
          </a:p>
          <a:p>
            <a:pPr marL="0" indent="0"/>
            <a:r>
              <a:rPr lang="en-US" altLang="en-US" sz="2000" dirty="0">
                <a:solidFill>
                  <a:srgbClr val="333333"/>
                </a:solidFill>
                <a:cs typeface="Calibri" panose="020F0502020204030204" pitchFamily="34" charset="0"/>
              </a:rPr>
              <a:t>Path to the Supreme Court</a:t>
            </a:r>
          </a:p>
          <a:p>
            <a:pPr marL="739775" lvl="1" indent="-277813">
              <a:buFont typeface="Arial" panose="020B0604020202020204" pitchFamily="34" charset="0"/>
              <a:buChar char="•"/>
            </a:pPr>
            <a:r>
              <a:rPr lang="en-US" altLang="en-US" sz="1600" dirty="0">
                <a:solidFill>
                  <a:srgbClr val="333333"/>
                </a:solidFill>
                <a:cs typeface="Calibri" panose="020F0502020204030204" pitchFamily="34" charset="0"/>
              </a:rPr>
              <a:t>Act of 1789</a:t>
            </a:r>
          </a:p>
          <a:p>
            <a:pPr marL="1025525" lvl="1" indent="-277813">
              <a:buFont typeface="Arial" panose="020B0604020202020204" pitchFamily="34" charset="0"/>
              <a:buChar char="•"/>
            </a:pPr>
            <a:r>
              <a:rPr lang="en-US" altLang="en-US" sz="1600" dirty="0">
                <a:solidFill>
                  <a:srgbClr val="333333"/>
                </a:solidFill>
                <a:cs typeface="Calibri" panose="020F0502020204030204" pitchFamily="34" charset="0"/>
              </a:rPr>
              <a:t>District Courts (Trial Courts) </a:t>
            </a:r>
          </a:p>
          <a:p>
            <a:pPr marL="1025525" lvl="1" indent="-277813">
              <a:buFont typeface="Arial" panose="020B0604020202020204" pitchFamily="34" charset="0"/>
              <a:buChar char="•"/>
            </a:pPr>
            <a:r>
              <a:rPr lang="en-US" altLang="en-US" sz="1600" dirty="0">
                <a:solidFill>
                  <a:srgbClr val="333333"/>
                </a:solidFill>
                <a:cs typeface="Calibri" panose="020F0502020204030204" pitchFamily="34" charset="0"/>
              </a:rPr>
              <a:t>Circuit Courts (Court of Appeals) </a:t>
            </a:r>
          </a:p>
          <a:p>
            <a:pPr marL="1025525" lvl="1" indent="-277813">
              <a:buFont typeface="Arial" panose="020B0604020202020204" pitchFamily="34" charset="0"/>
              <a:buChar char="•"/>
            </a:pPr>
            <a:r>
              <a:rPr lang="en-US" altLang="en-US" sz="1600" dirty="0">
                <a:solidFill>
                  <a:srgbClr val="333333"/>
                </a:solidFill>
                <a:cs typeface="Calibri" panose="020F0502020204030204" pitchFamily="34" charset="0"/>
              </a:rPr>
              <a:t>Expanded the Supreme Court Original Jurisdiction</a:t>
            </a:r>
          </a:p>
          <a:p>
            <a:pPr marL="461962" indent="0"/>
            <a:r>
              <a:rPr lang="en-US" altLang="en-US" sz="1800" dirty="0">
                <a:solidFill>
                  <a:srgbClr val="002060"/>
                </a:solidFill>
                <a:cs typeface="Calibri" panose="020F0502020204030204" pitchFamily="34" charset="0"/>
                <a:hlinkClick r:id="rId3">
                  <a:extLst>
                    <a:ext uri="{A12FA001-AC4F-418D-AE19-62706E023703}">
                      <ahyp:hlinkClr xmlns:ahyp="http://schemas.microsoft.com/office/drawing/2018/hyperlinkcolor" val="tx"/>
                    </a:ext>
                  </a:extLst>
                </a:hlinkClick>
              </a:rPr>
              <a:t>https://youtu.be/ZQNLP1_Xmcw</a:t>
            </a:r>
            <a:endParaRPr lang="en-US" altLang="en-US" sz="1800" dirty="0">
              <a:solidFill>
                <a:srgbClr val="002060"/>
              </a:solidFill>
              <a:cs typeface="Calibri" panose="020F0502020204030204" pitchFamily="34" charset="0"/>
            </a:endParaRPr>
          </a:p>
          <a:p>
            <a:pPr marL="0" indent="0"/>
            <a:r>
              <a:rPr lang="en-US" altLang="en-US" sz="2000" dirty="0">
                <a:solidFill>
                  <a:srgbClr val="002060"/>
                </a:solidFill>
                <a:cs typeface="Calibri" panose="020F0502020204030204" pitchFamily="34" charset="0"/>
              </a:rPr>
              <a:t>Supreme Court: Constitutional Overview</a:t>
            </a:r>
          </a:p>
          <a:p>
            <a:pPr marL="739775" lvl="1" indent="-277813">
              <a:buFont typeface="Arial" panose="020B0604020202020204" pitchFamily="34" charset="0"/>
              <a:buChar char="•"/>
            </a:pPr>
            <a:r>
              <a:rPr lang="en-US" altLang="en-US" sz="1600" dirty="0">
                <a:solidFill>
                  <a:srgbClr val="002060"/>
                </a:solidFill>
                <a:cs typeface="Calibri" panose="020F0502020204030204" pitchFamily="34" charset="0"/>
              </a:rPr>
              <a:t>Appellate and Original Jurisdiction (Limited to Disputes between States, Ambassadors, Public Ministers)</a:t>
            </a:r>
            <a:br>
              <a:rPr lang="en-US" altLang="en-US" sz="1600" dirty="0">
                <a:solidFill>
                  <a:srgbClr val="002060"/>
                </a:solidFill>
                <a:cs typeface="Calibri" panose="020F0502020204030204" pitchFamily="34" charset="0"/>
              </a:rPr>
            </a:br>
            <a:r>
              <a:rPr lang="en-US" altLang="en-US" sz="1600" dirty="0">
                <a:solidFill>
                  <a:srgbClr val="002060"/>
                </a:solidFill>
                <a:cs typeface="Calibri" panose="020F0502020204030204" pitchFamily="34" charset="0"/>
                <a:hlinkClick r:id="rId4">
                  <a:extLst>
                    <a:ext uri="{A12FA001-AC4F-418D-AE19-62706E023703}">
                      <ahyp:hlinkClr xmlns:ahyp="http://schemas.microsoft.com/office/drawing/2018/hyperlinkcolor" val="tx"/>
                    </a:ext>
                  </a:extLst>
                </a:hlinkClick>
              </a:rPr>
              <a:t>https://www.youtube.com/watch?v=39d9sdrDyXc</a:t>
            </a:r>
            <a:endParaRPr lang="en-US" altLang="en-US" sz="1600" dirty="0">
              <a:solidFill>
                <a:srgbClr val="002060"/>
              </a:solidFill>
              <a:cs typeface="Calibri" panose="020F0502020204030204" pitchFamily="34" charset="0"/>
            </a:endParaRPr>
          </a:p>
          <a:p>
            <a:pPr marL="739775" lvl="1" indent="-277813">
              <a:buFont typeface="Arial" panose="020B0604020202020204" pitchFamily="34" charset="0"/>
              <a:buChar char="•"/>
            </a:pPr>
            <a:endParaRPr lang="en-US" altLang="en-US" sz="1600" dirty="0">
              <a:solidFill>
                <a:srgbClr val="002060"/>
              </a:solidFill>
              <a:cs typeface="Calibri" panose="020F0502020204030204" pitchFamily="34" charset="0"/>
            </a:endParaRPr>
          </a:p>
          <a:p>
            <a:pPr marL="461962" lvl="1" indent="0"/>
            <a:br>
              <a:rPr lang="en-US" altLang="en-US" sz="1600" dirty="0">
                <a:solidFill>
                  <a:srgbClr val="002060"/>
                </a:solidFill>
                <a:cs typeface="Calibri" panose="020F0502020204030204" pitchFamily="34" charset="0"/>
              </a:rPr>
            </a:br>
            <a:endParaRPr lang="en-US" altLang="en-US" sz="1600" dirty="0">
              <a:solidFill>
                <a:srgbClr val="002060"/>
              </a:solidFill>
              <a:cs typeface="Calibri" panose="020F0502020204030204" pitchFamily="34" charset="0"/>
            </a:endParaRPr>
          </a:p>
          <a:p>
            <a:pPr marL="457200" lvl="1" indent="0">
              <a:spcAft>
                <a:spcPts val="600"/>
              </a:spcAft>
            </a:pPr>
            <a:endParaRPr lang="en-US" altLang="en-US" sz="1600" dirty="0">
              <a:solidFill>
                <a:srgbClr val="002060"/>
              </a:solidFill>
              <a:cs typeface="Calibri" panose="020F0502020204030204" pitchFamily="34" charset="0"/>
            </a:endParaRPr>
          </a:p>
          <a:p>
            <a:pPr marL="457200" lvl="1" indent="0">
              <a:spcAft>
                <a:spcPts val="600"/>
              </a:spcAft>
            </a:pPr>
            <a:endParaRPr lang="en-US" altLang="en-US" sz="1800" dirty="0">
              <a:solidFill>
                <a:srgbClr val="002060"/>
              </a:solidFill>
              <a:cs typeface="Calibri" panose="020F0502020204030204" pitchFamily="34" charset="0"/>
            </a:endParaRPr>
          </a:p>
          <a:p>
            <a:pPr marL="461962" indent="0"/>
            <a:endParaRPr lang="en-US" altLang="en-US" sz="2000" dirty="0">
              <a:cs typeface="Calibri" panose="020F0502020204030204" pitchFamily="34" charset="0"/>
            </a:endParaRPr>
          </a:p>
          <a:p>
            <a:pPr marL="914400" lvl="2" indent="0"/>
            <a:br>
              <a:rPr lang="en-US" altLang="en-US" sz="2500" dirty="0">
                <a:cs typeface="Calibri" panose="020F0502020204030204" pitchFamily="34" charset="0"/>
              </a:rPr>
            </a:br>
            <a:br>
              <a:rPr lang="en-US" altLang="en-US" sz="2500" dirty="0">
                <a:cs typeface="Calibri" panose="020F0502020204030204" pitchFamily="34" charset="0"/>
              </a:rPr>
            </a:br>
            <a:endParaRPr lang="en-US" altLang="en-US" sz="2500" dirty="0">
              <a:cs typeface="Calibri" panose="020F0502020204030204" pitchFamily="34" charset="0"/>
            </a:endParaRPr>
          </a:p>
        </p:txBody>
      </p:sp>
    </p:spTree>
    <p:extLst>
      <p:ext uri="{BB962C8B-B14F-4D97-AF65-F5344CB8AC3E}">
        <p14:creationId xmlns:p14="http://schemas.microsoft.com/office/powerpoint/2010/main" val="2583180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FC2A58-4A70-FD05-1F51-EDB5ED633C56}"/>
              </a:ext>
            </a:extLst>
          </p:cNvPr>
          <p:cNvPicPr>
            <a:picLocks noChangeAspect="1"/>
          </p:cNvPicPr>
          <p:nvPr/>
        </p:nvPicPr>
        <p:blipFill>
          <a:blip r:embed="rId2"/>
          <a:stretch>
            <a:fillRect/>
          </a:stretch>
        </p:blipFill>
        <p:spPr>
          <a:xfrm>
            <a:off x="365760" y="140046"/>
            <a:ext cx="8420431" cy="5984120"/>
          </a:xfrm>
          <a:prstGeom prst="rect">
            <a:avLst/>
          </a:prstGeom>
        </p:spPr>
      </p:pic>
    </p:spTree>
    <p:extLst>
      <p:ext uri="{BB962C8B-B14F-4D97-AF65-F5344CB8AC3E}">
        <p14:creationId xmlns:p14="http://schemas.microsoft.com/office/powerpoint/2010/main" val="3934155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6D47E9-4782-9BB5-6C3B-32A35397FC10}"/>
              </a:ext>
            </a:extLst>
          </p:cNvPr>
          <p:cNvSpPr>
            <a:spLocks noGrp="1"/>
          </p:cNvSpPr>
          <p:nvPr>
            <p:ph type="sldNum" sz="quarter" idx="12"/>
          </p:nvPr>
        </p:nvSpPr>
        <p:spPr/>
        <p:txBody>
          <a:bodyPr/>
          <a:lstStyle/>
          <a:p>
            <a:endParaRPr lang="en-US" dirty="0"/>
          </a:p>
        </p:txBody>
      </p:sp>
      <p:sp>
        <p:nvSpPr>
          <p:cNvPr id="4" name="TextBox 3">
            <a:extLst>
              <a:ext uri="{FF2B5EF4-FFF2-40B4-BE49-F238E27FC236}">
                <a16:creationId xmlns:a16="http://schemas.microsoft.com/office/drawing/2014/main" id="{C8637917-0368-6665-D58A-B7E355297F1A}"/>
              </a:ext>
            </a:extLst>
          </p:cNvPr>
          <p:cNvSpPr txBox="1"/>
          <p:nvPr/>
        </p:nvSpPr>
        <p:spPr>
          <a:xfrm>
            <a:off x="1140691" y="914514"/>
            <a:ext cx="7061200" cy="4093428"/>
          </a:xfrm>
          <a:prstGeom prst="rect">
            <a:avLst/>
          </a:prstGeom>
          <a:noFill/>
        </p:spPr>
        <p:txBody>
          <a:bodyPr wrap="square">
            <a:spAutoFit/>
          </a:bodyPr>
          <a:lstStyle/>
          <a:p>
            <a:pPr marL="0" marR="0" indent="0" algn="l">
              <a:lnSpc>
                <a:spcPct val="100000"/>
              </a:lnSpc>
              <a:buNone/>
            </a:pPr>
            <a:r>
              <a:rPr lang="en-US" sz="2000" b="0" dirty="0">
                <a:solidFill>
                  <a:srgbClr val="000000"/>
                </a:solidFill>
                <a:effectLst/>
                <a:latin typeface="Arial"/>
              </a:rPr>
              <a:t>Section 2 of Article III of the U.S. Constitution details </a:t>
            </a:r>
            <a:r>
              <a:rPr lang="en-US" sz="2000" b="1" dirty="0">
                <a:solidFill>
                  <a:srgbClr val="000000"/>
                </a:solidFill>
                <a:effectLst/>
                <a:latin typeface="Arial"/>
              </a:rPr>
              <a:t>what cases the Supreme Court can hear</a:t>
            </a:r>
            <a:r>
              <a:rPr lang="en-US" sz="2000" b="0" dirty="0">
                <a:solidFill>
                  <a:srgbClr val="000000"/>
                </a:solidFill>
                <a:effectLst/>
                <a:latin typeface="Arial"/>
              </a:rPr>
              <a:t>:</a:t>
            </a:r>
            <a:br>
              <a:rPr lang="en-US" sz="2000" b="0" dirty="0">
                <a:solidFill>
                  <a:srgbClr val="000000"/>
                </a:solidFill>
                <a:effectLst/>
                <a:latin typeface="Arial"/>
              </a:rPr>
            </a:br>
            <a:endParaRPr lang="en-US" sz="2000" b="0" dirty="0">
              <a:solidFill>
                <a:srgbClr val="000000"/>
              </a:solidFill>
              <a:effectLst/>
              <a:latin typeface="Arial"/>
            </a:endParaRPr>
          </a:p>
          <a:p>
            <a:pPr marL="341313" marR="0" lvl="0" indent="-341313" algn="l">
              <a:lnSpc>
                <a:spcPct val="100000"/>
              </a:lnSpc>
              <a:buFont typeface="Arial" panose="020B0604020202020204" pitchFamily="34" charset="0"/>
              <a:buChar char="•"/>
            </a:pPr>
            <a:r>
              <a:rPr lang="en-US" sz="2000" b="0" i="0" dirty="0">
                <a:solidFill>
                  <a:srgbClr val="000000"/>
                </a:solidFill>
                <a:effectLst/>
                <a:latin typeface="Arial"/>
              </a:rPr>
              <a:t>Cases affecting ambassadors, other public ministers, and consuls</a:t>
            </a:r>
            <a:br>
              <a:rPr lang="en-US" sz="2000" b="0" i="0" dirty="0">
                <a:solidFill>
                  <a:srgbClr val="000000"/>
                </a:solidFill>
                <a:effectLst/>
                <a:latin typeface="Arial"/>
              </a:rPr>
            </a:br>
            <a:endParaRPr lang="en-US" sz="2000" b="0" i="0" dirty="0">
              <a:solidFill>
                <a:srgbClr val="000000"/>
              </a:solidFill>
              <a:effectLst/>
              <a:latin typeface="Arial"/>
            </a:endParaRPr>
          </a:p>
          <a:p>
            <a:pPr marL="341313" marR="0" lvl="0" indent="-341313" algn="l">
              <a:lnSpc>
                <a:spcPct val="100000"/>
              </a:lnSpc>
              <a:buFont typeface="Arial" panose="020B0604020202020204" pitchFamily="34" charset="0"/>
              <a:buChar char="•"/>
            </a:pPr>
            <a:r>
              <a:rPr lang="en-US" sz="2000" b="0" i="0" dirty="0">
                <a:solidFill>
                  <a:srgbClr val="000000"/>
                </a:solidFill>
                <a:effectLst/>
                <a:latin typeface="Arial"/>
              </a:rPr>
              <a:t>Admiralty and maritime cases</a:t>
            </a:r>
            <a:br>
              <a:rPr lang="en-US" sz="2000" b="0" i="0" dirty="0">
                <a:solidFill>
                  <a:srgbClr val="000000"/>
                </a:solidFill>
                <a:effectLst/>
                <a:latin typeface="Arial"/>
              </a:rPr>
            </a:br>
            <a:endParaRPr lang="en-US" sz="2000" b="0" i="0" dirty="0">
              <a:solidFill>
                <a:srgbClr val="000000"/>
              </a:solidFill>
              <a:effectLst/>
              <a:latin typeface="Arial"/>
            </a:endParaRPr>
          </a:p>
          <a:p>
            <a:pPr marL="341313" marR="0" lvl="0" indent="-341313" algn="l">
              <a:lnSpc>
                <a:spcPct val="100000"/>
              </a:lnSpc>
              <a:buFont typeface="Arial" panose="020B0604020202020204" pitchFamily="34" charset="0"/>
              <a:buChar char="•"/>
            </a:pPr>
            <a:r>
              <a:rPr lang="en-US" sz="2000" b="0" i="0" dirty="0">
                <a:solidFill>
                  <a:srgbClr val="000000"/>
                </a:solidFill>
                <a:effectLst/>
                <a:latin typeface="Arial"/>
              </a:rPr>
              <a:t>Controversies involving the United States, between states, between a state and citizens of another state, between citizens of different states, between citizens of the same state over land grants from different states, and between a state/citizen and a foreign state/citizen/subject </a:t>
            </a:r>
            <a:endParaRPr lang="en-US" sz="2000" b="0" i="0" dirty="0">
              <a:solidFill>
                <a:srgbClr val="000000"/>
              </a:solidFill>
              <a:effectLst/>
              <a:latin typeface="roboto" panose="020F0502020204030204" pitchFamily="2" charset="0"/>
            </a:endParaRPr>
          </a:p>
        </p:txBody>
      </p:sp>
    </p:spTree>
    <p:extLst>
      <p:ext uri="{BB962C8B-B14F-4D97-AF65-F5344CB8AC3E}">
        <p14:creationId xmlns:p14="http://schemas.microsoft.com/office/powerpoint/2010/main" val="1394954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07A6821-247E-0084-0BEC-3ADA82472D9A}"/>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2DE08C5F-C2C8-25D3-C818-1D2FC4706C6D}"/>
              </a:ext>
            </a:extLst>
          </p:cNvPr>
          <p:cNvSpPr txBox="1">
            <a:spLocks/>
          </p:cNvSpPr>
          <p:nvPr/>
        </p:nvSpPr>
        <p:spPr>
          <a:xfrm>
            <a:off x="627073" y="91252"/>
            <a:ext cx="7705894" cy="958320"/>
          </a:xfrm>
          <a:prstGeom prst="rect">
            <a:avLst/>
          </a:prstGeom>
        </p:spPr>
        <p:txBody>
          <a:bodyPr rtlCol="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200" b="1" dirty="0">
                <a:latin typeface="Calibri" panose="020F0502020204030204" pitchFamily="34" charset="0"/>
                <a:ea typeface="+mj-ea"/>
                <a:cs typeface="Calibri" panose="020F0502020204030204" pitchFamily="34" charset="0"/>
              </a:rPr>
              <a:t>Supreme Court – Power of Judiciary Review</a:t>
            </a:r>
          </a:p>
        </p:txBody>
      </p:sp>
      <p:sp>
        <p:nvSpPr>
          <p:cNvPr id="3" name="Content Placeholder 2">
            <a:extLst>
              <a:ext uri="{FF2B5EF4-FFF2-40B4-BE49-F238E27FC236}">
                <a16:creationId xmlns:a16="http://schemas.microsoft.com/office/drawing/2014/main" id="{CC334871-8EB9-321F-A25F-5745689129C8}"/>
              </a:ext>
            </a:extLst>
          </p:cNvPr>
          <p:cNvSpPr txBox="1">
            <a:spLocks/>
          </p:cNvSpPr>
          <p:nvPr/>
        </p:nvSpPr>
        <p:spPr bwMode="auto">
          <a:xfrm>
            <a:off x="378750" y="570412"/>
            <a:ext cx="8386500" cy="559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marL="461963" lvl="0" indent="-461963" eaLnBrk="0" fontAlgn="base" hangingPunct="0">
              <a:spcBef>
                <a:spcPct val="0"/>
              </a:spcBef>
              <a:spcAft>
                <a:spcPct val="0"/>
              </a:spcAft>
              <a:buClrTx/>
            </a:pPr>
            <a:endParaRPr kumimoji="0" lang="en-US" altLang="en-US" sz="2000" b="0" i="0" u="none" strike="noStrike" cap="none" normalizeH="0" baseline="0" dirty="0">
              <a:ln>
                <a:noFill/>
              </a:ln>
              <a:solidFill>
                <a:srgbClr val="FF0000"/>
              </a:solidFill>
              <a:effectLst/>
              <a:cs typeface="Calibri" panose="020F0502020204030204" pitchFamily="34" charset="0"/>
            </a:endParaRPr>
          </a:p>
          <a:p>
            <a:pPr marL="338138" lvl="1" indent="-276225">
              <a:buFont typeface="Arial" panose="020B0604020202020204" pitchFamily="34" charset="0"/>
              <a:buChar char="•"/>
            </a:pPr>
            <a:r>
              <a:rPr lang="en-US" altLang="en-US" sz="2000" dirty="0">
                <a:cs typeface="Calibri" panose="020F0502020204030204" pitchFamily="34" charset="0"/>
              </a:rPr>
              <a:t>Judiciary Act of 1789</a:t>
            </a:r>
          </a:p>
          <a:p>
            <a:pPr marL="1090613" lvl="3" indent="-352425">
              <a:buFont typeface="Courier New" panose="02070309020205020404" pitchFamily="49" charset="0"/>
              <a:buChar char="o"/>
            </a:pPr>
            <a:r>
              <a:rPr lang="en-US" sz="2000" dirty="0"/>
              <a:t>created new courts, added judges</a:t>
            </a:r>
          </a:p>
          <a:p>
            <a:pPr marL="1090613" lvl="3" indent="-352425">
              <a:buFont typeface="Courier New" panose="02070309020205020404" pitchFamily="49" charset="0"/>
              <a:buChar char="o"/>
            </a:pPr>
            <a:r>
              <a:rPr lang="en-US" sz="2000" dirty="0"/>
              <a:t>gave the president more control over appointment of judges. </a:t>
            </a:r>
          </a:p>
          <a:p>
            <a:pPr marL="1090613" lvl="3" indent="-352425">
              <a:buFont typeface="Courier New" panose="02070309020205020404" pitchFamily="49" charset="0"/>
              <a:buChar char="o"/>
            </a:pPr>
            <a:r>
              <a:rPr lang="en-US" sz="2000" dirty="0"/>
              <a:t>authorized the Supreme Court to issue writs of mandamus in cases brought directly to it</a:t>
            </a:r>
            <a:r>
              <a:rPr lang="en-US" altLang="en-US" sz="2000" dirty="0">
                <a:cs typeface="Calibri" panose="020F0502020204030204" pitchFamily="34" charset="0"/>
              </a:rPr>
              <a:t> </a:t>
            </a:r>
            <a:br>
              <a:rPr lang="en-US" altLang="en-US" sz="2000" dirty="0">
                <a:cs typeface="Calibri" panose="020F0502020204030204" pitchFamily="34" charset="0"/>
              </a:rPr>
            </a:br>
            <a:endParaRPr lang="en-US" altLang="en-US" sz="2000" dirty="0">
              <a:cs typeface="Calibri" panose="020F0502020204030204" pitchFamily="34" charset="0"/>
            </a:endParaRPr>
          </a:p>
          <a:p>
            <a:pPr>
              <a:buFont typeface="Arial" panose="020B0604020202020204" pitchFamily="34" charset="0"/>
              <a:buChar char="•"/>
            </a:pPr>
            <a:r>
              <a:rPr lang="en-US" altLang="en-US" sz="2000" dirty="0">
                <a:cs typeface="Calibri" panose="020F0502020204030204" pitchFamily="34" charset="0"/>
              </a:rPr>
              <a:t>Marbury vs. Madison - 1801</a:t>
            </a:r>
            <a:br>
              <a:rPr lang="en-US" altLang="en-US" sz="2000" dirty="0">
                <a:cs typeface="Calibri" panose="020F0502020204030204" pitchFamily="34" charset="0"/>
              </a:rPr>
            </a:br>
            <a:r>
              <a:rPr lang="en-US" altLang="en-US" sz="2000" dirty="0">
                <a:solidFill>
                  <a:srgbClr val="FF0000"/>
                </a:solidFill>
                <a:cs typeface="Calibri" panose="020F0502020204030204" pitchFamily="34" charset="0"/>
                <a:hlinkClick r:id="rId3">
                  <a:extLst>
                    <a:ext uri="{A12FA001-AC4F-418D-AE19-62706E023703}">
                      <ahyp:hlinkClr xmlns:ahyp="http://schemas.microsoft.com/office/drawing/2018/hyperlinkcolor" val="tx"/>
                    </a:ext>
                  </a:extLst>
                </a:hlinkClick>
              </a:rPr>
              <a:t>https://youtu.be/Gbjv8pLMUVk</a:t>
            </a:r>
            <a:br>
              <a:rPr lang="en-US" altLang="en-US" sz="1800" dirty="0">
                <a:cs typeface="Calibri" panose="020F0502020204030204" pitchFamily="34" charset="0"/>
              </a:rPr>
            </a:br>
            <a:endParaRPr lang="en-US" altLang="en-US" sz="1800" dirty="0">
              <a:cs typeface="Calibri" panose="020F0502020204030204" pitchFamily="34" charset="0"/>
            </a:endParaRPr>
          </a:p>
          <a:p>
            <a:pPr marL="342900" indent="-342900">
              <a:buFont typeface="Arial" panose="020B0604020202020204" pitchFamily="34" charset="0"/>
              <a:buChar char="•"/>
            </a:pPr>
            <a:r>
              <a:rPr lang="en-US" altLang="en-US" sz="2000" dirty="0">
                <a:cs typeface="Calibri" panose="020F0502020204030204" pitchFamily="34" charset="0"/>
              </a:rPr>
              <a:t>Supreme Court  Decision 1803</a:t>
            </a:r>
          </a:p>
          <a:p>
            <a:pPr lvl="1">
              <a:buFont typeface="Arial" panose="020B0604020202020204" pitchFamily="34" charset="0"/>
              <a:buChar char="•"/>
            </a:pPr>
            <a:r>
              <a:rPr lang="en-US" altLang="en-US" sz="1800" dirty="0">
                <a:cs typeface="Calibri" panose="020F0502020204030204" pitchFamily="34" charset="0"/>
              </a:rPr>
              <a:t>Not delivering the Commissions was illegal</a:t>
            </a:r>
            <a:br>
              <a:rPr lang="en-US" altLang="en-US" sz="1800" dirty="0">
                <a:cs typeface="Calibri" panose="020F0502020204030204" pitchFamily="34" charset="0"/>
              </a:rPr>
            </a:br>
            <a:endParaRPr lang="en-US" altLang="en-US" sz="1800" dirty="0">
              <a:cs typeface="Calibri" panose="020F0502020204030204" pitchFamily="34" charset="0"/>
            </a:endParaRPr>
          </a:p>
          <a:p>
            <a:pPr lvl="1">
              <a:buFont typeface="Arial" panose="020B0604020202020204" pitchFamily="34" charset="0"/>
              <a:buChar char="•"/>
            </a:pPr>
            <a:r>
              <a:rPr lang="en-US" altLang="en-US" sz="1800" dirty="0">
                <a:cs typeface="Calibri" panose="020F0502020204030204" pitchFamily="34" charset="0"/>
              </a:rPr>
              <a:t>Yet, the Supreme Court could not force Madison deliver the Commissions. </a:t>
            </a:r>
          </a:p>
          <a:p>
            <a:pPr marL="1255713" lvl="4" indent="-341313">
              <a:buFont typeface="Courier New" panose="02070309020205020404" pitchFamily="49" charset="0"/>
              <a:buChar char="o"/>
            </a:pPr>
            <a:r>
              <a:rPr lang="en-US" altLang="en-US" sz="1800" dirty="0">
                <a:cs typeface="Calibri" panose="020F0502020204030204" pitchFamily="34" charset="0"/>
              </a:rPr>
              <a:t>Marbury asked for a “Writ of Mandamus” for the Supreme Court to </a:t>
            </a:r>
            <a:r>
              <a:rPr lang="en-US" sz="1800" dirty="0"/>
              <a:t>Orders government officials to fulfill their duties. </a:t>
            </a:r>
            <a:br>
              <a:rPr lang="en-US" sz="1800" dirty="0"/>
            </a:br>
            <a:endParaRPr lang="en-US" sz="1800" dirty="0"/>
          </a:p>
          <a:p>
            <a:pPr marL="738188" lvl="2" indent="-276225">
              <a:buFont typeface="Arial" panose="020B0604020202020204" pitchFamily="34" charset="0"/>
              <a:buChar char="•"/>
            </a:pPr>
            <a:r>
              <a:rPr lang="en-US" altLang="en-US" sz="1800" dirty="0">
                <a:cs typeface="Calibri" panose="020F0502020204030204" pitchFamily="34" charset="0"/>
              </a:rPr>
              <a:t>Expansion of Original Jurisdiction in the Act of 1789 was unconstitutional because it was in conflict with the Constitution defined role of the Supreme Court</a:t>
            </a:r>
            <a:endParaRPr lang="en-US" sz="1800" dirty="0"/>
          </a:p>
          <a:p>
            <a:pPr lvl="1">
              <a:buFont typeface="Arial" panose="020B0604020202020204" pitchFamily="34" charset="0"/>
              <a:buChar char="•"/>
            </a:pPr>
            <a:endParaRPr lang="en-US" altLang="en-US" sz="1800" dirty="0">
              <a:cs typeface="Calibri" panose="020F0502020204030204" pitchFamily="34" charset="0"/>
            </a:endParaRPr>
          </a:p>
          <a:p>
            <a:pPr marL="628650" lvl="1" indent="-342900">
              <a:buFont typeface="Arial" panose="020B0604020202020204" pitchFamily="34" charset="0"/>
              <a:buChar char="•"/>
            </a:pPr>
            <a:endParaRPr lang="en-US" altLang="en-US" sz="2000" dirty="0">
              <a:cs typeface="Calibri" panose="020F0502020204030204" pitchFamily="34" charset="0"/>
            </a:endParaRPr>
          </a:p>
          <a:p>
            <a:pPr marL="914400" lvl="2" indent="0"/>
            <a:br>
              <a:rPr lang="en-US" altLang="en-US" sz="2500" dirty="0">
                <a:cs typeface="Calibri" panose="020F0502020204030204" pitchFamily="34" charset="0"/>
              </a:rPr>
            </a:br>
            <a:br>
              <a:rPr lang="en-US" altLang="en-US" sz="2500" dirty="0">
                <a:cs typeface="Calibri" panose="020F0502020204030204" pitchFamily="34" charset="0"/>
              </a:rPr>
            </a:br>
            <a:endParaRPr lang="en-US" altLang="en-US" sz="2500" dirty="0">
              <a:cs typeface="Calibri" panose="020F0502020204030204" pitchFamily="34" charset="0"/>
            </a:endParaRPr>
          </a:p>
        </p:txBody>
      </p:sp>
    </p:spTree>
    <p:extLst>
      <p:ext uri="{BB962C8B-B14F-4D97-AF65-F5344CB8AC3E}">
        <p14:creationId xmlns:p14="http://schemas.microsoft.com/office/powerpoint/2010/main" val="151656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58C15B5-92D4-69D1-625D-154C5E1BDC4E}"/>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555F6893-C622-B707-D244-950D1EB29AE5}"/>
              </a:ext>
            </a:extLst>
          </p:cNvPr>
          <p:cNvSpPr txBox="1">
            <a:spLocks/>
          </p:cNvSpPr>
          <p:nvPr/>
        </p:nvSpPr>
        <p:spPr>
          <a:xfrm>
            <a:off x="1296063" y="250385"/>
            <a:ext cx="5868062" cy="644274"/>
          </a:xfrm>
          <a:prstGeom prst="rect">
            <a:avLst/>
          </a:prstGeom>
        </p:spPr>
        <p:txBody>
          <a:bodyPr rtlCol="0">
            <a:normAutofit fontScale="92500" lnSpcReduction="10000"/>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Chief Justice John Marshall</a:t>
            </a:r>
          </a:p>
        </p:txBody>
      </p:sp>
      <p:sp>
        <p:nvSpPr>
          <p:cNvPr id="8" name="AutoShape 5">
            <a:hlinkClick r:id="rId3"/>
            <a:extLst>
              <a:ext uri="{FF2B5EF4-FFF2-40B4-BE49-F238E27FC236}">
                <a16:creationId xmlns:a16="http://schemas.microsoft.com/office/drawing/2014/main" id="{728D2BB4-E236-B2B0-4015-BE20E8EB806B}"/>
              </a:ext>
            </a:extLst>
          </p:cNvPr>
          <p:cNvSpPr>
            <a:spLocks noChangeAspect="1" noChangeArrowheads="1"/>
          </p:cNvSpPr>
          <p:nvPr/>
        </p:nvSpPr>
        <p:spPr bwMode="auto">
          <a:xfrm>
            <a:off x="5767614" y="13230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a:hlinkClick r:id="rId4"/>
            <a:extLst>
              <a:ext uri="{FF2B5EF4-FFF2-40B4-BE49-F238E27FC236}">
                <a16:creationId xmlns:a16="http://schemas.microsoft.com/office/drawing/2014/main" id="{25D797CB-2D4C-DE29-D2B7-0F7CA012B243}"/>
              </a:ext>
            </a:extLst>
          </p:cNvPr>
          <p:cNvSpPr>
            <a:spLocks noChangeAspect="1" noChangeArrowheads="1"/>
          </p:cNvSpPr>
          <p:nvPr/>
        </p:nvSpPr>
        <p:spPr bwMode="auto">
          <a:xfrm>
            <a:off x="6034314" y="188821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8BCA4533-41F5-7AB4-541F-4DEF2359C18F}"/>
              </a:ext>
            </a:extLst>
          </p:cNvPr>
          <p:cNvSpPr txBox="1"/>
          <p:nvPr/>
        </p:nvSpPr>
        <p:spPr>
          <a:xfrm>
            <a:off x="817459" y="1554095"/>
            <a:ext cx="7291346" cy="2677656"/>
          </a:xfrm>
          <a:prstGeom prst="rect">
            <a:avLst/>
          </a:prstGeom>
          <a:noFill/>
        </p:spPr>
        <p:txBody>
          <a:bodyPr wrap="square">
            <a:spAutoFit/>
          </a:bodyPr>
          <a:lstStyle/>
          <a:p>
            <a:pPr marL="0" indent="0"/>
            <a:endParaRPr lang="en-US" sz="2400" dirty="0"/>
          </a:p>
          <a:p>
            <a:pPr marL="0" indent="0"/>
            <a:r>
              <a:rPr lang="en-US" sz="2400" dirty="0"/>
              <a:t>“If . . . the constitution is superior to any ordinary act of the legislature; the constitution, and not such ordinary act, must govern the case to which they both apply." Further, “a law repugnant to the constitution is void, and . . . courts, as well as other departments, are bound by that instrument."</a:t>
            </a:r>
            <a:endParaRPr lang="en-US" altLang="en-US" sz="2400" dirty="0">
              <a:cs typeface="Calibri" panose="020F0502020204030204" pitchFamily="34" charset="0"/>
            </a:endParaRPr>
          </a:p>
        </p:txBody>
      </p:sp>
    </p:spTree>
    <p:extLst>
      <p:ext uri="{BB962C8B-B14F-4D97-AF65-F5344CB8AC3E}">
        <p14:creationId xmlns:p14="http://schemas.microsoft.com/office/powerpoint/2010/main" val="1936095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BC1FD7D2-BD15-414E-8D77-8DE0A1887C44}"/>
              </a:ext>
            </a:extLst>
          </p:cNvPr>
          <p:cNvSpPr txBox="1">
            <a:spLocks/>
          </p:cNvSpPr>
          <p:nvPr/>
        </p:nvSpPr>
        <p:spPr>
          <a:xfrm>
            <a:off x="334021" y="470051"/>
            <a:ext cx="8248505" cy="758156"/>
          </a:xfrm>
          <a:prstGeom prst="rect">
            <a:avLst/>
          </a:prstGeom>
        </p:spPr>
        <p:txBody>
          <a:bodyPr rtlCol="0">
            <a:normAutofit fontScale="92500"/>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800" b="1" dirty="0">
                <a:latin typeface="Calibri" panose="020F0502020204030204" pitchFamily="34" charset="0"/>
                <a:ea typeface="+mj-ea"/>
                <a:cs typeface="Calibri" panose="020F0502020204030204" pitchFamily="34" charset="0"/>
              </a:rPr>
              <a:t> Current Members of the Supreme Court</a:t>
            </a:r>
          </a:p>
        </p:txBody>
      </p:sp>
      <p:sp>
        <p:nvSpPr>
          <p:cNvPr id="3" name="Content Placeholder 2">
            <a:extLst>
              <a:ext uri="{FF2B5EF4-FFF2-40B4-BE49-F238E27FC236}">
                <a16:creationId xmlns:a16="http://schemas.microsoft.com/office/drawing/2014/main" id="{731C952B-44DB-7E49-84A0-1C036BE70AC8}"/>
              </a:ext>
            </a:extLst>
          </p:cNvPr>
          <p:cNvSpPr txBox="1">
            <a:spLocks/>
          </p:cNvSpPr>
          <p:nvPr/>
        </p:nvSpPr>
        <p:spPr bwMode="auto">
          <a:xfrm>
            <a:off x="334021" y="1423404"/>
            <a:ext cx="8136211" cy="4588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r>
              <a:rPr lang="en-US" sz="2000" dirty="0">
                <a:hlinkClick r:id="rId2">
                  <a:extLst>
                    <a:ext uri="{A12FA001-AC4F-418D-AE19-62706E023703}">
                      <ahyp:hlinkClr xmlns:ahyp="http://schemas.microsoft.com/office/drawing/2018/hyperlinkcolor" val="tx"/>
                    </a:ext>
                  </a:extLst>
                </a:hlinkClick>
              </a:rPr>
              <a:t>Who are the justices on the US Supreme Court? - BBC News</a:t>
            </a:r>
            <a:endParaRPr lang="en-US" sz="2000" dirty="0"/>
          </a:p>
          <a:p>
            <a:endParaRPr lang="en-US" sz="2000" dirty="0"/>
          </a:p>
          <a:p>
            <a:endParaRPr lang="en-US" sz="2000" dirty="0"/>
          </a:p>
          <a:p>
            <a:endParaRPr lang="en-US" sz="2000" dirty="0"/>
          </a:p>
        </p:txBody>
      </p:sp>
      <p:pic>
        <p:nvPicPr>
          <p:cNvPr id="5" name="Picture 4">
            <a:extLst>
              <a:ext uri="{FF2B5EF4-FFF2-40B4-BE49-F238E27FC236}">
                <a16:creationId xmlns:a16="http://schemas.microsoft.com/office/drawing/2014/main" id="{BA5F2B30-63B7-D1BF-A152-0A9A5C1AC386}"/>
              </a:ext>
            </a:extLst>
          </p:cNvPr>
          <p:cNvPicPr>
            <a:picLocks noChangeAspect="1"/>
          </p:cNvPicPr>
          <p:nvPr/>
        </p:nvPicPr>
        <p:blipFill>
          <a:blip r:embed="rId3"/>
          <a:stretch>
            <a:fillRect/>
          </a:stretch>
        </p:blipFill>
        <p:spPr>
          <a:xfrm>
            <a:off x="2002643" y="1903383"/>
            <a:ext cx="3467969" cy="2360223"/>
          </a:xfrm>
          <a:prstGeom prst="rect">
            <a:avLst/>
          </a:prstGeom>
        </p:spPr>
      </p:pic>
      <p:pic>
        <p:nvPicPr>
          <p:cNvPr id="7" name="Picture 6">
            <a:extLst>
              <a:ext uri="{FF2B5EF4-FFF2-40B4-BE49-F238E27FC236}">
                <a16:creationId xmlns:a16="http://schemas.microsoft.com/office/drawing/2014/main" id="{1D7254F9-1A2F-CA85-98D4-EEDEB84B3EC9}"/>
              </a:ext>
            </a:extLst>
          </p:cNvPr>
          <p:cNvPicPr>
            <a:picLocks noChangeAspect="1"/>
          </p:cNvPicPr>
          <p:nvPr/>
        </p:nvPicPr>
        <p:blipFill>
          <a:blip r:embed="rId4"/>
          <a:stretch>
            <a:fillRect/>
          </a:stretch>
        </p:blipFill>
        <p:spPr>
          <a:xfrm>
            <a:off x="1519361" y="4191583"/>
            <a:ext cx="4419600" cy="2486025"/>
          </a:xfrm>
          <a:prstGeom prst="rect">
            <a:avLst/>
          </a:prstGeom>
        </p:spPr>
      </p:pic>
    </p:spTree>
    <p:extLst>
      <p:ext uri="{BB962C8B-B14F-4D97-AF65-F5344CB8AC3E}">
        <p14:creationId xmlns:p14="http://schemas.microsoft.com/office/powerpoint/2010/main" val="2289684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043C1035-9FDE-F844-A7A3-CCA8382D6FC6}"/>
              </a:ext>
            </a:extLst>
          </p:cNvPr>
          <p:cNvSpPr txBox="1">
            <a:spLocks/>
          </p:cNvSpPr>
          <p:nvPr/>
        </p:nvSpPr>
        <p:spPr>
          <a:xfrm>
            <a:off x="649705" y="0"/>
            <a:ext cx="7844589" cy="602685"/>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en-US" sz="3600" b="1" dirty="0">
                <a:latin typeface="Calibri" panose="020F0502020204030204" pitchFamily="34" charset="0"/>
                <a:ea typeface="ＭＳ Ｐゴシック" panose="020B0600070205080204" pitchFamily="34" charset="-128"/>
                <a:cs typeface="Calibri" panose="020F0502020204030204" pitchFamily="34" charset="0"/>
              </a:rPr>
              <a:t>Judicial Interpretation</a:t>
            </a:r>
            <a:endParaRPr lang="en-US" altLang="en-US" sz="3600" dirty="0">
              <a:latin typeface="Calibri" panose="020F0502020204030204" pitchFamily="34" charset="0"/>
              <a:ea typeface="ＭＳ Ｐゴシック" panose="020B0600070205080204" pitchFamily="34" charset="-128"/>
              <a:cs typeface="Calibri" panose="020F0502020204030204" pitchFamily="34" charset="0"/>
            </a:endParaRPr>
          </a:p>
        </p:txBody>
      </p:sp>
      <p:sp>
        <p:nvSpPr>
          <p:cNvPr id="3" name="Content Placeholder 2">
            <a:extLst>
              <a:ext uri="{FF2B5EF4-FFF2-40B4-BE49-F238E27FC236}">
                <a16:creationId xmlns:a16="http://schemas.microsoft.com/office/drawing/2014/main" id="{6324DAA4-1B2B-1546-B474-C300E6B83C1D}"/>
              </a:ext>
            </a:extLst>
          </p:cNvPr>
          <p:cNvSpPr txBox="1">
            <a:spLocks/>
          </p:cNvSpPr>
          <p:nvPr/>
        </p:nvSpPr>
        <p:spPr bwMode="auto">
          <a:xfrm>
            <a:off x="785265" y="708300"/>
            <a:ext cx="6799443" cy="3080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600"/>
              </a:spcAft>
              <a:buFont typeface="Arial" panose="020B0604020202020204" pitchFamily="34" charset="0"/>
              <a:buChar char="•"/>
            </a:pPr>
            <a:r>
              <a:rPr lang="en-US" altLang="en-US" dirty="0">
                <a:cs typeface="Calibri" panose="020F0502020204030204" pitchFamily="34" charset="0"/>
              </a:rPr>
              <a:t>Chief Justice and Associate Justices have distinct differences in how to use the</a:t>
            </a:r>
            <a:r>
              <a:rPr lang="en-US" altLang="en-US" sz="2500" dirty="0">
                <a:cs typeface="Calibri" panose="020F0502020204030204" pitchFamily="34" charset="0"/>
              </a:rPr>
              <a:t> Constitution to make decisions</a:t>
            </a:r>
          </a:p>
          <a:p>
            <a:pPr lvl="1">
              <a:spcAft>
                <a:spcPts val="600"/>
              </a:spcAft>
              <a:buFont typeface="Arial" panose="020B0604020202020204" pitchFamily="34" charset="0"/>
              <a:buChar char="•"/>
            </a:pPr>
            <a:r>
              <a:rPr lang="en-US" altLang="en-US" sz="2000" dirty="0">
                <a:cs typeface="Calibri" panose="020F0502020204030204" pitchFamily="34" charset="0"/>
              </a:rPr>
              <a:t>Originalists vs. Evolutionists</a:t>
            </a:r>
            <a:br>
              <a:rPr lang="en-US" altLang="en-US" sz="2000" dirty="0">
                <a:cs typeface="Calibri" panose="020F0502020204030204" pitchFamily="34" charset="0"/>
              </a:rPr>
            </a:br>
            <a:r>
              <a:rPr lang="en-US" altLang="en-US" sz="1800" dirty="0">
                <a:cs typeface="Calibri" panose="020F0502020204030204" pitchFamily="34" charset="0"/>
              </a:rPr>
              <a:t>“Who made you King?”</a:t>
            </a:r>
            <a:br>
              <a:rPr lang="en-US" altLang="en-US" sz="1800" dirty="0">
                <a:cs typeface="Calibri" panose="020F0502020204030204" pitchFamily="34" charset="0"/>
              </a:rPr>
            </a:br>
            <a:r>
              <a:rPr lang="en-US" altLang="en-US" sz="1800" dirty="0">
                <a:solidFill>
                  <a:srgbClr val="002060"/>
                </a:solidFill>
                <a:cs typeface="Calibri" panose="020F0502020204030204" pitchFamily="34" charset="0"/>
              </a:rPr>
              <a:t>	</a:t>
            </a:r>
            <a:r>
              <a:rPr lang="en-US" sz="1800" dirty="0">
                <a:solidFill>
                  <a:srgbClr val="002060"/>
                </a:solidFill>
                <a:hlinkClick r:id="rId2">
                  <a:extLst>
                    <a:ext uri="{A12FA001-AC4F-418D-AE19-62706E023703}">
                      <ahyp:hlinkClr xmlns:ahyp="http://schemas.microsoft.com/office/drawing/2018/hyperlinkcolor" val="tx"/>
                    </a:ext>
                  </a:extLst>
                </a:hlinkClick>
              </a:rPr>
              <a:t>https://youtu.be/VGKgJdW55nc</a:t>
            </a:r>
            <a:endParaRPr lang="en-US" sz="1800" dirty="0">
              <a:solidFill>
                <a:srgbClr val="002060"/>
              </a:solidFill>
            </a:endParaRPr>
          </a:p>
          <a:p>
            <a:pPr marL="457200" lvl="1" indent="0">
              <a:spcAft>
                <a:spcPts val="600"/>
              </a:spcAft>
            </a:pPr>
            <a:r>
              <a:rPr lang="en-US" sz="1400" dirty="0">
                <a:solidFill>
                  <a:srgbClr val="002060"/>
                </a:solidFill>
              </a:rPr>
              <a:t>	0 to 11:50 mins</a:t>
            </a:r>
          </a:p>
          <a:p>
            <a:pPr lvl="1">
              <a:spcAft>
                <a:spcPts val="600"/>
              </a:spcAft>
              <a:buFont typeface="Arial" panose="020B0604020202020204" pitchFamily="34" charset="0"/>
              <a:buChar char="•"/>
            </a:pPr>
            <a:r>
              <a:rPr lang="en-US" altLang="en-US" sz="2500" dirty="0">
                <a:cs typeface="Calibri" panose="020F0502020204030204" pitchFamily="34" charset="0"/>
              </a:rPr>
              <a:t>Examples of Originalists vs. Evolutionists</a:t>
            </a:r>
          </a:p>
          <a:p>
            <a:pPr marL="1200150" lvl="2" indent="-285750">
              <a:spcAft>
                <a:spcPts val="600"/>
              </a:spcAft>
              <a:buFont typeface="Courier New" panose="02070309020205020404" pitchFamily="49" charset="0"/>
              <a:buChar char="o"/>
            </a:pPr>
            <a:r>
              <a:rPr lang="en-US" sz="1600" dirty="0"/>
              <a:t>West Virginia v Environmental Protection Agency</a:t>
            </a:r>
          </a:p>
          <a:p>
            <a:pPr marL="1200150" lvl="2" indent="0">
              <a:spcAft>
                <a:spcPts val="600"/>
              </a:spcAft>
            </a:pPr>
            <a:r>
              <a:rPr lang="en-US" sz="1600" dirty="0">
                <a:solidFill>
                  <a:srgbClr val="FF0000"/>
                </a:solidFill>
                <a:cs typeface="Calibri" panose="020F0502020204030204" pitchFamily="34" charset="0"/>
                <a:hlinkClick r:id="rId3">
                  <a:extLst>
                    <a:ext uri="{A12FA001-AC4F-418D-AE19-62706E023703}">
                      <ahyp:hlinkClr xmlns:ahyp="http://schemas.microsoft.com/office/drawing/2018/hyperlinkcolor" val="tx"/>
                    </a:ext>
                  </a:extLst>
                </a:hlinkClick>
              </a:rPr>
              <a:t>https://youtu.be/JOUDwm6DOkI</a:t>
            </a:r>
            <a:endParaRPr lang="en-US" sz="1600" dirty="0">
              <a:solidFill>
                <a:srgbClr val="FF0000"/>
              </a:solidFill>
              <a:cs typeface="Calibri" panose="020F0502020204030204" pitchFamily="34" charset="0"/>
            </a:endParaRPr>
          </a:p>
          <a:p>
            <a:pPr marL="1200150" lvl="2" indent="-285750">
              <a:spcAft>
                <a:spcPts val="600"/>
              </a:spcAft>
              <a:buFont typeface="Courier New" panose="02070309020205020404" pitchFamily="49" charset="0"/>
              <a:buChar char="o"/>
            </a:pPr>
            <a:r>
              <a:rPr lang="en-US" sz="1600" dirty="0">
                <a:solidFill>
                  <a:srgbClr val="002060"/>
                </a:solidFill>
                <a:effectLst/>
                <a:latin typeface="inherit"/>
              </a:rPr>
              <a:t>Kennedy v. Bremerton School District</a:t>
            </a:r>
          </a:p>
          <a:p>
            <a:pPr marL="914400" lvl="2" indent="285750">
              <a:spcAft>
                <a:spcPts val="600"/>
              </a:spcAft>
            </a:pPr>
            <a:r>
              <a:rPr lang="en-US" sz="1600" dirty="0">
                <a:solidFill>
                  <a:srgbClr val="FF0000"/>
                </a:solidFill>
                <a:effectLst/>
                <a:latin typeface="inherit"/>
                <a:cs typeface="Calibri" panose="020F0502020204030204" pitchFamily="34" charset="0"/>
                <a:hlinkClick r:id="rId4">
                  <a:extLst>
                    <a:ext uri="{A12FA001-AC4F-418D-AE19-62706E023703}">
                      <ahyp:hlinkClr xmlns:ahyp="http://schemas.microsoft.com/office/drawing/2018/hyperlinkcolor" val="tx"/>
                    </a:ext>
                  </a:extLst>
                </a:hlinkClick>
              </a:rPr>
              <a:t>https://youtu.be/OE2jckwSoJc</a:t>
            </a:r>
            <a:endParaRPr lang="en-US" sz="1600" dirty="0">
              <a:solidFill>
                <a:srgbClr val="FF0000"/>
              </a:solidFill>
              <a:effectLst/>
              <a:latin typeface="inherit"/>
              <a:cs typeface="Calibri" panose="020F0502020204030204" pitchFamily="34" charset="0"/>
            </a:endParaRPr>
          </a:p>
          <a:p>
            <a:pPr marL="1200150" lvl="2" indent="-285750">
              <a:spcAft>
                <a:spcPts val="600"/>
              </a:spcAft>
              <a:buFont typeface="Courier New" panose="02070309020205020404" pitchFamily="49" charset="0"/>
              <a:buChar char="o"/>
            </a:pPr>
            <a:r>
              <a:rPr lang="en-US" sz="1600" dirty="0">
                <a:solidFill>
                  <a:srgbClr val="002060"/>
                </a:solidFill>
              </a:rPr>
              <a:t>Dobbs v Jackson Women's Health Organization</a:t>
            </a:r>
          </a:p>
          <a:p>
            <a:pPr marL="914400" lvl="2" indent="285750">
              <a:spcAft>
                <a:spcPts val="600"/>
              </a:spcAft>
            </a:pPr>
            <a:r>
              <a:rPr lang="en-US" altLang="en-US" sz="1600" dirty="0">
                <a:solidFill>
                  <a:srgbClr val="FF0000"/>
                </a:solidFill>
                <a:cs typeface="Calibri" panose="020F0502020204030204" pitchFamily="34" charset="0"/>
                <a:hlinkClick r:id="rId5">
                  <a:extLst>
                    <a:ext uri="{A12FA001-AC4F-418D-AE19-62706E023703}">
                      <ahyp:hlinkClr xmlns:ahyp="http://schemas.microsoft.com/office/drawing/2018/hyperlinkcolor" val="tx"/>
                    </a:ext>
                  </a:extLst>
                </a:hlinkClick>
              </a:rPr>
              <a:t>https://youtu.be/mQllmb-0Lnk</a:t>
            </a:r>
            <a:endParaRPr lang="en-US" altLang="en-US" sz="1600" dirty="0">
              <a:solidFill>
                <a:srgbClr val="FF0000"/>
              </a:solidFill>
              <a:cs typeface="Calibri" panose="020F0502020204030204" pitchFamily="34" charset="0"/>
            </a:endParaRPr>
          </a:p>
          <a:p>
            <a:pPr marL="914400" lvl="2" indent="0">
              <a:spcAft>
                <a:spcPts val="600"/>
              </a:spcAft>
            </a:pPr>
            <a:r>
              <a:rPr lang="en-US" altLang="en-US" sz="1600" dirty="0">
                <a:solidFill>
                  <a:srgbClr val="FF0000"/>
                </a:solidFill>
                <a:cs typeface="Calibri" panose="020F0502020204030204" pitchFamily="34" charset="0"/>
              </a:rPr>
              <a:t>	</a:t>
            </a:r>
          </a:p>
          <a:p>
            <a:pPr lvl="1">
              <a:spcAft>
                <a:spcPts val="600"/>
              </a:spcAft>
              <a:buFont typeface="Arial" panose="020B0604020202020204" pitchFamily="34" charset="0"/>
              <a:buChar char="•"/>
            </a:pPr>
            <a:r>
              <a:rPr lang="en-US" sz="2500" dirty="0"/>
              <a:t>Trump v. United States</a:t>
            </a:r>
          </a:p>
          <a:p>
            <a:pPr marL="738188" lvl="3" indent="65088">
              <a:spcAft>
                <a:spcPts val="600"/>
              </a:spcAft>
            </a:pPr>
            <a:r>
              <a:rPr lang="en-US" sz="1600" dirty="0"/>
              <a:t>	</a:t>
            </a:r>
            <a:r>
              <a:rPr lang="en-US" sz="1600" dirty="0">
                <a:solidFill>
                  <a:srgbClr val="FF0000"/>
                </a:solidFill>
                <a:hlinkClick r:id="rId6">
                  <a:extLst>
                    <a:ext uri="{A12FA001-AC4F-418D-AE19-62706E023703}">
                      <ahyp:hlinkClr xmlns:ahyp="http://schemas.microsoft.com/office/drawing/2018/hyperlinkcolor" val="tx"/>
                    </a:ext>
                  </a:extLst>
                </a:hlinkClick>
              </a:rPr>
              <a:t>https://youtu.be/84DgYV6HtBo</a:t>
            </a:r>
            <a:endParaRPr lang="en-US" sz="1600" dirty="0">
              <a:solidFill>
                <a:srgbClr val="FF0000"/>
              </a:solidFill>
            </a:endParaRPr>
          </a:p>
          <a:p>
            <a:pPr marL="914400" lvl="2" indent="0">
              <a:spcAft>
                <a:spcPts val="600"/>
              </a:spcAft>
            </a:pPr>
            <a:endParaRPr lang="en-US" altLang="en-US" sz="1600" dirty="0">
              <a:solidFill>
                <a:srgbClr val="FF0000"/>
              </a:solidFill>
              <a:cs typeface="Calibri" panose="020F0502020204030204" pitchFamily="34" charset="0"/>
            </a:endParaRPr>
          </a:p>
        </p:txBody>
      </p:sp>
    </p:spTree>
    <p:extLst>
      <p:ext uri="{BB962C8B-B14F-4D97-AF65-F5344CB8AC3E}">
        <p14:creationId xmlns:p14="http://schemas.microsoft.com/office/powerpoint/2010/main" val="111481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F52747-D4B1-F745-4335-60D5E564B0E7}"/>
              </a:ext>
            </a:extLst>
          </p:cNvPr>
          <p:cNvSpPr>
            <a:spLocks noGrp="1"/>
          </p:cNvSpPr>
          <p:nvPr>
            <p:ph type="sldNum" sz="quarter" idx="12"/>
          </p:nvPr>
        </p:nvSpPr>
        <p:spPr/>
        <p:txBody>
          <a:bodyPr/>
          <a:lstStyle/>
          <a:p>
            <a:fld id="{8B669E2B-989C-4E6F-AC01-17ADF5549382}" type="slidenum">
              <a:rPr lang="en-US" smtClean="0"/>
              <a:t>29</a:t>
            </a:fld>
            <a:endParaRPr lang="en-US"/>
          </a:p>
        </p:txBody>
      </p:sp>
      <p:sp>
        <p:nvSpPr>
          <p:cNvPr id="3" name="TextBox 2">
            <a:extLst>
              <a:ext uri="{FF2B5EF4-FFF2-40B4-BE49-F238E27FC236}">
                <a16:creationId xmlns:a16="http://schemas.microsoft.com/office/drawing/2014/main" id="{7974FFA1-4E58-6AB0-F2FC-9D839974D860}"/>
              </a:ext>
            </a:extLst>
          </p:cNvPr>
          <p:cNvSpPr txBox="1"/>
          <p:nvPr/>
        </p:nvSpPr>
        <p:spPr>
          <a:xfrm>
            <a:off x="1900362" y="2425148"/>
            <a:ext cx="5573864" cy="1938992"/>
          </a:xfrm>
          <a:prstGeom prst="rect">
            <a:avLst/>
          </a:prstGeom>
          <a:noFill/>
        </p:spPr>
        <p:txBody>
          <a:bodyPr wrap="square" rtlCol="0">
            <a:spAutoFit/>
          </a:bodyPr>
          <a:lstStyle/>
          <a:p>
            <a:r>
              <a:rPr lang="en-US" sz="2000" dirty="0"/>
              <a:t>Stare </a:t>
            </a:r>
            <a:r>
              <a:rPr lang="en-US" sz="2000" dirty="0" err="1"/>
              <a:t>Decisiss</a:t>
            </a:r>
            <a:endParaRPr lang="en-US" sz="2000" dirty="0"/>
          </a:p>
          <a:p>
            <a:endParaRPr lang="en-US" sz="2000" dirty="0"/>
          </a:p>
          <a:p>
            <a:r>
              <a:rPr lang="en-US" sz="2000" dirty="0">
                <a:solidFill>
                  <a:schemeClr val="tx1"/>
                </a:solidFill>
              </a:rPr>
              <a:t>the legal principle of determining points in </a:t>
            </a:r>
            <a:r>
              <a:rPr lang="en-US" sz="2000" dirty="0">
                <a:solidFill>
                  <a:schemeClr val="tx1"/>
                </a:solidFill>
                <a:hlinkClick r:id="rId2">
                  <a:extLst>
                    <a:ext uri="{A12FA001-AC4F-418D-AE19-62706E023703}">
                      <ahyp:hlinkClr xmlns:ahyp="http://schemas.microsoft.com/office/drawing/2018/hyperlinkcolor" val="tx"/>
                    </a:ext>
                  </a:extLst>
                </a:hlinkClick>
              </a:rPr>
              <a:t>litigation</a:t>
            </a:r>
            <a:r>
              <a:rPr lang="en-US" sz="2000" dirty="0">
                <a:solidFill>
                  <a:schemeClr val="tx1"/>
                </a:solidFill>
              </a:rPr>
              <a:t> according to </a:t>
            </a:r>
            <a:r>
              <a:rPr lang="en-US" sz="2000" dirty="0">
                <a:solidFill>
                  <a:schemeClr val="tx1"/>
                </a:solidFill>
                <a:hlinkClick r:id="rId3">
                  <a:extLst>
                    <a:ext uri="{A12FA001-AC4F-418D-AE19-62706E023703}">
                      <ahyp:hlinkClr xmlns:ahyp="http://schemas.microsoft.com/office/drawing/2018/hyperlinkcolor" val="tx"/>
                    </a:ext>
                  </a:extLst>
                </a:hlinkClick>
              </a:rPr>
              <a:t>precedent</a:t>
            </a:r>
            <a:endParaRPr lang="en-US" sz="2000" dirty="0">
              <a:solidFill>
                <a:schemeClr val="tx1"/>
              </a:solidFill>
            </a:endParaRPr>
          </a:p>
          <a:p>
            <a:endParaRPr lang="en-US" sz="2000" dirty="0">
              <a:solidFill>
                <a:schemeClr val="tx1"/>
              </a:solidFill>
            </a:endParaRPr>
          </a:p>
          <a:p>
            <a:r>
              <a:rPr lang="en-US" sz="2000" dirty="0"/>
              <a:t>Latin, literally ‘stand by things decided’</a:t>
            </a:r>
            <a:endParaRPr lang="en-US" sz="2000" dirty="0">
              <a:solidFill>
                <a:schemeClr val="tx1"/>
              </a:solidFill>
            </a:endParaRPr>
          </a:p>
        </p:txBody>
      </p:sp>
    </p:spTree>
    <p:extLst>
      <p:ext uri="{BB962C8B-B14F-4D97-AF65-F5344CB8AC3E}">
        <p14:creationId xmlns:p14="http://schemas.microsoft.com/office/powerpoint/2010/main" val="3164327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FDB46A-D4A4-A560-F265-3C87EC39C899}"/>
              </a:ext>
            </a:extLst>
          </p:cNvPr>
          <p:cNvSpPr>
            <a:spLocks noGrp="1"/>
          </p:cNvSpPr>
          <p:nvPr>
            <p:ph type="sldNum" sz="quarter" idx="12"/>
          </p:nvPr>
        </p:nvSpPr>
        <p:spPr/>
        <p:txBody>
          <a:bodyPr/>
          <a:lstStyle/>
          <a:p>
            <a:fld id="{8B669E2B-989C-4E6F-AC01-17ADF5549382}" type="slidenum">
              <a:rPr lang="en-US" smtClean="0"/>
              <a:t>30</a:t>
            </a:fld>
            <a:endParaRPr lang="en-US"/>
          </a:p>
        </p:txBody>
      </p:sp>
      <p:pic>
        <p:nvPicPr>
          <p:cNvPr id="4" name="Picture 3">
            <a:extLst>
              <a:ext uri="{FF2B5EF4-FFF2-40B4-BE49-F238E27FC236}">
                <a16:creationId xmlns:a16="http://schemas.microsoft.com/office/drawing/2014/main" id="{D7D70DD1-1B9F-2141-33B6-F0B61BB8D644}"/>
              </a:ext>
            </a:extLst>
          </p:cNvPr>
          <p:cNvPicPr>
            <a:picLocks noChangeAspect="1"/>
          </p:cNvPicPr>
          <p:nvPr/>
        </p:nvPicPr>
        <p:blipFill>
          <a:blip r:embed="rId2"/>
          <a:stretch>
            <a:fillRect/>
          </a:stretch>
        </p:blipFill>
        <p:spPr>
          <a:xfrm>
            <a:off x="500343" y="1750078"/>
            <a:ext cx="7981950" cy="4505325"/>
          </a:xfrm>
          <a:prstGeom prst="rect">
            <a:avLst/>
          </a:prstGeom>
        </p:spPr>
      </p:pic>
      <p:sp>
        <p:nvSpPr>
          <p:cNvPr id="5" name="Title 5">
            <a:extLst>
              <a:ext uri="{FF2B5EF4-FFF2-40B4-BE49-F238E27FC236}">
                <a16:creationId xmlns:a16="http://schemas.microsoft.com/office/drawing/2014/main" id="{8F5C7927-40B7-45FD-8103-027E4A5567F2}"/>
              </a:ext>
            </a:extLst>
          </p:cNvPr>
          <p:cNvSpPr txBox="1">
            <a:spLocks/>
          </p:cNvSpPr>
          <p:nvPr/>
        </p:nvSpPr>
        <p:spPr>
          <a:xfrm>
            <a:off x="649705" y="0"/>
            <a:ext cx="7844589" cy="602685"/>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en-US" sz="3600" b="1" dirty="0">
                <a:latin typeface="Calibri" panose="020F0502020204030204" pitchFamily="34" charset="0"/>
                <a:ea typeface="ＭＳ Ｐゴシック" panose="020B0600070205080204" pitchFamily="34" charset="-128"/>
                <a:cs typeface="Calibri" panose="020F0502020204030204" pitchFamily="34" charset="0"/>
              </a:rPr>
              <a:t>Historic Supreme Court Cases</a:t>
            </a:r>
            <a:endParaRPr lang="en-US" altLang="en-US" sz="3600" dirty="0">
              <a:latin typeface="Calibri" panose="020F0502020204030204" pitchFamily="34" charset="0"/>
              <a:ea typeface="ＭＳ Ｐゴシック" panose="020B0600070205080204" pitchFamily="34" charset="-128"/>
              <a:cs typeface="Calibri" panose="020F0502020204030204" pitchFamily="34" charset="0"/>
            </a:endParaRPr>
          </a:p>
        </p:txBody>
      </p:sp>
    </p:spTree>
    <p:extLst>
      <p:ext uri="{BB962C8B-B14F-4D97-AF65-F5344CB8AC3E}">
        <p14:creationId xmlns:p14="http://schemas.microsoft.com/office/powerpoint/2010/main" val="286606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5BE6AF-6038-211D-95FD-F33DCC1D09DE}"/>
              </a:ext>
            </a:extLst>
          </p:cNvPr>
          <p:cNvSpPr>
            <a:spLocks noGrp="1"/>
          </p:cNvSpPr>
          <p:nvPr>
            <p:ph type="sldNum" sz="quarter" idx="12"/>
          </p:nvPr>
        </p:nvSpPr>
        <p:spPr/>
        <p:txBody>
          <a:bodyPr/>
          <a:lstStyle/>
          <a:p>
            <a:fld id="{8B669E2B-989C-4E6F-AC01-17ADF5549382}" type="slidenum">
              <a:rPr lang="en-US" smtClean="0"/>
              <a:t>31</a:t>
            </a:fld>
            <a:endParaRPr lang="en-US"/>
          </a:p>
        </p:txBody>
      </p:sp>
      <p:pic>
        <p:nvPicPr>
          <p:cNvPr id="4" name="Picture 3">
            <a:extLst>
              <a:ext uri="{FF2B5EF4-FFF2-40B4-BE49-F238E27FC236}">
                <a16:creationId xmlns:a16="http://schemas.microsoft.com/office/drawing/2014/main" id="{E0E94498-F86D-D045-4486-C38CEA9AAADD}"/>
              </a:ext>
            </a:extLst>
          </p:cNvPr>
          <p:cNvPicPr>
            <a:picLocks noChangeAspect="1"/>
          </p:cNvPicPr>
          <p:nvPr/>
        </p:nvPicPr>
        <p:blipFill>
          <a:blip r:embed="rId2"/>
          <a:stretch>
            <a:fillRect/>
          </a:stretch>
        </p:blipFill>
        <p:spPr>
          <a:xfrm>
            <a:off x="542925" y="152400"/>
            <a:ext cx="8058150" cy="6553200"/>
          </a:xfrm>
          <a:prstGeom prst="rect">
            <a:avLst/>
          </a:prstGeom>
        </p:spPr>
      </p:pic>
    </p:spTree>
    <p:extLst>
      <p:ext uri="{BB962C8B-B14F-4D97-AF65-F5344CB8AC3E}">
        <p14:creationId xmlns:p14="http://schemas.microsoft.com/office/powerpoint/2010/main" val="3788450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2407E0-306B-B303-9AED-92287E861293}"/>
              </a:ext>
            </a:extLst>
          </p:cNvPr>
          <p:cNvPicPr>
            <a:picLocks noChangeAspect="1"/>
          </p:cNvPicPr>
          <p:nvPr/>
        </p:nvPicPr>
        <p:blipFill>
          <a:blip r:embed="rId2"/>
          <a:stretch>
            <a:fillRect/>
          </a:stretch>
        </p:blipFill>
        <p:spPr>
          <a:xfrm>
            <a:off x="917110" y="0"/>
            <a:ext cx="7309779" cy="6858000"/>
          </a:xfrm>
          <a:prstGeom prst="rect">
            <a:avLst/>
          </a:prstGeom>
        </p:spPr>
      </p:pic>
    </p:spTree>
    <p:extLst>
      <p:ext uri="{BB962C8B-B14F-4D97-AF65-F5344CB8AC3E}">
        <p14:creationId xmlns:p14="http://schemas.microsoft.com/office/powerpoint/2010/main" val="3684243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39C86-ADD2-D6D5-1404-675C92787975}"/>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18B7617-C743-E1DA-4C76-99C9A5E486EC}"/>
              </a:ext>
            </a:extLst>
          </p:cNvPr>
          <p:cNvSpPr txBox="1">
            <a:spLocks/>
          </p:cNvSpPr>
          <p:nvPr/>
        </p:nvSpPr>
        <p:spPr bwMode="auto">
          <a:xfrm>
            <a:off x="466494" y="1147084"/>
            <a:ext cx="6799443" cy="3355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Calibri" panose="020F0502020204030204" pitchFamily="34" charset="0"/>
                <a:ea typeface="ＭＳ Ｐゴシック" panose="020B0600070205080204" pitchFamily="34" charset="-128"/>
              </a:defRPr>
            </a:lvl1pPr>
            <a:lvl2pPr marL="742950" indent="-285750">
              <a:defRPr sz="2400">
                <a:solidFill>
                  <a:schemeClr val="tx1"/>
                </a:solidFill>
                <a:latin typeface="Calibri" panose="020F0502020204030204" pitchFamily="34" charset="0"/>
                <a:ea typeface="ＭＳ Ｐゴシック" panose="020B0600070205080204" pitchFamily="34" charset="-128"/>
              </a:defRPr>
            </a:lvl2pPr>
            <a:lvl3pPr marL="1143000" indent="-228600">
              <a:defRPr sz="2400">
                <a:solidFill>
                  <a:schemeClr val="tx1"/>
                </a:solidFill>
                <a:latin typeface="Calibri" panose="020F0502020204030204" pitchFamily="34" charset="0"/>
                <a:ea typeface="ＭＳ Ｐゴシック" panose="020B0600070205080204" pitchFamily="34" charset="-128"/>
              </a:defRPr>
            </a:lvl3pPr>
            <a:lvl4pPr marL="1600200" indent="-228600">
              <a:defRPr sz="2400">
                <a:solidFill>
                  <a:schemeClr val="tx1"/>
                </a:solidFill>
                <a:latin typeface="Calibri" panose="020F0502020204030204" pitchFamily="34" charset="0"/>
                <a:ea typeface="ＭＳ Ｐゴシック" panose="020B0600070205080204" pitchFamily="34" charset="-128"/>
              </a:defRPr>
            </a:lvl4pPr>
            <a:lvl5pPr marL="2057400" indent="-22860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lvl="1">
              <a:spcAft>
                <a:spcPts val="600"/>
              </a:spcAft>
              <a:buFont typeface="Arial" panose="020B0604020202020204" pitchFamily="34" charset="0"/>
              <a:buChar char="•"/>
            </a:pPr>
            <a:r>
              <a:rPr lang="en-US" sz="1800" dirty="0">
                <a:solidFill>
                  <a:srgbClr val="002060"/>
                </a:solidFill>
                <a:cs typeface="Calibri" panose="020F0502020204030204" pitchFamily="34" charset="0"/>
              </a:rPr>
              <a:t>Emergency Docket “Shadow Docket”</a:t>
            </a:r>
            <a:br>
              <a:rPr lang="en-US" sz="1800" dirty="0">
                <a:solidFill>
                  <a:srgbClr val="002060"/>
                </a:solidFill>
                <a:cs typeface="Calibri" panose="020F0502020204030204" pitchFamily="34" charset="0"/>
              </a:rPr>
            </a:br>
            <a:r>
              <a:rPr lang="en-US" sz="1600" dirty="0">
                <a:solidFill>
                  <a:srgbClr val="FF0000"/>
                </a:solidFill>
                <a:cs typeface="Calibri" panose="020F0502020204030204" pitchFamily="34" charset="0"/>
                <a:hlinkClick r:id="rId2">
                  <a:extLst>
                    <a:ext uri="{A12FA001-AC4F-418D-AE19-62706E023703}">
                      <ahyp:hlinkClr xmlns:ahyp="http://schemas.microsoft.com/office/drawing/2018/hyperlinkcolor" val="tx"/>
                    </a:ext>
                  </a:extLst>
                </a:hlinkClick>
              </a:rPr>
              <a:t>https://www.c-span.org/clip/america-250/justice-barrett-on-the-shadow-docket/5175410</a:t>
            </a:r>
            <a:endParaRPr lang="en-US" sz="1600" dirty="0">
              <a:solidFill>
                <a:srgbClr val="FF0000"/>
              </a:solidFill>
              <a:cs typeface="Calibri" panose="020F0502020204030204" pitchFamily="34" charset="0"/>
            </a:endParaRPr>
          </a:p>
          <a:p>
            <a:pPr marL="457200" lvl="1" indent="0">
              <a:spcAft>
                <a:spcPts val="600"/>
              </a:spcAft>
            </a:pPr>
            <a:endParaRPr lang="en-US" altLang="en-US" sz="1600" dirty="0">
              <a:cs typeface="Calibri" panose="020F0502020204030204" pitchFamily="34" charset="0"/>
            </a:endParaRPr>
          </a:p>
          <a:p>
            <a:pPr lvl="1">
              <a:spcAft>
                <a:spcPts val="600"/>
              </a:spcAft>
              <a:buFont typeface="Arial" panose="020B0604020202020204" pitchFamily="34" charset="0"/>
              <a:buChar char="•"/>
            </a:pPr>
            <a:endParaRPr lang="en-US" altLang="en-US" sz="2500" dirty="0">
              <a:cs typeface="Calibri" panose="020F0502020204030204" pitchFamily="34" charset="0"/>
            </a:endParaRPr>
          </a:p>
          <a:p>
            <a:pPr lvl="1">
              <a:spcAft>
                <a:spcPts val="600"/>
              </a:spcAft>
              <a:buFont typeface="Arial" panose="020B0604020202020204" pitchFamily="34" charset="0"/>
              <a:buChar char="•"/>
            </a:pPr>
            <a:endParaRPr lang="en-US" altLang="en-US" sz="1600" dirty="0">
              <a:cs typeface="Calibri" panose="020F0502020204030204" pitchFamily="34" charset="0"/>
            </a:endParaRPr>
          </a:p>
        </p:txBody>
      </p:sp>
      <p:sp>
        <p:nvSpPr>
          <p:cNvPr id="5" name="Title 5">
            <a:extLst>
              <a:ext uri="{FF2B5EF4-FFF2-40B4-BE49-F238E27FC236}">
                <a16:creationId xmlns:a16="http://schemas.microsoft.com/office/drawing/2014/main" id="{D896B812-8F59-385A-D0D0-E421E74BD6C2}"/>
              </a:ext>
            </a:extLst>
          </p:cNvPr>
          <p:cNvSpPr txBox="1">
            <a:spLocks/>
          </p:cNvSpPr>
          <p:nvPr/>
        </p:nvSpPr>
        <p:spPr>
          <a:xfrm>
            <a:off x="432729" y="146588"/>
            <a:ext cx="7844589" cy="602685"/>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en-US" sz="3600" b="1" dirty="0">
                <a:latin typeface="Calibri" panose="020F0502020204030204" pitchFamily="34" charset="0"/>
                <a:ea typeface="ＭＳ Ｐゴシック" panose="020B0600070205080204" pitchFamily="34" charset="-128"/>
                <a:cs typeface="Calibri" panose="020F0502020204030204" pitchFamily="34" charset="0"/>
              </a:rPr>
              <a:t>Supreme Court 2025-26: Key Cases</a:t>
            </a:r>
            <a:br>
              <a:rPr lang="en-US" altLang="en-US" sz="3600" b="1" dirty="0">
                <a:latin typeface="Calibri" panose="020F0502020204030204" pitchFamily="34" charset="0"/>
                <a:ea typeface="ＭＳ Ｐゴシック" panose="020B0600070205080204" pitchFamily="34" charset="-128"/>
                <a:cs typeface="Calibri" panose="020F0502020204030204" pitchFamily="34" charset="0"/>
              </a:rPr>
            </a:br>
            <a:r>
              <a:rPr lang="en-US" altLang="en-US" sz="2000" b="1" dirty="0">
                <a:latin typeface="Calibri" panose="020F0502020204030204" pitchFamily="34" charset="0"/>
                <a:ea typeface="ＭＳ Ｐゴシック" panose="020B0600070205080204" pitchFamily="34" charset="-128"/>
                <a:cs typeface="Calibri" panose="020F0502020204030204" pitchFamily="34" charset="0"/>
              </a:rPr>
              <a:t>Began Oct. 6</a:t>
            </a:r>
            <a:r>
              <a:rPr lang="en-US" altLang="en-US" sz="2000" b="1" baseline="30000" dirty="0">
                <a:latin typeface="Calibri" panose="020F0502020204030204" pitchFamily="34" charset="0"/>
                <a:ea typeface="ＭＳ Ｐゴシック" panose="020B0600070205080204" pitchFamily="34" charset="-128"/>
                <a:cs typeface="Calibri" panose="020F0502020204030204" pitchFamily="34" charset="0"/>
              </a:rPr>
              <a:t>th</a:t>
            </a:r>
            <a:r>
              <a:rPr lang="en-US" altLang="en-US" sz="2000" b="1" dirty="0">
                <a:latin typeface="Calibri" panose="020F0502020204030204" pitchFamily="34" charset="0"/>
                <a:ea typeface="ＭＳ Ｐゴシック" panose="020B0600070205080204" pitchFamily="34" charset="-128"/>
                <a:cs typeface="Calibri" panose="020F0502020204030204" pitchFamily="34" charset="0"/>
              </a:rPr>
              <a:t>, 2025</a:t>
            </a:r>
          </a:p>
          <a:p>
            <a:pPr algn="ctr"/>
            <a:endParaRPr lang="en-US" altLang="en-US" sz="3600" b="1" dirty="0">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8" name="Picture 7">
            <a:extLst>
              <a:ext uri="{FF2B5EF4-FFF2-40B4-BE49-F238E27FC236}">
                <a16:creationId xmlns:a16="http://schemas.microsoft.com/office/drawing/2014/main" id="{639913D0-7570-3A52-966B-6F2847C89D92}"/>
              </a:ext>
            </a:extLst>
          </p:cNvPr>
          <p:cNvPicPr>
            <a:picLocks noChangeAspect="1"/>
          </p:cNvPicPr>
          <p:nvPr/>
        </p:nvPicPr>
        <p:blipFill>
          <a:blip r:embed="rId3"/>
          <a:stretch>
            <a:fillRect/>
          </a:stretch>
        </p:blipFill>
        <p:spPr>
          <a:xfrm>
            <a:off x="820186" y="2332409"/>
            <a:ext cx="6092058" cy="4070182"/>
          </a:xfrm>
          <a:prstGeom prst="rect">
            <a:avLst/>
          </a:prstGeom>
        </p:spPr>
      </p:pic>
      <p:sp>
        <p:nvSpPr>
          <p:cNvPr id="6" name="Rectangle 5">
            <a:extLst>
              <a:ext uri="{FF2B5EF4-FFF2-40B4-BE49-F238E27FC236}">
                <a16:creationId xmlns:a16="http://schemas.microsoft.com/office/drawing/2014/main" id="{07C5E876-680B-F00F-AF0E-F2925DB50354}"/>
              </a:ext>
            </a:extLst>
          </p:cNvPr>
          <p:cNvSpPr/>
          <p:nvPr/>
        </p:nvSpPr>
        <p:spPr>
          <a:xfrm>
            <a:off x="1030755" y="3374356"/>
            <a:ext cx="5852160" cy="7792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D489BE3-775A-4C98-1C07-679450820D1F}"/>
              </a:ext>
            </a:extLst>
          </p:cNvPr>
          <p:cNvSpPr txBox="1"/>
          <p:nvPr/>
        </p:nvSpPr>
        <p:spPr>
          <a:xfrm>
            <a:off x="1178701" y="3522263"/>
            <a:ext cx="4572000" cy="830997"/>
          </a:xfrm>
          <a:prstGeom prst="rect">
            <a:avLst/>
          </a:prstGeom>
          <a:noFill/>
        </p:spPr>
        <p:txBody>
          <a:bodyPr wrap="square">
            <a:spAutoFit/>
          </a:bodyPr>
          <a:lstStyle/>
          <a:p>
            <a:r>
              <a:rPr lang="en-US" sz="1600" dirty="0">
                <a:solidFill>
                  <a:schemeClr val="tx1"/>
                </a:solidFill>
                <a:hlinkClick r:id="rId4">
                  <a:extLst>
                    <a:ext uri="{A12FA001-AC4F-418D-AE19-62706E023703}">
                      <ahyp:hlinkClr xmlns:ahyp="http://schemas.microsoft.com/office/drawing/2018/hyperlinkcolor" val="tx"/>
                    </a:ext>
                  </a:extLst>
                </a:hlinkClick>
              </a:rPr>
              <a:t>Decision</a:t>
            </a:r>
          </a:p>
          <a:p>
            <a:endParaRPr lang="en-US" sz="1600" dirty="0">
              <a:solidFill>
                <a:srgbClr val="FF0000"/>
              </a:solidFill>
              <a:hlinkClick r:id="rId4">
                <a:extLst>
                  <a:ext uri="{A12FA001-AC4F-418D-AE19-62706E023703}">
                    <ahyp:hlinkClr xmlns:ahyp="http://schemas.microsoft.com/office/drawing/2018/hyperlinkcolor" val="tx"/>
                  </a:ext>
                </a:extLst>
              </a:hlinkClick>
            </a:endParaRPr>
          </a:p>
          <a:p>
            <a:r>
              <a:rPr lang="en-US" sz="1600" dirty="0">
                <a:solidFill>
                  <a:srgbClr val="FF0000"/>
                </a:solidFill>
                <a:hlinkClick r:id="rId4">
                  <a:extLst>
                    <a:ext uri="{A12FA001-AC4F-418D-AE19-62706E023703}">
                      <ahyp:hlinkClr xmlns:ahyp="http://schemas.microsoft.com/office/drawing/2018/hyperlinkcolor" val="tx"/>
                    </a:ext>
                  </a:extLst>
                </a:hlinkClick>
              </a:rPr>
              <a:t>https://www.youtube.com/watch?v=lAJgRuZIexI</a:t>
            </a:r>
            <a:endParaRPr lang="en-US" sz="1600" dirty="0">
              <a:solidFill>
                <a:srgbClr val="FF0000"/>
              </a:solidFill>
            </a:endParaRPr>
          </a:p>
        </p:txBody>
      </p:sp>
      <p:sp>
        <p:nvSpPr>
          <p:cNvPr id="7" name="Rectangle 6">
            <a:extLst>
              <a:ext uri="{FF2B5EF4-FFF2-40B4-BE49-F238E27FC236}">
                <a16:creationId xmlns:a16="http://schemas.microsoft.com/office/drawing/2014/main" id="{131547CB-2DE7-A18A-70AB-CF3ADEAAEAA1}"/>
              </a:ext>
            </a:extLst>
          </p:cNvPr>
          <p:cNvSpPr/>
          <p:nvPr/>
        </p:nvSpPr>
        <p:spPr>
          <a:xfrm>
            <a:off x="1010178" y="4367500"/>
            <a:ext cx="6432605" cy="14709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8A04A35-AB79-5C8F-49A8-738552458F9F}"/>
              </a:ext>
            </a:extLst>
          </p:cNvPr>
          <p:cNvSpPr txBox="1"/>
          <p:nvPr/>
        </p:nvSpPr>
        <p:spPr>
          <a:xfrm>
            <a:off x="1178701" y="6402591"/>
            <a:ext cx="4572000" cy="276999"/>
          </a:xfrm>
          <a:prstGeom prst="rect">
            <a:avLst/>
          </a:prstGeom>
          <a:noFill/>
        </p:spPr>
        <p:txBody>
          <a:bodyPr wrap="square">
            <a:spAutoFit/>
          </a:bodyPr>
          <a:lstStyle/>
          <a:p>
            <a:r>
              <a:rPr lang="en-US" sz="1200" dirty="0">
                <a:solidFill>
                  <a:srgbClr val="FF0000"/>
                </a:solidFill>
                <a:hlinkClick r:id="rId5">
                  <a:extLst>
                    <a:ext uri="{A12FA001-AC4F-418D-AE19-62706E023703}">
                      <ahyp:hlinkClr xmlns:ahyp="http://schemas.microsoft.com/office/drawing/2018/hyperlinkcolor" val="tx"/>
                    </a:ext>
                  </a:extLst>
                </a:hlinkClick>
              </a:rPr>
              <a:t>https://youtu.be/StorpCnJjck</a:t>
            </a:r>
            <a:endParaRPr lang="en-US" sz="1200" dirty="0">
              <a:solidFill>
                <a:srgbClr val="FF0000"/>
              </a:solidFill>
            </a:endParaRPr>
          </a:p>
        </p:txBody>
      </p:sp>
      <p:sp>
        <p:nvSpPr>
          <p:cNvPr id="2" name="Rectangle 1">
            <a:extLst>
              <a:ext uri="{FF2B5EF4-FFF2-40B4-BE49-F238E27FC236}">
                <a16:creationId xmlns:a16="http://schemas.microsoft.com/office/drawing/2014/main" id="{D4F20C41-2CE5-D594-19BB-685F5C068398}"/>
              </a:ext>
            </a:extLst>
          </p:cNvPr>
          <p:cNvSpPr/>
          <p:nvPr/>
        </p:nvSpPr>
        <p:spPr>
          <a:xfrm>
            <a:off x="1001426" y="5422790"/>
            <a:ext cx="5910818" cy="12886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5117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34B62-B7A9-937D-4F82-5258833DCEC1}"/>
            </a:ext>
          </a:extLst>
        </p:cNvPr>
        <p:cNvGrpSpPr/>
        <p:nvPr/>
      </p:nvGrpSpPr>
      <p:grpSpPr>
        <a:xfrm>
          <a:off x="0" y="0"/>
          <a:ext cx="0" cy="0"/>
          <a:chOff x="0" y="0"/>
          <a:chExt cx="0" cy="0"/>
        </a:xfrm>
      </p:grpSpPr>
      <p:sp>
        <p:nvSpPr>
          <p:cNvPr id="5" name="Title 5">
            <a:extLst>
              <a:ext uri="{FF2B5EF4-FFF2-40B4-BE49-F238E27FC236}">
                <a16:creationId xmlns:a16="http://schemas.microsoft.com/office/drawing/2014/main" id="{61A60F9C-128F-F87D-9C19-43893CBE8261}"/>
              </a:ext>
            </a:extLst>
          </p:cNvPr>
          <p:cNvSpPr txBox="1">
            <a:spLocks/>
          </p:cNvSpPr>
          <p:nvPr/>
        </p:nvSpPr>
        <p:spPr>
          <a:xfrm>
            <a:off x="392973" y="30577"/>
            <a:ext cx="7844589" cy="602685"/>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en-US" sz="3600" b="1" dirty="0">
                <a:latin typeface="Calibri" panose="020F0502020204030204" pitchFamily="34" charset="0"/>
                <a:ea typeface="ＭＳ Ｐゴシック" panose="020B0600070205080204" pitchFamily="34" charset="-128"/>
                <a:cs typeface="Calibri" panose="020F0502020204030204" pitchFamily="34" charset="0"/>
              </a:rPr>
              <a:t>Supreme Court 2026: Key Decisions</a:t>
            </a:r>
            <a:br>
              <a:rPr lang="en-US" altLang="en-US" sz="3600" b="1" dirty="0">
                <a:latin typeface="Calibri" panose="020F0502020204030204" pitchFamily="34" charset="0"/>
                <a:ea typeface="ＭＳ Ｐゴシック" panose="020B0600070205080204" pitchFamily="34" charset="-128"/>
                <a:cs typeface="Calibri" panose="020F0502020204030204" pitchFamily="34" charset="0"/>
              </a:rPr>
            </a:br>
            <a:endParaRPr lang="en-US" altLang="en-US" sz="2000" b="1" dirty="0">
              <a:latin typeface="Calibri" panose="020F0502020204030204" pitchFamily="34" charset="0"/>
              <a:ea typeface="ＭＳ Ｐゴシック" panose="020B0600070205080204" pitchFamily="34" charset="-128"/>
              <a:cs typeface="Calibri" panose="020F0502020204030204" pitchFamily="34" charset="0"/>
            </a:endParaRPr>
          </a:p>
          <a:p>
            <a:pPr algn="ctr"/>
            <a:endParaRPr lang="en-US" altLang="en-US" sz="3600" b="1" dirty="0">
              <a:solidFill>
                <a:srgbClr val="FF0000"/>
              </a:solidFill>
              <a:latin typeface="Calibri" panose="020F0502020204030204" pitchFamily="34" charset="0"/>
              <a:ea typeface="ＭＳ Ｐゴシック" panose="020B0600070205080204" pitchFamily="34" charset="-128"/>
              <a:cs typeface="Calibri" panose="020F0502020204030204" pitchFamily="34" charset="0"/>
            </a:endParaRPr>
          </a:p>
        </p:txBody>
      </p:sp>
      <p:sp>
        <p:nvSpPr>
          <p:cNvPr id="6" name="Rectangle 5">
            <a:extLst>
              <a:ext uri="{FF2B5EF4-FFF2-40B4-BE49-F238E27FC236}">
                <a16:creationId xmlns:a16="http://schemas.microsoft.com/office/drawing/2014/main" id="{954AECE8-D0C6-6B4C-F821-D82C2B82F243}"/>
              </a:ext>
            </a:extLst>
          </p:cNvPr>
          <p:cNvSpPr/>
          <p:nvPr/>
        </p:nvSpPr>
        <p:spPr>
          <a:xfrm>
            <a:off x="946205" y="3291839"/>
            <a:ext cx="5852160" cy="7792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D75423-1C79-53CA-12DC-515CD8B399E9}"/>
              </a:ext>
            </a:extLst>
          </p:cNvPr>
          <p:cNvSpPr txBox="1"/>
          <p:nvPr/>
        </p:nvSpPr>
        <p:spPr>
          <a:xfrm>
            <a:off x="706351" y="5973879"/>
            <a:ext cx="4572000" cy="307777"/>
          </a:xfrm>
          <a:prstGeom prst="rect">
            <a:avLst/>
          </a:prstGeom>
          <a:noFill/>
        </p:spPr>
        <p:txBody>
          <a:bodyPr wrap="square">
            <a:spAutoFit/>
          </a:bodyPr>
          <a:lstStyle/>
          <a:p>
            <a:pPr marL="457200" lvl="1" indent="0">
              <a:spcAft>
                <a:spcPts val="600"/>
              </a:spcAft>
            </a:pPr>
            <a:r>
              <a:rPr lang="en-US" dirty="0">
                <a:solidFill>
                  <a:srgbClr val="FF0000"/>
                </a:solidFill>
                <a:hlinkClick r:id="rId2">
                  <a:extLst>
                    <a:ext uri="{A12FA001-AC4F-418D-AE19-62706E023703}">
                      <ahyp:hlinkClr xmlns:ahyp="http://schemas.microsoft.com/office/drawing/2018/hyperlinkcolor" val="tx"/>
                    </a:ext>
                  </a:extLst>
                </a:hlinkClick>
              </a:rPr>
              <a:t>Bing Videos</a:t>
            </a:r>
            <a:endParaRPr lang="en-US" altLang="en-US" dirty="0">
              <a:solidFill>
                <a:srgbClr val="FF0000"/>
              </a:solidFill>
              <a:cs typeface="Calibri" panose="020F0502020204030204" pitchFamily="34" charset="0"/>
            </a:endParaRPr>
          </a:p>
        </p:txBody>
      </p:sp>
      <p:sp>
        <p:nvSpPr>
          <p:cNvPr id="14" name="TextBox 13">
            <a:extLst>
              <a:ext uri="{FF2B5EF4-FFF2-40B4-BE49-F238E27FC236}">
                <a16:creationId xmlns:a16="http://schemas.microsoft.com/office/drawing/2014/main" id="{999D4081-8EC4-37C0-E9AA-7C70BDFA77EF}"/>
              </a:ext>
            </a:extLst>
          </p:cNvPr>
          <p:cNvSpPr txBox="1"/>
          <p:nvPr/>
        </p:nvSpPr>
        <p:spPr>
          <a:xfrm>
            <a:off x="1178701" y="6402591"/>
            <a:ext cx="4572000" cy="276999"/>
          </a:xfrm>
          <a:prstGeom prst="rect">
            <a:avLst/>
          </a:prstGeom>
          <a:noFill/>
        </p:spPr>
        <p:txBody>
          <a:bodyPr wrap="square">
            <a:spAutoFit/>
          </a:bodyPr>
          <a:lstStyle/>
          <a:p>
            <a:r>
              <a:rPr lang="en-US" sz="1200" dirty="0">
                <a:solidFill>
                  <a:srgbClr val="FF0000"/>
                </a:solidFill>
                <a:hlinkClick r:id="rId3">
                  <a:extLst>
                    <a:ext uri="{A12FA001-AC4F-418D-AE19-62706E023703}">
                      <ahyp:hlinkClr xmlns:ahyp="http://schemas.microsoft.com/office/drawing/2018/hyperlinkcolor" val="tx"/>
                    </a:ext>
                  </a:extLst>
                </a:hlinkClick>
              </a:rPr>
              <a:t>https://youtu.be/StorpCnJjck</a:t>
            </a:r>
            <a:endParaRPr lang="en-US" sz="1200" dirty="0">
              <a:solidFill>
                <a:srgbClr val="FF0000"/>
              </a:solidFill>
            </a:endParaRPr>
          </a:p>
        </p:txBody>
      </p:sp>
      <p:pic>
        <p:nvPicPr>
          <p:cNvPr id="9" name="Picture 8">
            <a:extLst>
              <a:ext uri="{FF2B5EF4-FFF2-40B4-BE49-F238E27FC236}">
                <a16:creationId xmlns:a16="http://schemas.microsoft.com/office/drawing/2014/main" id="{C83C6F6C-1990-5C13-281F-B947F6EF7CBF}"/>
              </a:ext>
            </a:extLst>
          </p:cNvPr>
          <p:cNvPicPr>
            <a:picLocks noChangeAspect="1"/>
          </p:cNvPicPr>
          <p:nvPr/>
        </p:nvPicPr>
        <p:blipFill>
          <a:blip r:embed="rId4"/>
          <a:stretch>
            <a:fillRect/>
          </a:stretch>
        </p:blipFill>
        <p:spPr>
          <a:xfrm>
            <a:off x="897157" y="696943"/>
            <a:ext cx="5950256" cy="4311872"/>
          </a:xfrm>
          <a:prstGeom prst="rect">
            <a:avLst/>
          </a:prstGeom>
        </p:spPr>
      </p:pic>
      <p:sp>
        <p:nvSpPr>
          <p:cNvPr id="11" name="Rectangle 10">
            <a:extLst>
              <a:ext uri="{FF2B5EF4-FFF2-40B4-BE49-F238E27FC236}">
                <a16:creationId xmlns:a16="http://schemas.microsoft.com/office/drawing/2014/main" id="{4DAC8516-CF75-4AAF-C36A-B4E38655D910}"/>
              </a:ext>
            </a:extLst>
          </p:cNvPr>
          <p:cNvSpPr/>
          <p:nvPr/>
        </p:nvSpPr>
        <p:spPr>
          <a:xfrm>
            <a:off x="254442" y="6402591"/>
            <a:ext cx="3705308" cy="3088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CB5628B-989B-71FF-119D-DDB02C25B493}"/>
              </a:ext>
            </a:extLst>
          </p:cNvPr>
          <p:cNvSpPr txBox="1"/>
          <p:nvPr/>
        </p:nvSpPr>
        <p:spPr>
          <a:xfrm>
            <a:off x="1009815" y="5055478"/>
            <a:ext cx="5239910" cy="1015663"/>
          </a:xfrm>
          <a:prstGeom prst="rect">
            <a:avLst/>
          </a:prstGeom>
          <a:noFill/>
        </p:spPr>
        <p:txBody>
          <a:bodyPr wrap="square" rtlCol="0">
            <a:spAutoFit/>
          </a:bodyPr>
          <a:lstStyle/>
          <a:p>
            <a:pPr marL="171450" indent="-171450">
              <a:buFont typeface="Arial" panose="020B0604020202020204" pitchFamily="34" charset="0"/>
              <a:buChar char="•"/>
            </a:pPr>
            <a:r>
              <a:rPr lang="en-US" sz="1200" dirty="0"/>
              <a:t>Temporary Status Case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Overview (1 – 2.36, 10:45 – 16.04, 18.08 – 22:15, 22.15..)</a:t>
            </a:r>
          </a:p>
        </p:txBody>
      </p:sp>
      <p:sp>
        <p:nvSpPr>
          <p:cNvPr id="16" name="TextBox 15">
            <a:extLst>
              <a:ext uri="{FF2B5EF4-FFF2-40B4-BE49-F238E27FC236}">
                <a16:creationId xmlns:a16="http://schemas.microsoft.com/office/drawing/2014/main" id="{6E773313-C635-4B4D-127A-3331FFD84A68}"/>
              </a:ext>
            </a:extLst>
          </p:cNvPr>
          <p:cNvSpPr txBox="1"/>
          <p:nvPr/>
        </p:nvSpPr>
        <p:spPr>
          <a:xfrm>
            <a:off x="1178701" y="5301699"/>
            <a:ext cx="4572000" cy="307777"/>
          </a:xfrm>
          <a:prstGeom prst="rect">
            <a:avLst/>
          </a:prstGeom>
          <a:noFill/>
        </p:spPr>
        <p:txBody>
          <a:bodyPr wrap="square">
            <a:spAutoFit/>
          </a:bodyPr>
          <a:lstStyle/>
          <a:p>
            <a:r>
              <a:rPr lang="en-US" dirty="0">
                <a:solidFill>
                  <a:srgbClr val="FF0000"/>
                </a:solidFill>
                <a:hlinkClick r:id="rId5">
                  <a:extLst>
                    <a:ext uri="{A12FA001-AC4F-418D-AE19-62706E023703}">
                      <ahyp:hlinkClr xmlns:ahyp="http://schemas.microsoft.com/office/drawing/2018/hyperlinkcolor" val="tx"/>
                    </a:ext>
                  </a:extLst>
                </a:hlinkClick>
              </a:rPr>
              <a:t>Bing Videos</a:t>
            </a:r>
            <a:endParaRPr lang="en-US" dirty="0">
              <a:solidFill>
                <a:srgbClr val="FF0000"/>
              </a:solidFill>
            </a:endParaRPr>
          </a:p>
        </p:txBody>
      </p:sp>
    </p:spTree>
    <p:extLst>
      <p:ext uri="{BB962C8B-B14F-4D97-AF65-F5344CB8AC3E}">
        <p14:creationId xmlns:p14="http://schemas.microsoft.com/office/powerpoint/2010/main" val="710403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1CC261E-1A72-12F3-897D-3AA7590907A0}"/>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E7033926-DDDD-0BEA-911D-A98E3AEFD270}"/>
              </a:ext>
            </a:extLst>
          </p:cNvPr>
          <p:cNvSpPr txBox="1">
            <a:spLocks/>
          </p:cNvSpPr>
          <p:nvPr/>
        </p:nvSpPr>
        <p:spPr>
          <a:xfrm>
            <a:off x="2266121" y="-28867"/>
            <a:ext cx="6130455" cy="738063"/>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latin typeface="Calibri" panose="020F0502020204030204" pitchFamily="34" charset="0"/>
                <a:ea typeface="+mj-ea"/>
                <a:cs typeface="Calibri" panose="020F0502020204030204" pitchFamily="34" charset="0"/>
              </a:rPr>
              <a:t> </a:t>
            </a:r>
            <a:r>
              <a:rPr lang="en-US" sz="3600" b="1" dirty="0">
                <a:latin typeface="Calibri" panose="020F0502020204030204" pitchFamily="34" charset="0"/>
                <a:ea typeface="+mj-ea"/>
                <a:cs typeface="Calibri" panose="020F0502020204030204" pitchFamily="34" charset="0"/>
              </a:rPr>
              <a:t>Checks and Balances?</a:t>
            </a:r>
          </a:p>
        </p:txBody>
      </p:sp>
      <p:sp>
        <p:nvSpPr>
          <p:cNvPr id="3" name="Content Placeholder 2">
            <a:extLst>
              <a:ext uri="{FF2B5EF4-FFF2-40B4-BE49-F238E27FC236}">
                <a16:creationId xmlns:a16="http://schemas.microsoft.com/office/drawing/2014/main" id="{D1E15A93-11A7-8686-4D01-F8C725581FA0}"/>
              </a:ext>
            </a:extLst>
          </p:cNvPr>
          <p:cNvSpPr txBox="1">
            <a:spLocks/>
          </p:cNvSpPr>
          <p:nvPr/>
        </p:nvSpPr>
        <p:spPr>
          <a:xfrm>
            <a:off x="143123" y="770115"/>
            <a:ext cx="8484041" cy="4075624"/>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spcBef>
                <a:spcPts val="0"/>
              </a:spcBef>
              <a:spcAft>
                <a:spcPts val="1200"/>
              </a:spcAft>
              <a:buNone/>
              <a:defRPr/>
            </a:pPr>
            <a:endParaRPr lang="en-US" sz="1400" kern="100" dirty="0">
              <a:effectLst/>
              <a:latin typeface="+mj-lt"/>
              <a:ea typeface="Aptos" panose="020B0004020202020204" pitchFamily="34" charset="0"/>
              <a:cs typeface="Times New Roman" panose="02020603050405020304" pitchFamily="18" charset="0"/>
            </a:endParaRPr>
          </a:p>
          <a:p>
            <a:pPr marL="0" indent="0">
              <a:spcBef>
                <a:spcPts val="0"/>
              </a:spcBef>
              <a:spcAft>
                <a:spcPts val="1200"/>
              </a:spcAft>
              <a:buNone/>
              <a:defRPr/>
            </a:pPr>
            <a:endParaRPr lang="en-US" altLang="en-US" dirty="0">
              <a:latin typeface="Calibri" panose="020F0502020204030204" pitchFamily="34" charset="0"/>
              <a:cs typeface="Calibri" panose="020F0502020204030204" pitchFamily="34" charset="0"/>
            </a:endParaRPr>
          </a:p>
          <a:p>
            <a:pPr fontAlgn="auto">
              <a:spcBef>
                <a:spcPts val="0"/>
              </a:spcBef>
              <a:spcAft>
                <a:spcPts val="1200"/>
              </a:spcAft>
              <a:defRPr/>
            </a:pPr>
            <a:endParaRPr lang="en-US" sz="2400" i="1"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824EEEC7-1EB3-AEDD-302E-B423CCCE42AB}"/>
              </a:ext>
            </a:extLst>
          </p:cNvPr>
          <p:cNvPicPr>
            <a:picLocks noChangeAspect="1"/>
          </p:cNvPicPr>
          <p:nvPr/>
        </p:nvPicPr>
        <p:blipFill>
          <a:blip r:embed="rId3"/>
          <a:stretch>
            <a:fillRect/>
          </a:stretch>
        </p:blipFill>
        <p:spPr>
          <a:xfrm>
            <a:off x="4036549" y="953200"/>
            <a:ext cx="2067253" cy="4499630"/>
          </a:xfrm>
          <a:prstGeom prst="rect">
            <a:avLst/>
          </a:prstGeom>
        </p:spPr>
      </p:pic>
      <p:pic>
        <p:nvPicPr>
          <p:cNvPr id="7" name="Picture 6">
            <a:extLst>
              <a:ext uri="{FF2B5EF4-FFF2-40B4-BE49-F238E27FC236}">
                <a16:creationId xmlns:a16="http://schemas.microsoft.com/office/drawing/2014/main" id="{2FF0603D-2FD9-50CF-AA37-BC9AF69E465F}"/>
              </a:ext>
            </a:extLst>
          </p:cNvPr>
          <p:cNvPicPr>
            <a:picLocks noChangeAspect="1"/>
          </p:cNvPicPr>
          <p:nvPr/>
        </p:nvPicPr>
        <p:blipFill>
          <a:blip r:embed="rId4"/>
          <a:stretch>
            <a:fillRect/>
          </a:stretch>
        </p:blipFill>
        <p:spPr>
          <a:xfrm>
            <a:off x="2229475" y="953200"/>
            <a:ext cx="1807074" cy="3965128"/>
          </a:xfrm>
          <a:prstGeom prst="rect">
            <a:avLst/>
          </a:prstGeom>
        </p:spPr>
      </p:pic>
      <p:sp>
        <p:nvSpPr>
          <p:cNvPr id="6" name="TextBox 5">
            <a:extLst>
              <a:ext uri="{FF2B5EF4-FFF2-40B4-BE49-F238E27FC236}">
                <a16:creationId xmlns:a16="http://schemas.microsoft.com/office/drawing/2014/main" id="{26E264CC-F11D-77B2-7925-C902AF50D724}"/>
              </a:ext>
            </a:extLst>
          </p:cNvPr>
          <p:cNvSpPr txBox="1"/>
          <p:nvPr/>
        </p:nvSpPr>
        <p:spPr>
          <a:xfrm>
            <a:off x="245075" y="5999216"/>
            <a:ext cx="4572000" cy="523220"/>
          </a:xfrm>
          <a:prstGeom prst="rect">
            <a:avLst/>
          </a:prstGeom>
          <a:noFill/>
        </p:spPr>
        <p:txBody>
          <a:bodyPr wrap="square">
            <a:spAutoFit/>
          </a:bodyPr>
          <a:lstStyle/>
          <a:p>
            <a:pPr lvl="1">
              <a:spcAft>
                <a:spcPts val="600"/>
              </a:spcAft>
            </a:pPr>
            <a:r>
              <a:rPr lang="en-US" altLang="en-US" sz="1400" dirty="0">
                <a:solidFill>
                  <a:srgbClr val="FF0000"/>
                </a:solidFill>
                <a:cs typeface="Calibri" panose="020F0502020204030204" pitchFamily="34" charset="0"/>
                <a:hlinkClick r:id="rId5">
                  <a:extLst>
                    <a:ext uri="{A12FA001-AC4F-418D-AE19-62706E023703}">
                      <ahyp:hlinkClr xmlns:ahyp="http://schemas.microsoft.com/office/drawing/2018/hyperlinkcolor" val="tx"/>
                    </a:ext>
                  </a:extLst>
                </a:hlinkClick>
              </a:rPr>
              <a:t>https://www.youtube.com/watch?v=3NTNbOmYYas&amp;t=156s</a:t>
            </a:r>
            <a:endParaRPr lang="en-US" altLang="en-US" sz="1400" dirty="0">
              <a:solidFill>
                <a:srgbClr val="FF0000"/>
              </a:solidFill>
              <a:cs typeface="Calibri" panose="020F0502020204030204" pitchFamily="34" charset="0"/>
            </a:endParaRPr>
          </a:p>
        </p:txBody>
      </p:sp>
      <p:pic>
        <p:nvPicPr>
          <p:cNvPr id="8" name="Picture 7">
            <a:extLst>
              <a:ext uri="{FF2B5EF4-FFF2-40B4-BE49-F238E27FC236}">
                <a16:creationId xmlns:a16="http://schemas.microsoft.com/office/drawing/2014/main" id="{F22B982F-5F74-BDE9-CFA5-58239654697C}"/>
              </a:ext>
            </a:extLst>
          </p:cNvPr>
          <p:cNvPicPr>
            <a:picLocks noChangeAspect="1"/>
          </p:cNvPicPr>
          <p:nvPr/>
        </p:nvPicPr>
        <p:blipFill>
          <a:blip r:embed="rId6"/>
          <a:stretch>
            <a:fillRect/>
          </a:stretch>
        </p:blipFill>
        <p:spPr>
          <a:xfrm>
            <a:off x="6094095" y="953200"/>
            <a:ext cx="2140060" cy="2711589"/>
          </a:xfrm>
          <a:prstGeom prst="rect">
            <a:avLst/>
          </a:prstGeom>
        </p:spPr>
      </p:pic>
      <p:pic>
        <p:nvPicPr>
          <p:cNvPr id="11" name="Picture 10">
            <a:extLst>
              <a:ext uri="{FF2B5EF4-FFF2-40B4-BE49-F238E27FC236}">
                <a16:creationId xmlns:a16="http://schemas.microsoft.com/office/drawing/2014/main" id="{E1DFA2C8-37D2-4B35-9F12-4C2B1BEF9EAE}"/>
              </a:ext>
            </a:extLst>
          </p:cNvPr>
          <p:cNvPicPr>
            <a:picLocks noChangeAspect="1"/>
          </p:cNvPicPr>
          <p:nvPr/>
        </p:nvPicPr>
        <p:blipFill>
          <a:blip r:embed="rId7"/>
          <a:stretch>
            <a:fillRect/>
          </a:stretch>
        </p:blipFill>
        <p:spPr>
          <a:xfrm>
            <a:off x="271643" y="953200"/>
            <a:ext cx="1957832" cy="2522920"/>
          </a:xfrm>
          <a:prstGeom prst="rect">
            <a:avLst/>
          </a:prstGeom>
        </p:spPr>
      </p:pic>
      <p:pic>
        <p:nvPicPr>
          <p:cNvPr id="13" name="Picture 12">
            <a:extLst>
              <a:ext uri="{FF2B5EF4-FFF2-40B4-BE49-F238E27FC236}">
                <a16:creationId xmlns:a16="http://schemas.microsoft.com/office/drawing/2014/main" id="{59D11DD6-4027-ED94-FDF4-68495B0A3D20}"/>
              </a:ext>
            </a:extLst>
          </p:cNvPr>
          <p:cNvPicPr>
            <a:picLocks noChangeAspect="1"/>
          </p:cNvPicPr>
          <p:nvPr/>
        </p:nvPicPr>
        <p:blipFill>
          <a:blip r:embed="rId8"/>
          <a:stretch>
            <a:fillRect/>
          </a:stretch>
        </p:blipFill>
        <p:spPr>
          <a:xfrm>
            <a:off x="271643" y="3612332"/>
            <a:ext cx="1957832" cy="2324926"/>
          </a:xfrm>
          <a:prstGeom prst="rect">
            <a:avLst/>
          </a:prstGeom>
        </p:spPr>
      </p:pic>
      <p:pic>
        <p:nvPicPr>
          <p:cNvPr id="17" name="Picture 16">
            <a:extLst>
              <a:ext uri="{FF2B5EF4-FFF2-40B4-BE49-F238E27FC236}">
                <a16:creationId xmlns:a16="http://schemas.microsoft.com/office/drawing/2014/main" id="{034BC2D2-17D4-9E75-1F39-3AF81E6C2B11}"/>
              </a:ext>
            </a:extLst>
          </p:cNvPr>
          <p:cNvPicPr>
            <a:picLocks noChangeAspect="1"/>
          </p:cNvPicPr>
          <p:nvPr/>
        </p:nvPicPr>
        <p:blipFill>
          <a:blip r:embed="rId9"/>
          <a:stretch>
            <a:fillRect/>
          </a:stretch>
        </p:blipFill>
        <p:spPr>
          <a:xfrm>
            <a:off x="6131094" y="3781150"/>
            <a:ext cx="2133710" cy="2692538"/>
          </a:xfrm>
          <a:prstGeom prst="rect">
            <a:avLst/>
          </a:prstGeom>
        </p:spPr>
      </p:pic>
    </p:spTree>
    <p:extLst>
      <p:ext uri="{BB962C8B-B14F-4D97-AF65-F5344CB8AC3E}">
        <p14:creationId xmlns:p14="http://schemas.microsoft.com/office/powerpoint/2010/main" val="3717289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72019-4DA3-F240-6F10-88C523A78C8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2931251-4A48-BF6A-1FD4-81DA0BE54059}"/>
              </a:ext>
            </a:extLst>
          </p:cNvPr>
          <p:cNvPicPr>
            <a:picLocks noChangeAspect="1"/>
          </p:cNvPicPr>
          <p:nvPr/>
        </p:nvPicPr>
        <p:blipFill>
          <a:blip r:embed="rId2"/>
          <a:stretch>
            <a:fillRect/>
          </a:stretch>
        </p:blipFill>
        <p:spPr>
          <a:xfrm>
            <a:off x="2275772" y="97606"/>
            <a:ext cx="2764854" cy="1755048"/>
          </a:xfrm>
          <a:prstGeom prst="rect">
            <a:avLst/>
          </a:prstGeom>
        </p:spPr>
      </p:pic>
      <p:sp>
        <p:nvSpPr>
          <p:cNvPr id="8" name="TextBox 7">
            <a:extLst>
              <a:ext uri="{FF2B5EF4-FFF2-40B4-BE49-F238E27FC236}">
                <a16:creationId xmlns:a16="http://schemas.microsoft.com/office/drawing/2014/main" id="{27239F34-5E1A-5980-8816-4E0A6F316073}"/>
              </a:ext>
            </a:extLst>
          </p:cNvPr>
          <p:cNvSpPr txBox="1"/>
          <p:nvPr/>
        </p:nvSpPr>
        <p:spPr>
          <a:xfrm>
            <a:off x="154983" y="2345446"/>
            <a:ext cx="8252848" cy="3539430"/>
          </a:xfrm>
          <a:prstGeom prst="rect">
            <a:avLst/>
          </a:prstGeom>
          <a:noFill/>
        </p:spPr>
        <p:txBody>
          <a:bodyPr wrap="square" rtlCol="0">
            <a:spAutoFit/>
          </a:bodyPr>
          <a:lstStyle/>
          <a:p>
            <a:pPr algn="ctr"/>
            <a:r>
              <a:rPr lang="en-US" sz="2800" dirty="0"/>
              <a:t>Do we have a Monarchy, Oligarchy,</a:t>
            </a:r>
          </a:p>
          <a:p>
            <a:pPr algn="ctr"/>
            <a:r>
              <a:rPr lang="en-US" sz="2800" dirty="0"/>
              <a:t>a Republic</a:t>
            </a:r>
          </a:p>
          <a:p>
            <a:pPr algn="ctr"/>
            <a:r>
              <a:rPr lang="en-US" sz="2800" dirty="0"/>
              <a:t>or</a:t>
            </a:r>
          </a:p>
          <a:p>
            <a:pPr algn="ctr"/>
            <a:r>
              <a:rPr lang="en-US" sz="2800" dirty="0"/>
              <a:t>a “</a:t>
            </a:r>
            <a:r>
              <a:rPr lang="en-US" sz="2800" dirty="0" err="1"/>
              <a:t>Monolipublic</a:t>
            </a:r>
            <a:r>
              <a:rPr lang="en-US" sz="2800" dirty="0"/>
              <a:t>”?</a:t>
            </a:r>
          </a:p>
          <a:p>
            <a:pPr algn="ctr"/>
            <a:endParaRPr lang="en-US" sz="2800" dirty="0"/>
          </a:p>
          <a:p>
            <a:pPr algn="ctr"/>
            <a:endParaRPr lang="en-US" sz="2800" dirty="0"/>
          </a:p>
          <a:p>
            <a:pPr algn="ctr"/>
            <a:r>
              <a:rPr lang="en-US" sz="2800" i="1" dirty="0"/>
              <a:t>How will the Supreme Court Ultimately Define the Role and Power of the Presidency? </a:t>
            </a:r>
          </a:p>
        </p:txBody>
      </p:sp>
      <p:pic>
        <p:nvPicPr>
          <p:cNvPr id="10" name="Picture 9">
            <a:extLst>
              <a:ext uri="{FF2B5EF4-FFF2-40B4-BE49-F238E27FC236}">
                <a16:creationId xmlns:a16="http://schemas.microsoft.com/office/drawing/2014/main" id="{6777C280-6798-03EA-659A-1C6F90E3ACF3}"/>
              </a:ext>
            </a:extLst>
          </p:cNvPr>
          <p:cNvPicPr>
            <a:picLocks noChangeAspect="1"/>
          </p:cNvPicPr>
          <p:nvPr/>
        </p:nvPicPr>
        <p:blipFill>
          <a:blip r:embed="rId3"/>
          <a:stretch>
            <a:fillRect/>
          </a:stretch>
        </p:blipFill>
        <p:spPr>
          <a:xfrm>
            <a:off x="5222309" y="97606"/>
            <a:ext cx="3647747" cy="1755048"/>
          </a:xfrm>
          <a:prstGeom prst="rect">
            <a:avLst/>
          </a:prstGeom>
        </p:spPr>
      </p:pic>
      <p:pic>
        <p:nvPicPr>
          <p:cNvPr id="3" name="Picture 2">
            <a:extLst>
              <a:ext uri="{FF2B5EF4-FFF2-40B4-BE49-F238E27FC236}">
                <a16:creationId xmlns:a16="http://schemas.microsoft.com/office/drawing/2014/main" id="{4FEA808C-7F6F-9AA8-3E84-F5064C787AF1}"/>
              </a:ext>
            </a:extLst>
          </p:cNvPr>
          <p:cNvPicPr>
            <a:picLocks noChangeAspect="1"/>
          </p:cNvPicPr>
          <p:nvPr/>
        </p:nvPicPr>
        <p:blipFill>
          <a:blip r:embed="rId4"/>
          <a:stretch>
            <a:fillRect/>
          </a:stretch>
        </p:blipFill>
        <p:spPr>
          <a:xfrm>
            <a:off x="669504" y="97606"/>
            <a:ext cx="1302419" cy="1758936"/>
          </a:xfrm>
          <a:prstGeom prst="rect">
            <a:avLst/>
          </a:prstGeom>
        </p:spPr>
      </p:pic>
    </p:spTree>
    <p:extLst>
      <p:ext uri="{BB962C8B-B14F-4D97-AF65-F5344CB8AC3E}">
        <p14:creationId xmlns:p14="http://schemas.microsoft.com/office/powerpoint/2010/main" val="2525948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C0721A-F3CF-F419-01EB-0CBBFEB12539}"/>
              </a:ext>
            </a:extLst>
          </p:cNvPr>
          <p:cNvSpPr txBox="1"/>
          <p:nvPr/>
        </p:nvSpPr>
        <p:spPr>
          <a:xfrm>
            <a:off x="2252871" y="73978"/>
            <a:ext cx="5127811" cy="1200329"/>
          </a:xfrm>
          <a:prstGeom prst="rect">
            <a:avLst/>
          </a:prstGeom>
          <a:noFill/>
        </p:spPr>
        <p:txBody>
          <a:bodyPr wrap="square" rtlCol="0">
            <a:spAutoFit/>
          </a:bodyPr>
          <a:lstStyle/>
          <a:p>
            <a:r>
              <a:rPr lang="en-US" sz="4800" dirty="0"/>
              <a:t>Political Parties</a:t>
            </a:r>
          </a:p>
          <a:p>
            <a:r>
              <a:rPr lang="en-US" sz="2400" dirty="0">
                <a:solidFill>
                  <a:srgbClr val="FF0000"/>
                </a:solidFill>
                <a:hlinkClick r:id="rId2">
                  <a:extLst>
                    <a:ext uri="{A12FA001-AC4F-418D-AE19-62706E023703}">
                      <ahyp:hlinkClr xmlns:ahyp="http://schemas.microsoft.com/office/drawing/2018/hyperlinkcolor" val="tx"/>
                    </a:ext>
                  </a:extLst>
                </a:hlinkClick>
              </a:rPr>
              <a:t>https://youtu.be/gdlN01Od3vI</a:t>
            </a:r>
            <a:endParaRPr lang="en-US" sz="2400" dirty="0">
              <a:solidFill>
                <a:srgbClr val="FF0000"/>
              </a:solidFill>
            </a:endParaRPr>
          </a:p>
        </p:txBody>
      </p:sp>
      <p:pic>
        <p:nvPicPr>
          <p:cNvPr id="4" name="Picture 3">
            <a:extLst>
              <a:ext uri="{FF2B5EF4-FFF2-40B4-BE49-F238E27FC236}">
                <a16:creationId xmlns:a16="http://schemas.microsoft.com/office/drawing/2014/main" id="{A135D332-6596-C0E0-AAA7-45A6E7910C1F}"/>
              </a:ext>
            </a:extLst>
          </p:cNvPr>
          <p:cNvPicPr>
            <a:picLocks noChangeAspect="1"/>
          </p:cNvPicPr>
          <p:nvPr/>
        </p:nvPicPr>
        <p:blipFill>
          <a:blip r:embed="rId3"/>
          <a:stretch>
            <a:fillRect/>
          </a:stretch>
        </p:blipFill>
        <p:spPr>
          <a:xfrm>
            <a:off x="678102" y="1465356"/>
            <a:ext cx="8277347" cy="5318666"/>
          </a:xfrm>
          <a:prstGeom prst="rect">
            <a:avLst/>
          </a:prstGeom>
        </p:spPr>
      </p:pic>
    </p:spTree>
    <p:extLst>
      <p:ext uri="{BB962C8B-B14F-4D97-AF65-F5344CB8AC3E}">
        <p14:creationId xmlns:p14="http://schemas.microsoft.com/office/powerpoint/2010/main" val="3447693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E141281D-4A35-D34C-90B0-2E7ADB19C24C}"/>
              </a:ext>
            </a:extLst>
          </p:cNvPr>
          <p:cNvSpPr/>
          <p:nvPr/>
        </p:nvSpPr>
        <p:spPr>
          <a:xfrm>
            <a:off x="832002" y="366541"/>
            <a:ext cx="7479996" cy="707886"/>
          </a:xfrm>
          <a:prstGeom prst="rect">
            <a:avLst/>
          </a:prstGeom>
        </p:spPr>
        <p:txBody>
          <a:bodyPr wrap="none">
            <a:spAutoFit/>
          </a:bodyPr>
          <a:lstStyle/>
          <a:p>
            <a:r>
              <a:rPr lang="en-US" sz="4000" b="1" kern="1200" dirty="0">
                <a:latin typeface="Calibri"/>
                <a:ea typeface="ＭＳ Ｐゴシック" charset="0"/>
                <a:cs typeface="+mn-cs"/>
              </a:rPr>
              <a:t>Political Parties and What They Do</a:t>
            </a:r>
            <a:endParaRPr lang="en-US" dirty="0"/>
          </a:p>
        </p:txBody>
      </p:sp>
      <p:sp>
        <p:nvSpPr>
          <p:cNvPr id="3" name="Rectangle 2">
            <a:extLst>
              <a:ext uri="{FF2B5EF4-FFF2-40B4-BE49-F238E27FC236}">
                <a16:creationId xmlns:a16="http://schemas.microsoft.com/office/drawing/2014/main" id="{F5780431-7D61-A444-88DF-96B9E33B28EF}"/>
              </a:ext>
            </a:extLst>
          </p:cNvPr>
          <p:cNvSpPr/>
          <p:nvPr/>
        </p:nvSpPr>
        <p:spPr>
          <a:xfrm>
            <a:off x="398834" y="1536174"/>
            <a:ext cx="8414426" cy="3785652"/>
          </a:xfrm>
          <a:prstGeom prst="rect">
            <a:avLst/>
          </a:prstGeom>
        </p:spPr>
        <p:txBody>
          <a:bodyPr wrap="square">
            <a:spAutoFit/>
          </a:bodyPr>
          <a:lstStyle/>
          <a:p>
            <a:pPr lvl="0" defTabSz="457200" fontAlgn="base">
              <a:spcAft>
                <a:spcPts val="600"/>
              </a:spcAft>
              <a:buClrTx/>
              <a:defRPr/>
            </a:pPr>
            <a:r>
              <a:rPr lang="en-US" altLang="en-US" sz="2200" b="1" kern="1200" dirty="0">
                <a:solidFill>
                  <a:prstClr val="black"/>
                </a:solidFill>
                <a:latin typeface="Calibri" panose="020F0502020204030204" pitchFamily="34" charset="0"/>
                <a:ea typeface="ＭＳ Ｐゴシック" panose="020B0600070205080204" pitchFamily="34" charset="-128"/>
                <a:cs typeface="+mn-cs"/>
              </a:rPr>
              <a:t>Political parties </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are groups of people with similar interests who work together to create and implement policies. They do this by gaining control over the government by winning elections. Their purpose is (but is not limited to):</a:t>
            </a:r>
          </a:p>
          <a:p>
            <a:pPr marL="457200" lvl="0" indent="-457200" defTabSz="457200" fontAlgn="base">
              <a:spcAft>
                <a:spcPts val="600"/>
              </a:spcAft>
              <a:buClrTx/>
              <a:buFont typeface="Arial" panose="020B0604020202020204" pitchFamily="34" charset="0"/>
              <a:buChar char="•"/>
              <a:defRP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drafting legislation</a:t>
            </a:r>
          </a:p>
          <a:p>
            <a:pPr marL="457200" lvl="0" indent="-457200" defTabSz="457200" fontAlgn="base">
              <a:spcAft>
                <a:spcPts val="600"/>
              </a:spcAft>
              <a:buClrTx/>
              <a:buFont typeface="Arial" panose="020B0604020202020204" pitchFamily="34" charset="0"/>
              <a:buChar char="•"/>
              <a:defRP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guiding proposed laws through Congress and informing party members how they should vote on important issues</a:t>
            </a:r>
          </a:p>
          <a:p>
            <a:pPr marL="457200" lvl="0" indent="-457200" defTabSz="457200" fontAlgn="base">
              <a:spcAft>
                <a:spcPts val="600"/>
              </a:spcAft>
              <a:buClrTx/>
              <a:buFont typeface="Arial" panose="020B0604020202020204" pitchFamily="34" charset="0"/>
              <a:buChar char="•"/>
              <a:defRP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nominating candidates to run for state government, Congress, and the presidency</a:t>
            </a:r>
          </a:p>
          <a:p>
            <a:pPr marL="457200" lvl="0" indent="-457200" defTabSz="457200" fontAlgn="base">
              <a:spcAft>
                <a:spcPts val="600"/>
              </a:spcAft>
              <a:buClrTx/>
              <a:buFont typeface="Arial" panose="020B0604020202020204" pitchFamily="34" charset="0"/>
              <a:buChar char="•"/>
              <a:defRP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coordinating political campaigns and mobilizing voters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35EB49FE-B64A-4B43-9643-75ADDBE8BCAF}"/>
              </a:ext>
            </a:extLst>
          </p:cNvPr>
          <p:cNvSpPr/>
          <p:nvPr/>
        </p:nvSpPr>
        <p:spPr>
          <a:xfrm>
            <a:off x="600560" y="366541"/>
            <a:ext cx="7942880" cy="707886"/>
          </a:xfrm>
          <a:prstGeom prst="rect">
            <a:avLst/>
          </a:prstGeom>
        </p:spPr>
        <p:txBody>
          <a:bodyPr wrap="none">
            <a:spAutoFit/>
          </a:bodyPr>
          <a:lstStyle/>
          <a:p>
            <a:r>
              <a:rPr lang="en-US" sz="4000" b="1" kern="1200" dirty="0">
                <a:solidFill>
                  <a:prstClr val="black"/>
                </a:solidFill>
                <a:latin typeface="Calibri"/>
                <a:ea typeface="ＭＳ Ｐゴシック" charset="0"/>
                <a:cs typeface="+mj-cs"/>
              </a:rPr>
              <a:t>Evolution of the U.S. Political Parties</a:t>
            </a:r>
            <a:endParaRPr lang="en-US" dirty="0"/>
          </a:p>
        </p:txBody>
      </p:sp>
      <p:sp>
        <p:nvSpPr>
          <p:cNvPr id="3" name="Rectangle 2">
            <a:extLst>
              <a:ext uri="{FF2B5EF4-FFF2-40B4-BE49-F238E27FC236}">
                <a16:creationId xmlns:a16="http://schemas.microsoft.com/office/drawing/2014/main" id="{7F3F698C-C412-874D-9759-10CBD54C4411}"/>
              </a:ext>
            </a:extLst>
          </p:cNvPr>
          <p:cNvSpPr/>
          <p:nvPr/>
        </p:nvSpPr>
        <p:spPr>
          <a:xfrm>
            <a:off x="330740" y="1515527"/>
            <a:ext cx="8482519" cy="3274743"/>
          </a:xfrm>
          <a:prstGeom prst="rect">
            <a:avLst/>
          </a:prstGeom>
        </p:spPr>
        <p:txBody>
          <a:bodyPr wrap="square">
            <a:spAutoFit/>
          </a:bodyPr>
          <a:lstStyle/>
          <a:p>
            <a:pPr marL="342900" lvl="0" indent="-342900" defTabSz="457200" fontAlgn="base">
              <a:spcBef>
                <a:spcPct val="20000"/>
              </a:spcBef>
              <a:spcAft>
                <a:spcPct val="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Politics during the nation’s founding was at a local interest level as opposed to a national interest level.</a:t>
            </a:r>
          </a:p>
          <a:p>
            <a:pPr marL="342900" lvl="0" indent="-342900" defTabSz="457200" fontAlgn="base">
              <a:spcBef>
                <a:spcPct val="20000"/>
              </a:spcBef>
              <a:spcAft>
                <a:spcPct val="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 Revolutionary War led to the formation of the two original </a:t>
            </a:r>
            <a:r>
              <a:rPr lang="en-US" altLang="en-US" sz="2200" b="1" kern="1200" dirty="0">
                <a:solidFill>
                  <a:prstClr val="black"/>
                </a:solidFill>
                <a:latin typeface="Calibri" panose="020F0502020204030204" pitchFamily="34" charset="0"/>
                <a:ea typeface="ＭＳ Ｐゴシック" panose="020B0600070205080204" pitchFamily="34" charset="-128"/>
                <a:cs typeface="+mn-cs"/>
              </a:rPr>
              <a:t>political parties</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the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Federalists, </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who</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 </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preferred the idea of a stronger, more centralized republic; and the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Anti-Federalists,</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who preferred a more confederate system built on state equality and autonomy.</a:t>
            </a:r>
          </a:p>
          <a:p>
            <a:pPr marL="342900" lvl="0" indent="-342900" defTabSz="457200" fontAlgn="base">
              <a:spcBef>
                <a:spcPct val="20000"/>
              </a:spcBef>
              <a:spcAft>
                <a:spcPct val="0"/>
              </a:spcAft>
              <a:buClrTx/>
              <a:buFont typeface="Arial" panose="020B0604020202020204" pitchFamily="34" charset="0"/>
              <a:buChar char="•"/>
            </a:pPr>
            <a:r>
              <a:rPr lang="en-US" altLang="en-US" sz="2200" kern="1200" dirty="0">
                <a:solidFill>
                  <a:srgbClr val="FF0000"/>
                </a:solidFill>
                <a:latin typeface="Calibri" panose="020F0502020204030204" pitchFamily="34" charset="0"/>
                <a:ea typeface="ＭＳ Ｐゴシック" panose="020B0600070205080204" pitchFamily="34" charset="-128"/>
                <a:cs typeface="+mn-cs"/>
                <a:hlinkClick r:id="rId3">
                  <a:extLst>
                    <a:ext uri="{A12FA001-AC4F-418D-AE19-62706E023703}">
                      <ahyp:hlinkClr xmlns:ahyp="http://schemas.microsoft.com/office/drawing/2018/hyperlinkcolor" val="tx"/>
                    </a:ext>
                  </a:extLst>
                </a:hlinkClick>
              </a:rPr>
              <a:t>https://gpb.pbslearningmedia.org/resource/arct14.soc.amexdoldel/the-emergence-of-political-parties-in-the-early-republic-american-experience/</a:t>
            </a:r>
            <a:endParaRPr lang="en-US" altLang="en-US" sz="1800" kern="1200" dirty="0">
              <a:solidFill>
                <a:srgbClr val="FF0000"/>
              </a:solidFill>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588273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38898ED-DA80-D98C-5317-8C4BC3B16558}"/>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29A363B4-F269-151A-29AA-F744E8AFFBA4}"/>
              </a:ext>
            </a:extLst>
          </p:cNvPr>
          <p:cNvSpPr txBox="1">
            <a:spLocks/>
          </p:cNvSpPr>
          <p:nvPr/>
        </p:nvSpPr>
        <p:spPr>
          <a:xfrm>
            <a:off x="900035" y="124651"/>
            <a:ext cx="6704194" cy="708670"/>
          </a:xfrm>
          <a:prstGeom prst="rect">
            <a:avLst/>
          </a:prstGeom>
        </p:spPr>
        <p:txBody>
          <a:bodyPr rtlCol="0">
            <a:norm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3600" b="1" dirty="0">
                <a:latin typeface="Calibri" panose="020F0502020204030204" pitchFamily="34" charset="0"/>
                <a:ea typeface="+mj-ea"/>
                <a:cs typeface="Calibri" panose="020F0502020204030204" pitchFamily="34" charset="0"/>
              </a:rPr>
              <a:t>Transfer of Power 2026?</a:t>
            </a:r>
          </a:p>
        </p:txBody>
      </p:sp>
      <p:sp>
        <p:nvSpPr>
          <p:cNvPr id="3" name="Content Placeholder 2">
            <a:extLst>
              <a:ext uri="{FF2B5EF4-FFF2-40B4-BE49-F238E27FC236}">
                <a16:creationId xmlns:a16="http://schemas.microsoft.com/office/drawing/2014/main" id="{ECB31FEC-A252-ED3B-BA49-47741345C9B2}"/>
              </a:ext>
            </a:extLst>
          </p:cNvPr>
          <p:cNvSpPr txBox="1">
            <a:spLocks/>
          </p:cNvSpPr>
          <p:nvPr/>
        </p:nvSpPr>
        <p:spPr>
          <a:xfrm>
            <a:off x="400918" y="478986"/>
            <a:ext cx="8342164" cy="6189271"/>
          </a:xfrm>
          <a:prstGeom prst="rect">
            <a:avLst/>
          </a:prstGeom>
        </p:spPr>
        <p:txBody>
          <a:bodyPr>
            <a:no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marL="457200" lvl="1" indent="0"/>
            <a:br>
              <a:rPr lang="en-US" altLang="en-US" dirty="0">
                <a:cs typeface="Calibri" panose="020F0502020204030204" pitchFamily="34" charset="0"/>
              </a:rPr>
            </a:br>
            <a:r>
              <a:rPr lang="en-US" altLang="en-US" dirty="0">
                <a:cs typeface="Calibri" panose="020F0502020204030204" pitchFamily="34" charset="0"/>
              </a:rPr>
              <a:t>United States Senate</a:t>
            </a:r>
          </a:p>
          <a:p>
            <a:pPr marL="800100" lvl="1" indent="-342900">
              <a:buFont typeface="Arial" panose="020B0604020202020204" pitchFamily="34" charset="0"/>
              <a:buChar char="•"/>
            </a:pPr>
            <a:r>
              <a:rPr lang="en-US" altLang="en-US" sz="2000" dirty="0">
                <a:cs typeface="Calibri" panose="020F0502020204030204" pitchFamily="34" charset="0"/>
              </a:rPr>
              <a:t>53 Republicans, 47 Democrats/Independents</a:t>
            </a:r>
          </a:p>
          <a:p>
            <a:pPr marL="800100" lvl="1" indent="-342900">
              <a:buFont typeface="Arial" panose="020B0604020202020204" pitchFamily="34" charset="0"/>
              <a:buChar char="•"/>
            </a:pPr>
            <a:r>
              <a:rPr lang="en-US" altLang="en-US" sz="2000" dirty="0">
                <a:cs typeface="Calibri" panose="020F0502020204030204" pitchFamily="34" charset="0"/>
              </a:rPr>
              <a:t>To Control Senate (Democrats must pick up 4 seats)</a:t>
            </a:r>
          </a:p>
          <a:p>
            <a:pPr marL="1200150" lvl="2" indent="-342900">
              <a:buFont typeface="Arial" panose="020B0604020202020204" pitchFamily="34" charset="0"/>
              <a:buChar char="•"/>
            </a:pPr>
            <a:r>
              <a:rPr lang="en-US" altLang="en-US" sz="1800" dirty="0">
                <a:cs typeface="Calibri" panose="020F0502020204030204" pitchFamily="34" charset="0"/>
              </a:rPr>
              <a:t>Vice President J.D. Vance breaks a tie</a:t>
            </a:r>
          </a:p>
          <a:p>
            <a:pPr marL="1200150" lvl="2" indent="-342900">
              <a:buFont typeface="Arial" panose="020B0604020202020204" pitchFamily="34" charset="0"/>
              <a:buChar char="•"/>
            </a:pPr>
            <a:r>
              <a:rPr lang="en-US" altLang="en-US" sz="1800" dirty="0">
                <a:cs typeface="Calibri" panose="020F0502020204030204" pitchFamily="34" charset="0"/>
              </a:rPr>
              <a:t>13 Races to watch</a:t>
            </a:r>
          </a:p>
          <a:p>
            <a:pPr marL="457200" lvl="1" indent="0"/>
            <a:endParaRPr lang="en-US" altLang="en-US" dirty="0">
              <a:cs typeface="Calibri" panose="020F0502020204030204" pitchFamily="34" charset="0"/>
            </a:endParaRPr>
          </a:p>
          <a:p>
            <a:pPr marL="457200" lvl="1" indent="0"/>
            <a:r>
              <a:rPr lang="en-US" altLang="en-US" dirty="0">
                <a:cs typeface="Calibri" panose="020F0502020204030204" pitchFamily="34" charset="0"/>
              </a:rPr>
              <a:t>United States House of Representatives</a:t>
            </a:r>
          </a:p>
          <a:p>
            <a:pPr lvl="1">
              <a:buFont typeface="Arial" panose="020B0604020202020204" pitchFamily="34" charset="0"/>
              <a:buChar char="•"/>
            </a:pPr>
            <a:r>
              <a:rPr lang="en-US" altLang="en-US" sz="2000" dirty="0">
                <a:cs typeface="Calibri" panose="020F0502020204030204" pitchFamily="34" charset="0"/>
              </a:rPr>
              <a:t>Set by law – 435 members</a:t>
            </a:r>
          </a:p>
          <a:p>
            <a:pPr lvl="2">
              <a:buFont typeface="Arial" panose="020B0604020202020204" pitchFamily="34" charset="0"/>
              <a:buChar char="•"/>
            </a:pPr>
            <a:r>
              <a:rPr lang="en-US" altLang="en-US" sz="2000" dirty="0">
                <a:cs typeface="Calibri" panose="020F0502020204030204" pitchFamily="34" charset="0"/>
              </a:rPr>
              <a:t>Need 218 for a Majority</a:t>
            </a:r>
          </a:p>
          <a:p>
            <a:pPr lvl="1">
              <a:buFont typeface="Arial" panose="020B0604020202020204" pitchFamily="34" charset="0"/>
              <a:buChar char="•"/>
            </a:pPr>
            <a:r>
              <a:rPr lang="en-US" altLang="en-US" sz="2000" dirty="0">
                <a:cs typeface="Calibri" panose="020F0502020204030204" pitchFamily="34" charset="0"/>
              </a:rPr>
              <a:t>Currently, 218 Republicans, 212 Democrats, 1 independent (4 vacancies)</a:t>
            </a:r>
          </a:p>
          <a:p>
            <a:pPr lvl="1">
              <a:buFont typeface="Arial" panose="020B0604020202020204" pitchFamily="34" charset="0"/>
              <a:buChar char="•"/>
            </a:pPr>
            <a:r>
              <a:rPr lang="en-US" altLang="en-US" sz="2000" dirty="0">
                <a:cs typeface="Calibri" panose="020F0502020204030204" pitchFamily="34" charset="0"/>
              </a:rPr>
              <a:t>2026 Mid-Term Election</a:t>
            </a:r>
          </a:p>
          <a:p>
            <a:pPr lvl="2">
              <a:buFont typeface="Arial" panose="020B0604020202020204" pitchFamily="34" charset="0"/>
              <a:buChar char="•"/>
            </a:pPr>
            <a:r>
              <a:rPr lang="en-US" altLang="en-US" sz="2000" dirty="0">
                <a:cs typeface="Calibri" panose="020F0502020204030204" pitchFamily="34" charset="0"/>
              </a:rPr>
              <a:t>Solid/Likely, (R) 200, (D) 193</a:t>
            </a:r>
          </a:p>
          <a:p>
            <a:pPr lvl="2">
              <a:buFont typeface="Arial" panose="020B0604020202020204" pitchFamily="34" charset="0"/>
              <a:buChar char="•"/>
            </a:pPr>
            <a:r>
              <a:rPr lang="en-US" altLang="en-US" sz="2000" dirty="0">
                <a:cs typeface="Calibri" panose="020F0502020204030204" pitchFamily="34" charset="0"/>
              </a:rPr>
              <a:t>Lean/Toss-ups, 42</a:t>
            </a:r>
          </a:p>
          <a:p>
            <a:pPr lvl="2">
              <a:buFont typeface="Arial" panose="020B0604020202020204" pitchFamily="34" charset="0"/>
              <a:buChar char="•"/>
            </a:pPr>
            <a:r>
              <a:rPr lang="en-US" altLang="en-US" sz="2000" dirty="0">
                <a:cs typeface="Calibri" panose="020F0502020204030204" pitchFamily="34" charset="0"/>
              </a:rPr>
              <a:t>To Control House of Representatives</a:t>
            </a:r>
          </a:p>
          <a:p>
            <a:pPr lvl="4">
              <a:buFont typeface="Arial" panose="020B0604020202020204" pitchFamily="34" charset="0"/>
              <a:buChar char="•"/>
            </a:pPr>
            <a:r>
              <a:rPr lang="en-US" altLang="en-US" sz="2000" dirty="0">
                <a:cs typeface="Calibri" panose="020F0502020204030204" pitchFamily="34" charset="0"/>
              </a:rPr>
              <a:t>Republicans need 15</a:t>
            </a:r>
          </a:p>
          <a:p>
            <a:pPr lvl="4">
              <a:buFont typeface="Arial" panose="020B0604020202020204" pitchFamily="34" charset="0"/>
              <a:buChar char="•"/>
            </a:pPr>
            <a:r>
              <a:rPr lang="en-US" altLang="en-US" sz="2000" dirty="0">
                <a:cs typeface="Calibri" panose="020F0502020204030204" pitchFamily="34" charset="0"/>
              </a:rPr>
              <a:t>Democrats need 25</a:t>
            </a:r>
          </a:p>
          <a:p>
            <a:pPr marL="1144588" lvl="4" indent="-230188">
              <a:buFont typeface="Arial" panose="020B0604020202020204" pitchFamily="34" charset="0"/>
              <a:buChar char="•"/>
            </a:pPr>
            <a:br>
              <a:rPr lang="en-US" altLang="en-US" sz="2000" dirty="0">
                <a:cs typeface="Calibri" panose="020F0502020204030204" pitchFamily="34" charset="0"/>
              </a:rPr>
            </a:br>
            <a:endParaRPr lang="en-US" altLang="en-US" sz="2000" dirty="0">
              <a:cs typeface="Calibri" panose="020F0502020204030204" pitchFamily="34" charset="0"/>
            </a:endParaRPr>
          </a:p>
          <a:p>
            <a:pPr lvl="4">
              <a:buFont typeface="Arial" panose="020B0604020202020204" pitchFamily="34" charset="0"/>
              <a:buChar char="•"/>
            </a:pPr>
            <a:endParaRPr lang="en-US" altLang="en-US" sz="2000" dirty="0">
              <a:cs typeface="Calibri" panose="020F0502020204030204" pitchFamily="34" charset="0"/>
            </a:endParaRPr>
          </a:p>
          <a:p>
            <a:pPr marL="1028700" lvl="1">
              <a:spcAft>
                <a:spcPts val="750"/>
              </a:spcAft>
              <a:buFont typeface="Arial" panose="020B0604020202020204" pitchFamily="34" charset="0"/>
              <a:buChar char="•"/>
            </a:pPr>
            <a:endParaRPr lang="en-US" sz="1600" b="1" i="0" dirty="0">
              <a:solidFill>
                <a:srgbClr val="202A43"/>
              </a:solidFill>
              <a:effectLst/>
              <a:latin typeface="Arial" panose="020B0604020202020204" pitchFamily="34" charset="0"/>
            </a:endParaRPr>
          </a:p>
          <a:p>
            <a:pPr marL="1028700" lvl="1">
              <a:spcAft>
                <a:spcPts val="750"/>
              </a:spcAft>
              <a:buFont typeface="Arial" panose="020B0604020202020204" pitchFamily="34" charset="0"/>
              <a:buChar char="•"/>
            </a:pPr>
            <a:endParaRPr lang="en-US" sz="1600" b="0" i="0" dirty="0">
              <a:solidFill>
                <a:srgbClr val="333333"/>
              </a:solidFill>
              <a:effectLst/>
              <a:latin typeface="Arial" panose="020B0604020202020204" pitchFamily="34" charset="0"/>
            </a:endParaRPr>
          </a:p>
          <a:p>
            <a:pPr eaLnBrk="1" hangingPunct="1">
              <a:spcAft>
                <a:spcPts val="1200"/>
              </a:spcAft>
              <a:buFont typeface="Arial" panose="020B0604020202020204" pitchFamily="34" charset="0"/>
              <a:buChar char="•"/>
            </a:pPr>
            <a:endParaRPr lang="en-US" altLang="en-US" sz="1600" dirty="0"/>
          </a:p>
        </p:txBody>
      </p:sp>
    </p:spTree>
    <p:extLst>
      <p:ext uri="{BB962C8B-B14F-4D97-AF65-F5344CB8AC3E}">
        <p14:creationId xmlns:p14="http://schemas.microsoft.com/office/powerpoint/2010/main" val="1259593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9A7392D0-7FDD-9C47-9090-792F73333AEA}"/>
              </a:ext>
            </a:extLst>
          </p:cNvPr>
          <p:cNvSpPr/>
          <p:nvPr/>
        </p:nvSpPr>
        <p:spPr>
          <a:xfrm>
            <a:off x="896026" y="366542"/>
            <a:ext cx="7351949" cy="707886"/>
          </a:xfrm>
          <a:prstGeom prst="rect">
            <a:avLst/>
          </a:prstGeom>
        </p:spPr>
        <p:txBody>
          <a:bodyPr wrap="none">
            <a:spAutoFit/>
          </a:bodyPr>
          <a:lstStyle/>
          <a:p>
            <a:r>
              <a:rPr lang="en-US" sz="4000" b="1" kern="1200" dirty="0">
                <a:latin typeface="Calibri"/>
                <a:ea typeface="ＭＳ Ｐゴシック" charset="0"/>
                <a:cs typeface="+mn-cs"/>
              </a:rPr>
              <a:t>Party Alignment and Realignment</a:t>
            </a:r>
            <a:endParaRPr lang="en-US" dirty="0"/>
          </a:p>
        </p:txBody>
      </p:sp>
      <p:sp>
        <p:nvSpPr>
          <p:cNvPr id="3" name="Rectangle 2">
            <a:extLst>
              <a:ext uri="{FF2B5EF4-FFF2-40B4-BE49-F238E27FC236}">
                <a16:creationId xmlns:a16="http://schemas.microsoft.com/office/drawing/2014/main" id="{3F613BE9-0ED9-A34C-AB23-D34E4B2058AF}"/>
              </a:ext>
            </a:extLst>
          </p:cNvPr>
          <p:cNvSpPr/>
          <p:nvPr/>
        </p:nvSpPr>
        <p:spPr>
          <a:xfrm>
            <a:off x="359923" y="1105368"/>
            <a:ext cx="8424154" cy="5386090"/>
          </a:xfrm>
          <a:prstGeom prst="rect">
            <a:avLst/>
          </a:prstGeom>
        </p:spPr>
        <p:txBody>
          <a:bodyPr wrap="square">
            <a:spAutoFit/>
          </a:bodyPr>
          <a:lstStyle/>
          <a:p>
            <a:pPr marL="342900" lvl="0" indent="-342900" defTabSz="457200" fontAlgn="base">
              <a:spcBef>
                <a:spcPct val="0"/>
              </a:spcBef>
              <a:spcAft>
                <a:spcPts val="18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Political parties exist for the purpose of winning elections in order to influence public policy. This requires them to build coalitions across a wide range of voters who share similar preferences and who might align themselves with a particular party if their preferences coincide with those of the party.</a:t>
            </a:r>
          </a:p>
          <a:p>
            <a:pPr marL="342900" lvl="0" indent="-342900" defTabSz="457200" fontAlgn="base">
              <a:spcBef>
                <a:spcPct val="0"/>
              </a:spcBef>
              <a:spcAft>
                <a:spcPts val="18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Depending on various factors, such as a change in the thought process of voters or an evolution of the political parties, if the voters’ preferences are not met, a </a:t>
            </a:r>
            <a:r>
              <a:rPr lang="en-US" altLang="en-US" sz="2200" b="1" kern="1200" dirty="0">
                <a:solidFill>
                  <a:prstClr val="black"/>
                </a:solidFill>
                <a:latin typeface="Calibri" panose="020F0502020204030204" pitchFamily="34" charset="0"/>
                <a:ea typeface="ＭＳ Ｐゴシック" panose="020B0600070205080204" pitchFamily="34" charset="-128"/>
                <a:cs typeface="+mn-cs"/>
              </a:rPr>
              <a:t>party realignment </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might take place.</a:t>
            </a:r>
          </a:p>
          <a:p>
            <a:pPr marL="342900" lvl="1" indent="-342900" defTabSz="457200" fontAlgn="base">
              <a:spcBef>
                <a:spcPct val="0"/>
              </a:spcBef>
              <a:spcAft>
                <a:spcPts val="18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Todays Republican Party Realignment – example: MAGA Movement, White – </a:t>
            </a:r>
            <a:r>
              <a:rPr lang="en-US" altLang="en-US" sz="2200" kern="1200" dirty="0">
                <a:solidFill>
                  <a:prstClr val="black"/>
                </a:solidFill>
                <a:latin typeface="Calibri" panose="020F0502020204030204" pitchFamily="34" charset="0"/>
                <a:ea typeface="ＭＳ Ｐゴシック" panose="020B0600070205080204" pitchFamily="34" charset="-128"/>
                <a:cs typeface="Calibri" panose="020F0502020204030204" pitchFamily="34" charset="0"/>
              </a:rPr>
              <a:t>Blue Collar/Union, Men of Color (Hispanic 45</a:t>
            </a:r>
            <a:r>
              <a:rPr lang="en-US" sz="2200" dirty="0">
                <a:latin typeface="Calibri" panose="020F0502020204030204" pitchFamily="34" charset="0"/>
                <a:cs typeface="Calibri" panose="020F0502020204030204" pitchFamily="34" charset="0"/>
              </a:rPr>
              <a:t>% to 54%</a:t>
            </a:r>
            <a:r>
              <a:rPr lang="en-US" altLang="en-US" sz="2200" kern="1200" dirty="0">
                <a:solidFill>
                  <a:prstClr val="black"/>
                </a:solidFill>
                <a:latin typeface="Calibri" panose="020F0502020204030204" pitchFamily="34" charset="0"/>
                <a:ea typeface="ＭＳ Ｐゴシック" panose="020B0600070205080204" pitchFamily="34" charset="-128"/>
                <a:cs typeface="Calibri" panose="020F0502020204030204" pitchFamily="34" charset="0"/>
              </a:rPr>
              <a:t>, Black </a:t>
            </a:r>
            <a:r>
              <a:rPr lang="en-US" sz="2200" dirty="0">
                <a:latin typeface="Calibri" panose="020F0502020204030204" pitchFamily="34" charset="0"/>
                <a:cs typeface="Calibri" panose="020F0502020204030204" pitchFamily="34" charset="0"/>
              </a:rPr>
              <a:t>12% to 20%</a:t>
            </a:r>
            <a:r>
              <a:rPr lang="en-US" altLang="en-US" sz="2200" kern="1200" dirty="0">
                <a:solidFill>
                  <a:prstClr val="black"/>
                </a:solidFill>
                <a:latin typeface="Calibri" panose="020F0502020204030204" pitchFamily="34" charset="0"/>
                <a:ea typeface="ＭＳ Ｐゴシック" panose="020B0600070205080204" pitchFamily="34" charset="-128"/>
                <a:cs typeface="Calibri" panose="020F0502020204030204" pitchFamily="34" charset="0"/>
              </a:rPr>
              <a:t>), Young Adults (35% to 42% note: attributed to young men)</a:t>
            </a:r>
            <a:br>
              <a:rPr lang="en-US" altLang="en-US" sz="2200" kern="1200" dirty="0">
                <a:solidFill>
                  <a:prstClr val="black"/>
                </a:solidFill>
                <a:latin typeface="Calibri" panose="020F0502020204030204" pitchFamily="34" charset="0"/>
                <a:ea typeface="ＭＳ Ｐゴシック" panose="020B0600070205080204" pitchFamily="34" charset="-128"/>
                <a:cs typeface="+mn-cs"/>
              </a:rPr>
            </a:br>
            <a:br>
              <a:rPr lang="en-US" altLang="en-US" sz="2200" kern="1200" dirty="0">
                <a:solidFill>
                  <a:prstClr val="black"/>
                </a:solidFill>
                <a:latin typeface="Calibri" panose="020F0502020204030204" pitchFamily="34" charset="0"/>
                <a:ea typeface="ＭＳ Ｐゴシック" panose="020B0600070205080204" pitchFamily="34" charset="-128"/>
                <a:cs typeface="+mn-cs"/>
              </a:rPr>
            </a:br>
            <a:r>
              <a:rPr lang="en-US" dirty="0"/>
              <a:t>“</a:t>
            </a:r>
            <a:r>
              <a:rPr lang="en-US" i="1" dirty="0"/>
              <a:t>We’re all victims. Everybody here — all these thousands of people here tonight. They’re all victims, every one of you</a:t>
            </a:r>
            <a:r>
              <a:rPr lang="en-US" dirty="0"/>
              <a:t>.”   Donald Trump, Georgia Rally, 2020</a:t>
            </a:r>
            <a:endParaRPr lang="en-US" altLang="en-US" sz="2200" kern="1200" dirty="0">
              <a:solidFill>
                <a:prstClr val="black"/>
              </a:solidFill>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783430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120A85CC-1B4C-C049-BFF6-98691D5AEA39}"/>
              </a:ext>
            </a:extLst>
          </p:cNvPr>
          <p:cNvSpPr/>
          <p:nvPr/>
        </p:nvSpPr>
        <p:spPr>
          <a:xfrm>
            <a:off x="639578" y="366542"/>
            <a:ext cx="7864845" cy="707886"/>
          </a:xfrm>
          <a:prstGeom prst="rect">
            <a:avLst/>
          </a:prstGeom>
        </p:spPr>
        <p:txBody>
          <a:bodyPr wrap="none">
            <a:spAutoFit/>
          </a:bodyPr>
          <a:lstStyle/>
          <a:p>
            <a:r>
              <a:rPr lang="en-US" sz="4000" b="1" kern="1200" dirty="0">
                <a:latin typeface="Calibri"/>
                <a:ea typeface="ＭＳ Ｐゴシック" charset="0"/>
                <a:cs typeface="+mn-cs"/>
              </a:rPr>
              <a:t>Implications of Partisan Polarization</a:t>
            </a:r>
            <a:endParaRPr lang="en-US" dirty="0"/>
          </a:p>
        </p:txBody>
      </p:sp>
      <p:sp>
        <p:nvSpPr>
          <p:cNvPr id="3" name="Rectangle 2">
            <a:extLst>
              <a:ext uri="{FF2B5EF4-FFF2-40B4-BE49-F238E27FC236}">
                <a16:creationId xmlns:a16="http://schemas.microsoft.com/office/drawing/2014/main" id="{DB624A67-3408-F744-9801-992C8FF31E0B}"/>
              </a:ext>
            </a:extLst>
          </p:cNvPr>
          <p:cNvSpPr/>
          <p:nvPr/>
        </p:nvSpPr>
        <p:spPr>
          <a:xfrm>
            <a:off x="379379" y="1405369"/>
            <a:ext cx="8482519" cy="4047262"/>
          </a:xfrm>
          <a:prstGeom prst="rect">
            <a:avLst/>
          </a:prstGeom>
        </p:spPr>
        <p:txBody>
          <a:bodyPr wrap="square">
            <a:spAutoFit/>
          </a:bodyPr>
          <a:lstStyle/>
          <a:p>
            <a:pPr marL="457200" lvl="0" indent="-457200" defTabSz="457200" fontAlgn="base">
              <a:spcBef>
                <a:spcPct val="0"/>
              </a:spcBef>
              <a:spcAft>
                <a:spcPts val="6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With the exception of providing voters with more distinct choices, positives of </a:t>
            </a:r>
            <a:r>
              <a:rPr lang="en-US" altLang="en-US" sz="2200" b="1" kern="1200" dirty="0">
                <a:solidFill>
                  <a:prstClr val="black"/>
                </a:solidFill>
                <a:latin typeface="Calibri" panose="020F0502020204030204" pitchFamily="34" charset="0"/>
                <a:ea typeface="ＭＳ Ｐゴシック" panose="020B0600070205080204" pitchFamily="34" charset="-128"/>
                <a:cs typeface="+mn-cs"/>
              </a:rPr>
              <a:t>polarization</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are hard to find.</a:t>
            </a:r>
          </a:p>
          <a:p>
            <a:pPr marL="457200" lvl="0" indent="-457200" defTabSz="457200" fontAlgn="base">
              <a:spcBef>
                <a:spcPct val="0"/>
              </a:spcBef>
              <a:spcAft>
                <a:spcPts val="6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Instead of reducing interparty conflict, polarization seems to have amplified it.</a:t>
            </a:r>
          </a:p>
          <a:p>
            <a:pPr marL="457200" lvl="0" indent="-457200" defTabSz="457200" fontAlgn="base">
              <a:spcBef>
                <a:spcPct val="0"/>
              </a:spcBef>
              <a:spcAft>
                <a:spcPts val="6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Fewer members of Congress have mixed voting records; instead, they vote far more consistently on issues and are far more likely to side with their party leadership.</a:t>
            </a:r>
          </a:p>
          <a:p>
            <a:pPr marL="457200" lvl="0" indent="-457200" defTabSz="457200" fontAlgn="base">
              <a:spcBef>
                <a:spcPct val="0"/>
              </a:spcBef>
              <a:spcAft>
                <a:spcPts val="6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A growing number of moderate voters are not participating in party politics. They are either becoming independents or participating only in the general election and therefore not helping select party candidates in primaries.</a:t>
            </a:r>
          </a:p>
        </p:txBody>
      </p:sp>
    </p:spTree>
    <p:extLst>
      <p:ext uri="{BB962C8B-B14F-4D97-AF65-F5344CB8AC3E}">
        <p14:creationId xmlns:p14="http://schemas.microsoft.com/office/powerpoint/2010/main" val="29773596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cNvSpPr>
            <a:spLocks noGrp="1"/>
          </p:cNvSpPr>
          <p:nvPr>
            <p:ph type="body" sz="quarter" idx="14"/>
          </p:nvPr>
        </p:nvSpPr>
        <p:spPr>
          <a:xfrm>
            <a:off x="295835" y="1401534"/>
            <a:ext cx="3334871" cy="5039023"/>
          </a:xfrm>
        </p:spPr>
        <p:txBody>
          <a:bodyPr>
            <a:normAutofit fontScale="92500"/>
          </a:bodyPr>
          <a:lstStyle/>
          <a:p>
            <a:r>
              <a:rPr lang="en-US" sz="1600" dirty="0">
                <a:solidFill>
                  <a:srgbClr val="FF0000"/>
                </a:solidFill>
                <a:highlight>
                  <a:srgbClr val="FFFF00"/>
                </a:highlight>
                <a:hlinkClick r:id="rId2">
                  <a:extLst>
                    <a:ext uri="{A12FA001-AC4F-418D-AE19-62706E023703}">
                      <ahyp:hlinkClr xmlns:ahyp="http://schemas.microsoft.com/office/drawing/2018/hyperlinkcolor" val="tx"/>
                    </a:ext>
                  </a:extLst>
                </a:hlinkClick>
              </a:rPr>
              <a:t>https://youtu.be/k06FPs04u3I</a:t>
            </a:r>
            <a:endParaRPr lang="en-US" sz="1600" dirty="0">
              <a:solidFill>
                <a:srgbClr val="FF0000"/>
              </a:solidFill>
              <a:highlight>
                <a:srgbClr val="FFFF00"/>
              </a:highlight>
            </a:endParaRPr>
          </a:p>
          <a:p>
            <a:endParaRPr lang="en-US" sz="1600" dirty="0"/>
          </a:p>
          <a:p>
            <a:r>
              <a:rPr lang="en-US" sz="1600" dirty="0"/>
              <a:t>Various third parties, also known as minor parties, have appeared in the United States over the years. Some, like the Socialist Party, still exist in one form or another. </a:t>
            </a:r>
          </a:p>
          <a:p>
            <a:endParaRPr lang="en-US" sz="1600" dirty="0"/>
          </a:p>
          <a:p>
            <a:r>
              <a:rPr lang="en-US" sz="1600" dirty="0">
                <a:solidFill>
                  <a:srgbClr val="FF0000"/>
                </a:solidFill>
                <a:hlinkClick r:id="rId3">
                  <a:extLst>
                    <a:ext uri="{A12FA001-AC4F-418D-AE19-62706E023703}">
                      <ahyp:hlinkClr xmlns:ahyp="http://schemas.microsoft.com/office/drawing/2018/hyperlinkcolor" val="tx"/>
                    </a:ext>
                  </a:extLst>
                </a:hlinkClick>
              </a:rPr>
              <a:t>https://www.c-span.org/clip/campaign-2024/vermin-supreme-2023/5096806</a:t>
            </a:r>
            <a:endParaRPr lang="en-US" sz="1600" dirty="0">
              <a:solidFill>
                <a:srgbClr val="FF0000"/>
              </a:solidFill>
            </a:endParaRPr>
          </a:p>
          <a:p>
            <a:endParaRPr lang="en-US" sz="1600" dirty="0"/>
          </a:p>
          <a:p>
            <a:r>
              <a:rPr lang="en-US" sz="1600" dirty="0"/>
              <a:t>Teddy Roosevelt: Bull Moose, 1912</a:t>
            </a:r>
          </a:p>
          <a:p>
            <a:pPr marL="285750" indent="-285750">
              <a:buFont typeface="Arial" panose="020B0604020202020204" pitchFamily="34" charset="0"/>
              <a:buChar char="•"/>
            </a:pPr>
            <a:r>
              <a:rPr lang="en-US" sz="1500" dirty="0"/>
              <a:t>Campaign Reform, Woman’s Suffrage, Social Insurance, 8 hour work day.</a:t>
            </a:r>
          </a:p>
          <a:p>
            <a:br>
              <a:rPr lang="en-US" sz="1600" dirty="0"/>
            </a:br>
            <a:r>
              <a:rPr lang="en-US" sz="1600" dirty="0"/>
              <a:t>Ross Perot: Reform Party, 1992</a:t>
            </a:r>
          </a:p>
          <a:p>
            <a:pPr marL="285750" indent="-285750">
              <a:buFont typeface="Arial" panose="020B0604020202020204" pitchFamily="34" charset="0"/>
              <a:buChar char="•"/>
            </a:pPr>
            <a:r>
              <a:rPr lang="en-US" sz="1600" dirty="0"/>
              <a:t>Reduce National Debt, Campaign Finance Reform, Term Limits</a:t>
            </a:r>
          </a:p>
          <a:p>
            <a:endParaRPr lang="en-US" sz="1600" dirty="0"/>
          </a:p>
          <a:p>
            <a:endParaRPr lang="en-US" sz="1600" dirty="0"/>
          </a:p>
          <a:p>
            <a:endParaRPr lang="en-US" sz="1600" dirty="0"/>
          </a:p>
          <a:p>
            <a:endParaRPr lang="en-US" sz="1600" dirty="0"/>
          </a:p>
        </p:txBody>
      </p:sp>
      <p:pic>
        <p:nvPicPr>
          <p:cNvPr id="4" name="Picture Placeholder 3" descr="A bar graph titled “Minor Parties in the United States, 1832-2020: Percent of popular vote won by third parties in U.S. Presidential elections”. In 1832, the Anti-Masonic party won 8%. In 1856, the American party won 22%. In 18600, the Democratic (Secessionist) party won 18%, and the Constitutional Union party won 13%. In 1892 the People’s (Populist) party won 8%. In 1912 the Bull Moose (Progressive) party won 27%, and the Socialist party won 6%. In 1924 the Progressive party won 17%. In 1948 the States’ Rights (Dixiecrat) party won 2%, and the Progressive party won 2%. In 1968 the American Independent party won 14%. In 1980 the National Unity party won 7%. In 1992 the Reform party won 19%. In 1996 the Reform party won 8%. In 2000 the Green party won 3%. In 2008, the Reform party won less than 1%.” In 2012, the Libertarian party won 1%. In 2016, the Libertarian party won 3% and the Green party won 1%. In 2020, the Libertarian party won 1%." title="Figure 9.4"/>
          <p:cNvPicPr>
            <a:picLocks noGrp="1" noChangeAspect="1"/>
          </p:cNvPicPr>
          <p:nvPr>
            <p:ph type="pic" sz="quarter" idx="13"/>
          </p:nvPr>
        </p:nvPicPr>
        <p:blipFill>
          <a:blip r:embed="rId4">
            <a:extLst>
              <a:ext uri="{28A0092B-C50C-407E-A947-70E740481C1C}">
                <a14:useLocalDpi xmlns:a14="http://schemas.microsoft.com/office/drawing/2010/main" val="0"/>
              </a:ext>
            </a:extLst>
          </a:blip>
          <a:stretch>
            <a:fillRect/>
          </a:stretch>
        </p:blipFill>
        <p:spPr>
          <a:xfrm>
            <a:off x="3968856" y="978010"/>
            <a:ext cx="4218448" cy="5767970"/>
          </a:xfrm>
        </p:spPr>
      </p:pic>
      <p:sp>
        <p:nvSpPr>
          <p:cNvPr id="3" name="Title 2">
            <a:extLst>
              <a:ext uri="{FF2B5EF4-FFF2-40B4-BE49-F238E27FC236}">
                <a16:creationId xmlns:a16="http://schemas.microsoft.com/office/drawing/2014/main" id="{67FC5CC2-BA42-8953-5C40-42F97C18E67C}"/>
              </a:ext>
            </a:extLst>
          </p:cNvPr>
          <p:cNvSpPr>
            <a:spLocks noGrp="1"/>
          </p:cNvSpPr>
          <p:nvPr>
            <p:ph type="title"/>
          </p:nvPr>
        </p:nvSpPr>
        <p:spPr/>
        <p:txBody>
          <a:bodyPr/>
          <a:lstStyle/>
          <a:p>
            <a:pPr algn="ctr"/>
            <a:r>
              <a:rPr lang="en-US" sz="4000" dirty="0">
                <a:latin typeface="Calibri" panose="020F0502020204030204" pitchFamily="34" charset="0"/>
                <a:cs typeface="Calibri" panose="020F0502020204030204" pitchFamily="34" charset="0"/>
              </a:rPr>
              <a:t>Third Parties</a:t>
            </a:r>
          </a:p>
        </p:txBody>
      </p:sp>
    </p:spTree>
    <p:extLst>
      <p:ext uri="{BB962C8B-B14F-4D97-AF65-F5344CB8AC3E}">
        <p14:creationId xmlns:p14="http://schemas.microsoft.com/office/powerpoint/2010/main" val="1291567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B38A6-594E-FD83-E074-F9F05633B79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8A1426A-61F0-D7D3-94EC-A27C236F3BC9}"/>
              </a:ext>
            </a:extLst>
          </p:cNvPr>
          <p:cNvPicPr>
            <a:picLocks noChangeAspect="1"/>
          </p:cNvPicPr>
          <p:nvPr/>
        </p:nvPicPr>
        <p:blipFill>
          <a:blip r:embed="rId2"/>
          <a:stretch>
            <a:fillRect/>
          </a:stretch>
        </p:blipFill>
        <p:spPr>
          <a:xfrm>
            <a:off x="421419" y="147325"/>
            <a:ext cx="7478493" cy="6010959"/>
          </a:xfrm>
          <a:prstGeom prst="rect">
            <a:avLst/>
          </a:prstGeom>
        </p:spPr>
      </p:pic>
    </p:spTree>
    <p:extLst>
      <p:ext uri="{BB962C8B-B14F-4D97-AF65-F5344CB8AC3E}">
        <p14:creationId xmlns:p14="http://schemas.microsoft.com/office/powerpoint/2010/main" val="22249567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1F2449-264B-35FD-95AB-0D90A73B9875}"/>
              </a:ext>
            </a:extLst>
          </p:cNvPr>
          <p:cNvPicPr>
            <a:picLocks noChangeAspect="1"/>
          </p:cNvPicPr>
          <p:nvPr/>
        </p:nvPicPr>
        <p:blipFill>
          <a:blip r:embed="rId2"/>
          <a:stretch>
            <a:fillRect/>
          </a:stretch>
        </p:blipFill>
        <p:spPr>
          <a:xfrm>
            <a:off x="0" y="1255697"/>
            <a:ext cx="9059936" cy="1907775"/>
          </a:xfrm>
          <a:prstGeom prst="rect">
            <a:avLst/>
          </a:prstGeom>
        </p:spPr>
      </p:pic>
      <p:pic>
        <p:nvPicPr>
          <p:cNvPr id="5" name="Picture 4">
            <a:extLst>
              <a:ext uri="{FF2B5EF4-FFF2-40B4-BE49-F238E27FC236}">
                <a16:creationId xmlns:a16="http://schemas.microsoft.com/office/drawing/2014/main" id="{4D92D53A-EA9D-D9B3-3D17-0C057ED5949A}"/>
              </a:ext>
            </a:extLst>
          </p:cNvPr>
          <p:cNvPicPr>
            <a:picLocks noChangeAspect="1"/>
          </p:cNvPicPr>
          <p:nvPr/>
        </p:nvPicPr>
        <p:blipFill>
          <a:blip r:embed="rId3"/>
          <a:stretch>
            <a:fillRect/>
          </a:stretch>
        </p:blipFill>
        <p:spPr>
          <a:xfrm>
            <a:off x="138793" y="3625561"/>
            <a:ext cx="8866415" cy="1782463"/>
          </a:xfrm>
          <a:prstGeom prst="rect">
            <a:avLst/>
          </a:prstGeom>
        </p:spPr>
      </p:pic>
      <p:sp>
        <p:nvSpPr>
          <p:cNvPr id="2" name="TextBox 1">
            <a:extLst>
              <a:ext uri="{FF2B5EF4-FFF2-40B4-BE49-F238E27FC236}">
                <a16:creationId xmlns:a16="http://schemas.microsoft.com/office/drawing/2014/main" id="{61BF8B86-B07E-86B7-0A1F-79734D3EF29D}"/>
              </a:ext>
            </a:extLst>
          </p:cNvPr>
          <p:cNvSpPr txBox="1"/>
          <p:nvPr/>
        </p:nvSpPr>
        <p:spPr>
          <a:xfrm>
            <a:off x="643590" y="246490"/>
            <a:ext cx="7772756" cy="707886"/>
          </a:xfrm>
          <a:prstGeom prst="rect">
            <a:avLst/>
          </a:prstGeom>
          <a:noFill/>
        </p:spPr>
        <p:txBody>
          <a:bodyPr wrap="square" rtlCol="0">
            <a:spAutoFit/>
          </a:bodyPr>
          <a:lstStyle/>
          <a:p>
            <a:r>
              <a:rPr lang="en-US" sz="4000" b="1" dirty="0">
                <a:latin typeface="Calibri" panose="020F0502020204030204" pitchFamily="34" charset="0"/>
                <a:cs typeface="Calibri" panose="020F0502020204030204" pitchFamily="34" charset="0"/>
              </a:rPr>
              <a:t>Georgia Party Transition:  Timeline</a:t>
            </a:r>
          </a:p>
        </p:txBody>
      </p:sp>
    </p:spTree>
    <p:extLst>
      <p:ext uri="{BB962C8B-B14F-4D97-AF65-F5344CB8AC3E}">
        <p14:creationId xmlns:p14="http://schemas.microsoft.com/office/powerpoint/2010/main" val="24269573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F4BF2-73C9-9DBF-A539-270F137C58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A943430-90FB-5336-58EF-6C192336692E}"/>
              </a:ext>
            </a:extLst>
          </p:cNvPr>
          <p:cNvPicPr>
            <a:picLocks noChangeAspect="1"/>
          </p:cNvPicPr>
          <p:nvPr/>
        </p:nvPicPr>
        <p:blipFill>
          <a:blip r:embed="rId2"/>
          <a:stretch>
            <a:fillRect/>
          </a:stretch>
        </p:blipFill>
        <p:spPr>
          <a:xfrm>
            <a:off x="-23283" y="1225080"/>
            <a:ext cx="9059936" cy="1907775"/>
          </a:xfrm>
          <a:prstGeom prst="rect">
            <a:avLst/>
          </a:prstGeom>
        </p:spPr>
      </p:pic>
      <p:pic>
        <p:nvPicPr>
          <p:cNvPr id="5" name="Picture 4">
            <a:extLst>
              <a:ext uri="{FF2B5EF4-FFF2-40B4-BE49-F238E27FC236}">
                <a16:creationId xmlns:a16="http://schemas.microsoft.com/office/drawing/2014/main" id="{2DB9AF3A-060E-17E2-7295-9DF5DA4427EE}"/>
              </a:ext>
            </a:extLst>
          </p:cNvPr>
          <p:cNvPicPr>
            <a:picLocks noChangeAspect="1"/>
          </p:cNvPicPr>
          <p:nvPr/>
        </p:nvPicPr>
        <p:blipFill>
          <a:blip r:embed="rId3"/>
          <a:stretch>
            <a:fillRect/>
          </a:stretch>
        </p:blipFill>
        <p:spPr>
          <a:xfrm>
            <a:off x="72871" y="3634026"/>
            <a:ext cx="9128890" cy="1835230"/>
          </a:xfrm>
          <a:prstGeom prst="rect">
            <a:avLst/>
          </a:prstGeom>
        </p:spPr>
      </p:pic>
      <p:sp>
        <p:nvSpPr>
          <p:cNvPr id="6" name="Oval 5">
            <a:extLst>
              <a:ext uri="{FF2B5EF4-FFF2-40B4-BE49-F238E27FC236}">
                <a16:creationId xmlns:a16="http://schemas.microsoft.com/office/drawing/2014/main" id="{35C7DDB0-D9C2-83F1-E6C0-0A67D7B80D9D}"/>
              </a:ext>
            </a:extLst>
          </p:cNvPr>
          <p:cNvSpPr/>
          <p:nvPr/>
        </p:nvSpPr>
        <p:spPr>
          <a:xfrm>
            <a:off x="3531055" y="1729910"/>
            <a:ext cx="963386" cy="1494065"/>
          </a:xfrm>
          <a:prstGeom prst="ellipse">
            <a:avLst/>
          </a:prstGeom>
          <a:noFill/>
          <a:ln w="889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Oval 1">
            <a:extLst>
              <a:ext uri="{FF2B5EF4-FFF2-40B4-BE49-F238E27FC236}">
                <a16:creationId xmlns:a16="http://schemas.microsoft.com/office/drawing/2014/main" id="{A204A2BA-FF43-5E86-E43A-99D901DFAA93}"/>
              </a:ext>
            </a:extLst>
          </p:cNvPr>
          <p:cNvSpPr/>
          <p:nvPr/>
        </p:nvSpPr>
        <p:spPr>
          <a:xfrm>
            <a:off x="3543300" y="4091430"/>
            <a:ext cx="963386" cy="1494065"/>
          </a:xfrm>
          <a:prstGeom prst="ellipse">
            <a:avLst/>
          </a:prstGeom>
          <a:noFill/>
          <a:ln w="889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1217130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3273A-49D1-45B8-B0D7-6806EB37198C}"/>
              </a:ext>
            </a:extLst>
          </p:cNvPr>
          <p:cNvSpPr>
            <a:spLocks noGrp="1"/>
          </p:cNvSpPr>
          <p:nvPr>
            <p:ph type="title"/>
          </p:nvPr>
        </p:nvSpPr>
        <p:spPr>
          <a:xfrm>
            <a:off x="628650" y="870346"/>
            <a:ext cx="7886700" cy="994172"/>
          </a:xfrm>
        </p:spPr>
        <p:txBody>
          <a:bodyPr/>
          <a:lstStyle/>
          <a:p>
            <a:r>
              <a:rPr lang="en-US" dirty="0"/>
              <a:t>2001</a:t>
            </a:r>
          </a:p>
        </p:txBody>
      </p:sp>
      <p:sp>
        <p:nvSpPr>
          <p:cNvPr id="3" name="Content Placeholder 2">
            <a:extLst>
              <a:ext uri="{FF2B5EF4-FFF2-40B4-BE49-F238E27FC236}">
                <a16:creationId xmlns:a16="http://schemas.microsoft.com/office/drawing/2014/main" id="{31D8A373-A586-4E4F-96CD-FFF4F5A0A1C2}"/>
              </a:ext>
            </a:extLst>
          </p:cNvPr>
          <p:cNvSpPr>
            <a:spLocks noGrp="1"/>
          </p:cNvSpPr>
          <p:nvPr>
            <p:ph idx="1"/>
          </p:nvPr>
        </p:nvSpPr>
        <p:spPr>
          <a:xfrm>
            <a:off x="628650" y="1864518"/>
            <a:ext cx="7886700" cy="4136232"/>
          </a:xfrm>
        </p:spPr>
        <p:txBody>
          <a:bodyPr>
            <a:normAutofit/>
          </a:bodyPr>
          <a:lstStyle/>
          <a:p>
            <a:r>
              <a:rPr lang="en-US" dirty="0"/>
              <a:t>Democratic Governor Roy Barnes Leads Effort to Change the State Flag in 2001</a:t>
            </a:r>
          </a:p>
          <a:p>
            <a:endParaRPr lang="en-US" dirty="0"/>
          </a:p>
          <a:p>
            <a:endParaRPr lang="en-US" dirty="0"/>
          </a:p>
          <a:p>
            <a:endParaRPr lang="en-US" dirty="0"/>
          </a:p>
          <a:p>
            <a:endParaRPr lang="en-US" dirty="0"/>
          </a:p>
          <a:p>
            <a:endParaRPr lang="en-US" dirty="0"/>
          </a:p>
          <a:p>
            <a:endParaRPr lang="en-US" dirty="0"/>
          </a:p>
          <a:p>
            <a:pPr lvl="1"/>
            <a:endParaRPr lang="en-US" dirty="0"/>
          </a:p>
          <a:p>
            <a:endParaRPr lang="en-US" dirty="0"/>
          </a:p>
          <a:p>
            <a:pPr lvl="2"/>
            <a:endParaRPr lang="en-US" dirty="0"/>
          </a:p>
        </p:txBody>
      </p:sp>
      <p:pic>
        <p:nvPicPr>
          <p:cNvPr id="5" name="Picture 4">
            <a:extLst>
              <a:ext uri="{FF2B5EF4-FFF2-40B4-BE49-F238E27FC236}">
                <a16:creationId xmlns:a16="http://schemas.microsoft.com/office/drawing/2014/main" id="{57F6C2BB-C414-EA7C-6362-2ED1AE25B323}"/>
              </a:ext>
            </a:extLst>
          </p:cNvPr>
          <p:cNvPicPr>
            <a:picLocks noChangeAspect="1"/>
          </p:cNvPicPr>
          <p:nvPr/>
        </p:nvPicPr>
        <p:blipFill>
          <a:blip r:embed="rId2"/>
          <a:stretch>
            <a:fillRect/>
          </a:stretch>
        </p:blipFill>
        <p:spPr>
          <a:xfrm>
            <a:off x="952401" y="2510583"/>
            <a:ext cx="2244805" cy="1531087"/>
          </a:xfrm>
          <a:prstGeom prst="rect">
            <a:avLst/>
          </a:prstGeom>
        </p:spPr>
      </p:pic>
      <p:pic>
        <p:nvPicPr>
          <p:cNvPr id="7" name="Picture 6">
            <a:extLst>
              <a:ext uri="{FF2B5EF4-FFF2-40B4-BE49-F238E27FC236}">
                <a16:creationId xmlns:a16="http://schemas.microsoft.com/office/drawing/2014/main" id="{474F1699-9326-96C0-DA19-59423785677D}"/>
              </a:ext>
            </a:extLst>
          </p:cNvPr>
          <p:cNvPicPr>
            <a:picLocks noChangeAspect="1"/>
          </p:cNvPicPr>
          <p:nvPr/>
        </p:nvPicPr>
        <p:blipFill>
          <a:blip r:embed="rId3"/>
          <a:stretch>
            <a:fillRect/>
          </a:stretch>
        </p:blipFill>
        <p:spPr>
          <a:xfrm>
            <a:off x="3518834" y="2635500"/>
            <a:ext cx="2104211" cy="1406170"/>
          </a:xfrm>
          <a:prstGeom prst="rect">
            <a:avLst/>
          </a:prstGeom>
        </p:spPr>
      </p:pic>
      <p:pic>
        <p:nvPicPr>
          <p:cNvPr id="9" name="Picture 8">
            <a:extLst>
              <a:ext uri="{FF2B5EF4-FFF2-40B4-BE49-F238E27FC236}">
                <a16:creationId xmlns:a16="http://schemas.microsoft.com/office/drawing/2014/main" id="{19B28EE8-DE7C-EB19-6BF2-1FA6F21ED20F}"/>
              </a:ext>
            </a:extLst>
          </p:cNvPr>
          <p:cNvPicPr>
            <a:picLocks noChangeAspect="1"/>
          </p:cNvPicPr>
          <p:nvPr/>
        </p:nvPicPr>
        <p:blipFill>
          <a:blip r:embed="rId4"/>
          <a:stretch>
            <a:fillRect/>
          </a:stretch>
        </p:blipFill>
        <p:spPr>
          <a:xfrm>
            <a:off x="6046056" y="2635500"/>
            <a:ext cx="2244805" cy="1415623"/>
          </a:xfrm>
          <a:prstGeom prst="rect">
            <a:avLst/>
          </a:prstGeom>
        </p:spPr>
      </p:pic>
      <p:sp>
        <p:nvSpPr>
          <p:cNvPr id="10" name="TextBox 9">
            <a:extLst>
              <a:ext uri="{FF2B5EF4-FFF2-40B4-BE49-F238E27FC236}">
                <a16:creationId xmlns:a16="http://schemas.microsoft.com/office/drawing/2014/main" id="{13D07735-3097-3474-D4DB-2DDC95BCCA31}"/>
              </a:ext>
            </a:extLst>
          </p:cNvPr>
          <p:cNvSpPr txBox="1"/>
          <p:nvPr/>
        </p:nvSpPr>
        <p:spPr>
          <a:xfrm>
            <a:off x="6378025" y="4129703"/>
            <a:ext cx="1912835" cy="369332"/>
          </a:xfrm>
          <a:prstGeom prst="rect">
            <a:avLst/>
          </a:prstGeom>
          <a:noFill/>
        </p:spPr>
        <p:txBody>
          <a:bodyPr wrap="square" rtlCol="0">
            <a:spAutoFit/>
          </a:bodyPr>
          <a:lstStyle/>
          <a:p>
            <a:r>
              <a:rPr lang="en-US" sz="1800" dirty="0"/>
              <a:t>2004 - Present</a:t>
            </a:r>
          </a:p>
        </p:txBody>
      </p:sp>
      <p:sp>
        <p:nvSpPr>
          <p:cNvPr id="11" name="TextBox 10">
            <a:extLst>
              <a:ext uri="{FF2B5EF4-FFF2-40B4-BE49-F238E27FC236}">
                <a16:creationId xmlns:a16="http://schemas.microsoft.com/office/drawing/2014/main" id="{462B0645-E826-EE29-CBC4-DA58B8EF42B5}"/>
              </a:ext>
            </a:extLst>
          </p:cNvPr>
          <p:cNvSpPr txBox="1"/>
          <p:nvPr/>
        </p:nvSpPr>
        <p:spPr>
          <a:xfrm>
            <a:off x="1284371" y="4129703"/>
            <a:ext cx="1912835" cy="369332"/>
          </a:xfrm>
          <a:prstGeom prst="rect">
            <a:avLst/>
          </a:prstGeom>
          <a:noFill/>
        </p:spPr>
        <p:txBody>
          <a:bodyPr wrap="square" rtlCol="0">
            <a:spAutoFit/>
          </a:bodyPr>
          <a:lstStyle/>
          <a:p>
            <a:r>
              <a:rPr lang="en-US" sz="1800" dirty="0"/>
              <a:t>1956 - 2000</a:t>
            </a:r>
          </a:p>
        </p:txBody>
      </p:sp>
      <p:sp>
        <p:nvSpPr>
          <p:cNvPr id="12" name="TextBox 11">
            <a:extLst>
              <a:ext uri="{FF2B5EF4-FFF2-40B4-BE49-F238E27FC236}">
                <a16:creationId xmlns:a16="http://schemas.microsoft.com/office/drawing/2014/main" id="{028C4592-8C1A-FBB0-3B6B-B7ACE55B5718}"/>
              </a:ext>
            </a:extLst>
          </p:cNvPr>
          <p:cNvSpPr txBox="1"/>
          <p:nvPr/>
        </p:nvSpPr>
        <p:spPr>
          <a:xfrm>
            <a:off x="3831198" y="4129703"/>
            <a:ext cx="1912835" cy="369332"/>
          </a:xfrm>
          <a:prstGeom prst="rect">
            <a:avLst/>
          </a:prstGeom>
          <a:noFill/>
        </p:spPr>
        <p:txBody>
          <a:bodyPr wrap="square" rtlCol="0">
            <a:spAutoFit/>
          </a:bodyPr>
          <a:lstStyle/>
          <a:p>
            <a:r>
              <a:rPr lang="en-US" sz="1800" dirty="0"/>
              <a:t> 2000 - 2003</a:t>
            </a:r>
          </a:p>
        </p:txBody>
      </p:sp>
    </p:spTree>
    <p:extLst>
      <p:ext uri="{BB962C8B-B14F-4D97-AF65-F5344CB8AC3E}">
        <p14:creationId xmlns:p14="http://schemas.microsoft.com/office/powerpoint/2010/main" val="17538620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6120-8685-4AA5-D786-08400CDE819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D4D0061-7B50-1B3C-34CE-7387D3B1F54F}"/>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136C6C81-5408-9434-BCDD-E469BBB6A669}"/>
              </a:ext>
            </a:extLst>
          </p:cNvPr>
          <p:cNvSpPr>
            <a:spLocks noGrp="1"/>
          </p:cNvSpPr>
          <p:nvPr>
            <p:ph type="sldNum" sz="quarter" idx="12"/>
          </p:nvPr>
        </p:nvSpPr>
        <p:spPr/>
        <p:txBody>
          <a:bodyPr/>
          <a:lstStyle/>
          <a:p>
            <a:fld id="{8B669E2B-989C-4E6F-AC01-17ADF5549382}" type="slidenum">
              <a:rPr lang="en-US" smtClean="0"/>
              <a:t>48</a:t>
            </a:fld>
            <a:endParaRPr lang="en-US"/>
          </a:p>
        </p:txBody>
      </p:sp>
      <p:sp>
        <p:nvSpPr>
          <p:cNvPr id="6" name="TextBox 5">
            <a:extLst>
              <a:ext uri="{FF2B5EF4-FFF2-40B4-BE49-F238E27FC236}">
                <a16:creationId xmlns:a16="http://schemas.microsoft.com/office/drawing/2014/main" id="{3F7BBF83-C8DE-EB6B-0D93-3A8B9AEB59D5}"/>
              </a:ext>
            </a:extLst>
          </p:cNvPr>
          <p:cNvSpPr txBox="1"/>
          <p:nvPr/>
        </p:nvSpPr>
        <p:spPr>
          <a:xfrm>
            <a:off x="2202512" y="3137572"/>
            <a:ext cx="4627658" cy="954107"/>
          </a:xfrm>
          <a:prstGeom prst="rect">
            <a:avLst/>
          </a:prstGeom>
          <a:noFill/>
        </p:spPr>
        <p:txBody>
          <a:bodyPr wrap="square">
            <a:spAutoFit/>
          </a:bodyPr>
          <a:lstStyle/>
          <a:p>
            <a:r>
              <a:rPr lang="en-US" dirty="0"/>
              <a:t>Turnings  (not on the test)</a:t>
            </a:r>
          </a:p>
          <a:p>
            <a:endParaRPr lang="en-US" dirty="0"/>
          </a:p>
          <a:p>
            <a:r>
              <a:rPr lang="en-US" dirty="0">
                <a:solidFill>
                  <a:srgbClr val="FF0000"/>
                </a:solidFill>
                <a:hlinkClick r:id="rId2">
                  <a:extLst>
                    <a:ext uri="{A12FA001-AC4F-418D-AE19-62706E023703}">
                      <ahyp:hlinkClr xmlns:ahyp="http://schemas.microsoft.com/office/drawing/2018/hyperlinkcolor" val="tx"/>
                    </a:ext>
                  </a:extLst>
                </a:hlinkClick>
              </a:rPr>
              <a:t>https://www.youtube.com/watch?v=xeVyfiP0cLk&amp;ab_channel=VanNeistat</a:t>
            </a:r>
            <a:endParaRPr lang="en-US" dirty="0">
              <a:solidFill>
                <a:srgbClr val="FF0000"/>
              </a:solidFill>
            </a:endParaRPr>
          </a:p>
        </p:txBody>
      </p:sp>
    </p:spTree>
    <p:extLst>
      <p:ext uri="{BB962C8B-B14F-4D97-AF65-F5344CB8AC3E}">
        <p14:creationId xmlns:p14="http://schemas.microsoft.com/office/powerpoint/2010/main" val="4963312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03E2A0-8C99-E021-C886-687E5A5AB416}"/>
              </a:ext>
            </a:extLst>
          </p:cNvPr>
          <p:cNvSpPr txBox="1"/>
          <p:nvPr/>
        </p:nvSpPr>
        <p:spPr>
          <a:xfrm>
            <a:off x="1693628" y="25897"/>
            <a:ext cx="5335325" cy="769441"/>
          </a:xfrm>
          <a:prstGeom prst="rect">
            <a:avLst/>
          </a:prstGeom>
          <a:noFill/>
        </p:spPr>
        <p:txBody>
          <a:bodyPr wrap="square" rtlCol="0">
            <a:spAutoFit/>
          </a:bodyPr>
          <a:lstStyle/>
          <a:p>
            <a:pPr algn="ctr"/>
            <a:r>
              <a:rPr lang="en-US" sz="4400" dirty="0"/>
              <a:t>Elections</a:t>
            </a:r>
          </a:p>
        </p:txBody>
      </p:sp>
      <p:pic>
        <p:nvPicPr>
          <p:cNvPr id="4" name="Picture 3">
            <a:extLst>
              <a:ext uri="{FF2B5EF4-FFF2-40B4-BE49-F238E27FC236}">
                <a16:creationId xmlns:a16="http://schemas.microsoft.com/office/drawing/2014/main" id="{1210A5DC-BDAF-6DD5-66E3-2DBD965F8643}"/>
              </a:ext>
            </a:extLst>
          </p:cNvPr>
          <p:cNvPicPr>
            <a:picLocks noChangeAspect="1"/>
          </p:cNvPicPr>
          <p:nvPr/>
        </p:nvPicPr>
        <p:blipFill>
          <a:blip r:embed="rId2"/>
          <a:stretch>
            <a:fillRect/>
          </a:stretch>
        </p:blipFill>
        <p:spPr>
          <a:xfrm>
            <a:off x="1193896" y="1367624"/>
            <a:ext cx="6624443" cy="5080884"/>
          </a:xfrm>
          <a:prstGeom prst="rect">
            <a:avLst/>
          </a:prstGeom>
        </p:spPr>
      </p:pic>
    </p:spTree>
    <p:extLst>
      <p:ext uri="{BB962C8B-B14F-4D97-AF65-F5344CB8AC3E}">
        <p14:creationId xmlns:p14="http://schemas.microsoft.com/office/powerpoint/2010/main" val="9590734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ACDB96E-6CE8-A3B3-34FC-667B7B84EC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9C86F8-7B75-7F57-F986-7E8B267CB187}"/>
              </a:ext>
            </a:extLst>
          </p:cNvPr>
          <p:cNvSpPr/>
          <p:nvPr/>
        </p:nvSpPr>
        <p:spPr>
          <a:xfrm>
            <a:off x="941728" y="350639"/>
            <a:ext cx="6287170" cy="707886"/>
          </a:xfrm>
          <a:prstGeom prst="rect">
            <a:avLst/>
          </a:prstGeom>
        </p:spPr>
        <p:txBody>
          <a:bodyPr wrap="none">
            <a:spAutoFit/>
          </a:bodyPr>
          <a:lstStyle/>
          <a:p>
            <a:r>
              <a:rPr lang="en-US" sz="4000" b="1" kern="1200" dirty="0">
                <a:latin typeface="Calibri"/>
                <a:ea typeface="ＭＳ Ｐゴシック" charset="0"/>
              </a:rPr>
              <a:t>Types of Elections in the U.S.</a:t>
            </a:r>
            <a:endParaRPr lang="en-US" sz="4000" dirty="0"/>
          </a:p>
        </p:txBody>
      </p:sp>
      <p:sp>
        <p:nvSpPr>
          <p:cNvPr id="3" name="Rectangle 2">
            <a:extLst>
              <a:ext uri="{FF2B5EF4-FFF2-40B4-BE49-F238E27FC236}">
                <a16:creationId xmlns:a16="http://schemas.microsoft.com/office/drawing/2014/main" id="{F7A14833-B8FF-C951-3203-256142D043FF}"/>
              </a:ext>
            </a:extLst>
          </p:cNvPr>
          <p:cNvSpPr/>
          <p:nvPr/>
        </p:nvSpPr>
        <p:spPr>
          <a:xfrm>
            <a:off x="379379" y="1405369"/>
            <a:ext cx="8482519" cy="4247317"/>
          </a:xfrm>
          <a:prstGeom prst="rect">
            <a:avLst/>
          </a:prstGeom>
        </p:spPr>
        <p:txBody>
          <a:bodyPr wrap="square">
            <a:spAutoFit/>
          </a:bodyPr>
          <a:lstStyle/>
          <a:p>
            <a:pPr marL="457200" indent="-457200" defTabSz="457200" fontAlgn="base">
              <a:spcBef>
                <a:spcPct val="0"/>
              </a:spcBef>
              <a:spcAft>
                <a:spcPts val="600"/>
              </a:spcAft>
              <a:buClrTx/>
              <a:buFont typeface="Arial" panose="020B0604020202020204" pitchFamily="34" charset="0"/>
              <a:buChar char="•"/>
            </a:pPr>
            <a:r>
              <a:rPr lang="en-US" altLang="en-US" sz="2200" kern="1200" dirty="0">
                <a:solidFill>
                  <a:schemeClr val="tx1"/>
                </a:solidFill>
                <a:latin typeface="Calibri" panose="020F0502020204030204" pitchFamily="34" charset="0"/>
                <a:ea typeface="ＭＳ Ｐゴシック" panose="020B0600070205080204" pitchFamily="34" charset="-128"/>
                <a:cs typeface="+mn-cs"/>
              </a:rPr>
              <a:t>Primary Elections </a:t>
            </a:r>
          </a:p>
          <a:p>
            <a:pPr marL="739775" lvl="3" indent="-277813" defTabSz="457200" fontAlgn="base">
              <a:spcBef>
                <a:spcPct val="0"/>
              </a:spcBef>
              <a:spcAft>
                <a:spcPts val="600"/>
              </a:spcAft>
              <a:buClrTx/>
              <a:buFont typeface="Arial" panose="020B0604020202020204" pitchFamily="34" charset="0"/>
              <a:buChar char="•"/>
            </a:pPr>
            <a:r>
              <a:rPr lang="en-US" altLang="en-US" sz="2000" kern="1200" dirty="0">
                <a:solidFill>
                  <a:schemeClr val="tx1"/>
                </a:solidFill>
                <a:latin typeface="Calibri" panose="020F0502020204030204" pitchFamily="34" charset="0"/>
                <a:ea typeface="ＭＳ Ｐゴシック" panose="020B0600070205080204" pitchFamily="34" charset="-128"/>
                <a:cs typeface="+mn-cs"/>
              </a:rPr>
              <a:t>Open</a:t>
            </a:r>
          </a:p>
          <a:p>
            <a:pPr marL="739775" lvl="2" indent="-277813" defTabSz="457200" fontAlgn="base">
              <a:spcBef>
                <a:spcPct val="0"/>
              </a:spcBef>
              <a:spcAft>
                <a:spcPts val="600"/>
              </a:spcAft>
              <a:buClrTx/>
              <a:buFont typeface="Arial" panose="020B0604020202020204" pitchFamily="34" charset="0"/>
              <a:buChar char="•"/>
            </a:pPr>
            <a:r>
              <a:rPr lang="en-US" altLang="en-US" sz="2000" kern="1200" dirty="0">
                <a:solidFill>
                  <a:schemeClr val="tx1"/>
                </a:solidFill>
                <a:latin typeface="Calibri" panose="020F0502020204030204" pitchFamily="34" charset="0"/>
                <a:ea typeface="ＭＳ Ｐゴシック" panose="020B0600070205080204" pitchFamily="34" charset="-128"/>
                <a:cs typeface="+mn-cs"/>
              </a:rPr>
              <a:t>Closed</a:t>
            </a:r>
          </a:p>
          <a:p>
            <a:pPr marL="739775" lvl="2" indent="-277813" defTabSz="457200" fontAlgn="base">
              <a:spcBef>
                <a:spcPct val="0"/>
              </a:spcBef>
              <a:spcAft>
                <a:spcPts val="600"/>
              </a:spcAft>
              <a:buClrTx/>
              <a:buFont typeface="Arial" panose="020B0604020202020204" pitchFamily="34" charset="0"/>
              <a:buChar char="•"/>
            </a:pPr>
            <a:r>
              <a:rPr lang="en-US" altLang="en-US" sz="2000" kern="1200" dirty="0">
                <a:solidFill>
                  <a:schemeClr val="tx1"/>
                </a:solidFill>
                <a:latin typeface="Calibri" panose="020F0502020204030204" pitchFamily="34" charset="0"/>
                <a:ea typeface="ＭＳ Ｐゴシック" panose="020B0600070205080204" pitchFamily="34" charset="-128"/>
                <a:cs typeface="+mn-cs"/>
              </a:rPr>
              <a:t>Blanket/Jungle</a:t>
            </a:r>
          </a:p>
          <a:p>
            <a:pPr marL="457200" indent="-457200" defTabSz="457200" fontAlgn="base">
              <a:spcBef>
                <a:spcPct val="0"/>
              </a:spcBef>
              <a:spcAft>
                <a:spcPts val="600"/>
              </a:spcAft>
              <a:buClrTx/>
              <a:buFont typeface="Arial" panose="020B0604020202020204" pitchFamily="34" charset="0"/>
              <a:buChar char="•"/>
            </a:pPr>
            <a:r>
              <a:rPr lang="en-US" altLang="en-US" sz="2200" kern="1200" dirty="0">
                <a:solidFill>
                  <a:schemeClr val="tx1"/>
                </a:solidFill>
                <a:latin typeface="Calibri" panose="020F0502020204030204" pitchFamily="34" charset="0"/>
                <a:ea typeface="ＭＳ Ｐゴシック" panose="020B0600070205080204" pitchFamily="34" charset="-128"/>
                <a:cs typeface="+mn-cs"/>
              </a:rPr>
              <a:t>General Elections</a:t>
            </a:r>
          </a:p>
          <a:p>
            <a:pPr marL="457200" indent="-457200" defTabSz="457200" fontAlgn="base">
              <a:spcBef>
                <a:spcPct val="0"/>
              </a:spcBef>
              <a:spcAft>
                <a:spcPts val="600"/>
              </a:spcAft>
              <a:buClrTx/>
              <a:buFont typeface="Arial" panose="020B0604020202020204" pitchFamily="34" charset="0"/>
              <a:buChar char="•"/>
            </a:pPr>
            <a:r>
              <a:rPr lang="en-US" altLang="en-US" sz="2200" kern="1200" dirty="0">
                <a:solidFill>
                  <a:schemeClr val="tx1"/>
                </a:solidFill>
                <a:latin typeface="Calibri" panose="020F0502020204030204" pitchFamily="34" charset="0"/>
                <a:ea typeface="ＭＳ Ｐゴシック" panose="020B0600070205080204" pitchFamily="34" charset="-128"/>
              </a:rPr>
              <a:t>Majority </a:t>
            </a:r>
          </a:p>
          <a:p>
            <a:pPr marL="739775" lvl="1" indent="-277813" defTabSz="457200" fontAlgn="base">
              <a:spcBef>
                <a:spcPct val="0"/>
              </a:spcBef>
              <a:spcAft>
                <a:spcPts val="600"/>
              </a:spcAft>
              <a:buClrTx/>
              <a:buFont typeface="Arial" panose="020B0604020202020204" pitchFamily="34" charset="0"/>
              <a:buChar char="•"/>
            </a:pPr>
            <a:r>
              <a:rPr lang="en-US" altLang="en-US" sz="2000" kern="1200" dirty="0">
                <a:solidFill>
                  <a:schemeClr val="tx1"/>
                </a:solidFill>
                <a:latin typeface="Calibri" panose="020F0502020204030204" pitchFamily="34" charset="0"/>
                <a:ea typeface="ＭＳ Ｐゴシック" panose="020B0600070205080204" pitchFamily="34" charset="-128"/>
              </a:rPr>
              <a:t>Run-Offs</a:t>
            </a:r>
            <a:br>
              <a:rPr lang="en-US" altLang="en-US" sz="2000" kern="1200" dirty="0">
                <a:solidFill>
                  <a:schemeClr val="tx1"/>
                </a:solidFill>
                <a:latin typeface="Calibri" panose="020F0502020204030204" pitchFamily="34" charset="0"/>
                <a:ea typeface="ＭＳ Ｐゴシック" panose="020B0600070205080204" pitchFamily="34" charset="-128"/>
              </a:rPr>
            </a:br>
            <a:r>
              <a:rPr lang="en-US" sz="1600" dirty="0">
                <a:solidFill>
                  <a:srgbClr val="FF0000"/>
                </a:solidFill>
                <a:highlight>
                  <a:srgbClr val="FFFF00"/>
                </a:highlight>
                <a:hlinkClick r:id="rId3">
                  <a:extLst>
                    <a:ext uri="{A12FA001-AC4F-418D-AE19-62706E023703}">
                      <ahyp:hlinkClr xmlns:ahyp="http://schemas.microsoft.com/office/drawing/2018/hyperlinkcolor" val="tx"/>
                    </a:ext>
                  </a:extLst>
                </a:hlinkClick>
              </a:rPr>
              <a:t>https://youtu.be/CN4BIqMyTAk</a:t>
            </a:r>
            <a:endParaRPr lang="en-US" altLang="en-US" sz="1600" kern="1200" dirty="0">
              <a:solidFill>
                <a:srgbClr val="FF0000"/>
              </a:solidFill>
              <a:highlight>
                <a:srgbClr val="FFFF00"/>
              </a:highlight>
              <a:latin typeface="Calibri" panose="020F0502020204030204" pitchFamily="34" charset="0"/>
              <a:ea typeface="ＭＳ Ｐゴシック" panose="020B0600070205080204" pitchFamily="34" charset="-128"/>
            </a:endParaRPr>
          </a:p>
          <a:p>
            <a:pPr marL="457200" indent="-457200" defTabSz="457200" fontAlgn="base">
              <a:spcBef>
                <a:spcPct val="0"/>
              </a:spcBef>
              <a:spcAft>
                <a:spcPts val="600"/>
              </a:spcAft>
              <a:buClrTx/>
              <a:buFont typeface="Arial" panose="020B0604020202020204" pitchFamily="34" charset="0"/>
              <a:buChar char="•"/>
            </a:pPr>
            <a:r>
              <a:rPr lang="en-US" altLang="en-US" sz="2200" kern="1200" dirty="0">
                <a:solidFill>
                  <a:schemeClr val="tx1"/>
                </a:solidFill>
                <a:latin typeface="Calibri" panose="020F0502020204030204" pitchFamily="34" charset="0"/>
                <a:ea typeface="ＭＳ Ｐゴシック" panose="020B0600070205080204" pitchFamily="34" charset="-128"/>
                <a:cs typeface="+mn-cs"/>
              </a:rPr>
              <a:t>Plurality</a:t>
            </a:r>
          </a:p>
          <a:p>
            <a:pPr marL="457200" indent="-457200" defTabSz="457200" fontAlgn="base">
              <a:spcBef>
                <a:spcPct val="0"/>
              </a:spcBef>
              <a:spcAft>
                <a:spcPts val="600"/>
              </a:spcAft>
              <a:buClrTx/>
              <a:buFont typeface="Arial" panose="020B0604020202020204" pitchFamily="34" charset="0"/>
              <a:buChar char="•"/>
            </a:pPr>
            <a:r>
              <a:rPr lang="en-US" altLang="en-US" sz="2200" kern="1200" dirty="0">
                <a:solidFill>
                  <a:schemeClr val="tx1"/>
                </a:solidFill>
                <a:latin typeface="Calibri" panose="020F0502020204030204" pitchFamily="34" charset="0"/>
                <a:ea typeface="ＭＳ Ｐゴシック" panose="020B0600070205080204" pitchFamily="34" charset="-128"/>
                <a:cs typeface="+mn-cs"/>
              </a:rPr>
              <a:t>Rank Choice Voting</a:t>
            </a:r>
            <a:br>
              <a:rPr lang="en-US" altLang="en-US" sz="2200" kern="1200" dirty="0">
                <a:solidFill>
                  <a:prstClr val="black"/>
                </a:solidFill>
                <a:latin typeface="Calibri" panose="020F0502020204030204" pitchFamily="34" charset="0"/>
                <a:ea typeface="ＭＳ Ｐゴシック" panose="020B0600070205080204" pitchFamily="34" charset="-128"/>
                <a:cs typeface="+mn-cs"/>
              </a:rPr>
            </a:br>
            <a:r>
              <a:rPr lang="en-US" altLang="en-US" sz="1600" kern="1200" dirty="0">
                <a:solidFill>
                  <a:srgbClr val="FF0000"/>
                </a:solidFill>
                <a:highlight>
                  <a:srgbClr val="FFFF00"/>
                </a:highlight>
                <a:latin typeface="Calibri" panose="020F0502020204030204" pitchFamily="34" charset="0"/>
                <a:ea typeface="ＭＳ Ｐゴシック" panose="020B0600070205080204" pitchFamily="34" charset="-128"/>
                <a:cs typeface="+mn-cs"/>
                <a:hlinkClick r:id="rId4">
                  <a:extLst>
                    <a:ext uri="{A12FA001-AC4F-418D-AE19-62706E023703}">
                      <ahyp:hlinkClr xmlns:ahyp="http://schemas.microsoft.com/office/drawing/2018/hyperlinkcolor" val="tx"/>
                    </a:ext>
                  </a:extLst>
                </a:hlinkClick>
              </a:rPr>
              <a:t>https://youtu.be/oHRPMJmzBBw</a:t>
            </a:r>
            <a:endParaRPr lang="en-US" altLang="en-US" sz="1600" kern="1200" dirty="0">
              <a:solidFill>
                <a:srgbClr val="FF0000"/>
              </a:solidFill>
              <a:highlight>
                <a:srgbClr val="FFFF00"/>
              </a:highlight>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9376266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1F14FB1-B6C5-173C-67D5-BEF2B107FD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4E4DF6D-8E9D-F017-065E-B5BA4F15E7D6}"/>
              </a:ext>
            </a:extLst>
          </p:cNvPr>
          <p:cNvSpPr/>
          <p:nvPr/>
        </p:nvSpPr>
        <p:spPr>
          <a:xfrm>
            <a:off x="941728" y="350639"/>
            <a:ext cx="7709291" cy="1323439"/>
          </a:xfrm>
          <a:prstGeom prst="rect">
            <a:avLst/>
          </a:prstGeom>
        </p:spPr>
        <p:txBody>
          <a:bodyPr wrap="square">
            <a:spAutoFit/>
          </a:bodyPr>
          <a:lstStyle/>
          <a:p>
            <a:r>
              <a:rPr lang="en-US" sz="4000" b="1" kern="1200" dirty="0">
                <a:latin typeface="Calibri"/>
                <a:ea typeface="ＭＳ Ｐゴシック" charset="0"/>
                <a:cs typeface="+mn-cs"/>
              </a:rPr>
              <a:t>Presidential Elections and The Electoral College</a:t>
            </a:r>
            <a:endParaRPr lang="en-US" dirty="0"/>
          </a:p>
        </p:txBody>
      </p:sp>
      <p:sp>
        <p:nvSpPr>
          <p:cNvPr id="3" name="Rectangle 2">
            <a:extLst>
              <a:ext uri="{FF2B5EF4-FFF2-40B4-BE49-F238E27FC236}">
                <a16:creationId xmlns:a16="http://schemas.microsoft.com/office/drawing/2014/main" id="{3EB711A6-09CC-33AB-9125-74AA4A25F883}"/>
              </a:ext>
            </a:extLst>
          </p:cNvPr>
          <p:cNvSpPr/>
          <p:nvPr/>
        </p:nvSpPr>
        <p:spPr>
          <a:xfrm>
            <a:off x="330740" y="1842691"/>
            <a:ext cx="8482519" cy="2092881"/>
          </a:xfrm>
          <a:prstGeom prst="rect">
            <a:avLst/>
          </a:prstGeom>
        </p:spPr>
        <p:txBody>
          <a:bodyPr wrap="square">
            <a:spAutoFit/>
          </a:bodyPr>
          <a:lstStyle/>
          <a:p>
            <a:pPr marL="457200" indent="-457200" defTabSz="457200" fontAlgn="base">
              <a:spcBef>
                <a:spcPct val="0"/>
              </a:spcBef>
              <a:spcAft>
                <a:spcPts val="600"/>
              </a:spcAft>
              <a:buClrTx/>
              <a:buFont typeface="Arial" panose="020B0604020202020204" pitchFamily="34" charset="0"/>
              <a:buChar char="•"/>
            </a:pPr>
            <a:r>
              <a:rPr lang="en-US" altLang="en-US" sz="2200" kern="1200" dirty="0">
                <a:solidFill>
                  <a:schemeClr val="tx1"/>
                </a:solidFill>
                <a:latin typeface="Calibri" panose="020F0502020204030204" pitchFamily="34" charset="0"/>
                <a:ea typeface="ＭＳ Ｐゴシック" panose="020B0600070205080204" pitchFamily="34" charset="-128"/>
                <a:cs typeface="+mn-cs"/>
              </a:rPr>
              <a:t>How are Presidents Elected</a:t>
            </a:r>
            <a:endParaRPr lang="en-US" altLang="en-US" sz="2200" kern="1200" dirty="0">
              <a:solidFill>
                <a:schemeClr val="tx1"/>
              </a:solidFill>
              <a:latin typeface="Calibri" panose="020F0502020204030204" pitchFamily="34" charset="0"/>
              <a:ea typeface="ＭＳ Ｐゴシック" panose="020B0600070205080204" pitchFamily="34" charset="-128"/>
              <a:cs typeface="+mn-cs"/>
              <a:hlinkClick r:id="rId3">
                <a:extLst>
                  <a:ext uri="{A12FA001-AC4F-418D-AE19-62706E023703}">
                    <ahyp:hlinkClr xmlns:ahyp="http://schemas.microsoft.com/office/drawing/2018/hyperlinkcolor" val="tx"/>
                  </a:ext>
                </a:extLst>
              </a:hlinkClick>
            </a:endParaRPr>
          </a:p>
          <a:p>
            <a:pPr defTabSz="457200" fontAlgn="base">
              <a:spcBef>
                <a:spcPct val="0"/>
              </a:spcBef>
              <a:spcAft>
                <a:spcPts val="600"/>
              </a:spcAft>
              <a:buClrTx/>
            </a:pPr>
            <a:r>
              <a:rPr lang="en-US" altLang="en-US" sz="1800" kern="1200" dirty="0">
                <a:solidFill>
                  <a:srgbClr val="FF0000"/>
                </a:solidFill>
                <a:highlight>
                  <a:srgbClr val="FFFF00"/>
                </a:highlight>
                <a:latin typeface="Calibri" panose="020F0502020204030204" pitchFamily="34" charset="0"/>
                <a:ea typeface="ＭＳ Ｐゴシック" panose="020B0600070205080204" pitchFamily="34" charset="-128"/>
                <a:cs typeface="+mn-cs"/>
                <a:hlinkClick r:id="rId3">
                  <a:extLst>
                    <a:ext uri="{A12FA001-AC4F-418D-AE19-62706E023703}">
                      <ahyp:hlinkClr xmlns:ahyp="http://schemas.microsoft.com/office/drawing/2018/hyperlinkcolor" val="tx"/>
                    </a:ext>
                  </a:extLst>
                </a:hlinkClick>
              </a:rPr>
              <a:t>https://youtu.be/WfrXIGclkLA</a:t>
            </a:r>
            <a:r>
              <a:rPr lang="en-US" altLang="en-US" sz="1800" kern="1200" dirty="0">
                <a:solidFill>
                  <a:srgbClr val="FF0000"/>
                </a:solidFill>
                <a:highlight>
                  <a:srgbClr val="FFFF00"/>
                </a:highlight>
                <a:latin typeface="Calibri" panose="020F0502020204030204" pitchFamily="34" charset="0"/>
                <a:ea typeface="ＭＳ Ｐゴシック" panose="020B0600070205080204" pitchFamily="34" charset="-128"/>
                <a:cs typeface="+mn-cs"/>
              </a:rPr>
              <a:t>  </a:t>
            </a:r>
            <a:r>
              <a:rPr lang="en-US" altLang="en-US" sz="1800" kern="1200" dirty="0">
                <a:solidFill>
                  <a:schemeClr val="tx1"/>
                </a:solidFill>
                <a:latin typeface="Calibri" panose="020F0502020204030204" pitchFamily="34" charset="0"/>
                <a:ea typeface="ＭＳ Ｐゴシック" panose="020B0600070205080204" pitchFamily="34" charset="-128"/>
                <a:cs typeface="+mn-cs"/>
              </a:rPr>
              <a:t>(to 5:00min)</a:t>
            </a:r>
          </a:p>
          <a:p>
            <a:pPr marL="457200" indent="-457200" defTabSz="457200" fontAlgn="base">
              <a:spcBef>
                <a:spcPct val="0"/>
              </a:spcBef>
              <a:spcAft>
                <a:spcPts val="6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Electoral College</a:t>
            </a:r>
          </a:p>
          <a:p>
            <a:pPr defTabSz="457200" fontAlgn="base">
              <a:spcBef>
                <a:spcPct val="0"/>
              </a:spcBef>
              <a:spcAft>
                <a:spcPts val="600"/>
              </a:spcAft>
              <a:buClrTx/>
            </a:pPr>
            <a:r>
              <a:rPr lang="en-US" altLang="en-US" sz="1800" kern="1200" dirty="0">
                <a:solidFill>
                  <a:srgbClr val="FF0000"/>
                </a:solidFill>
                <a:highlight>
                  <a:srgbClr val="FFFF00"/>
                </a:highlight>
                <a:latin typeface="Calibri" panose="020F0502020204030204" pitchFamily="34" charset="0"/>
                <a:ea typeface="ＭＳ Ｐゴシック" panose="020B0600070205080204" pitchFamily="34" charset="-128"/>
                <a:cs typeface="+mn-cs"/>
                <a:hlinkClick r:id="rId4">
                  <a:extLst>
                    <a:ext uri="{A12FA001-AC4F-418D-AE19-62706E023703}">
                      <ahyp:hlinkClr xmlns:ahyp="http://schemas.microsoft.com/office/drawing/2018/hyperlinkcolor" val="tx"/>
                    </a:ext>
                  </a:extLst>
                </a:hlinkClick>
              </a:rPr>
              <a:t>https://youtu.be/ajavsMbCapY</a:t>
            </a:r>
            <a:r>
              <a:rPr lang="en-US" altLang="en-US" sz="1800" kern="1200" dirty="0">
                <a:solidFill>
                  <a:srgbClr val="FF0000"/>
                </a:solidFill>
                <a:highlight>
                  <a:srgbClr val="FFFF00"/>
                </a:highlight>
                <a:latin typeface="Calibri" panose="020F0502020204030204" pitchFamily="34" charset="0"/>
                <a:ea typeface="ＭＳ Ｐゴシック" panose="020B0600070205080204" pitchFamily="34" charset="-128"/>
                <a:cs typeface="+mn-cs"/>
              </a:rPr>
              <a:t> </a:t>
            </a:r>
            <a:r>
              <a:rPr lang="en-US" altLang="en-US" sz="1800" kern="1200" dirty="0">
                <a:solidFill>
                  <a:schemeClr val="tx1"/>
                </a:solidFill>
                <a:latin typeface="Calibri" panose="020F0502020204030204" pitchFamily="34" charset="0"/>
                <a:ea typeface="ＭＳ Ｐゴシック" panose="020B0600070205080204" pitchFamily="34" charset="-128"/>
                <a:cs typeface="+mn-cs"/>
              </a:rPr>
              <a:t>(up to 4:30min</a:t>
            </a:r>
            <a:r>
              <a:rPr lang="en-US" altLang="en-US" sz="2200" kern="1200" dirty="0">
                <a:solidFill>
                  <a:schemeClr val="tx1"/>
                </a:solidFill>
                <a:latin typeface="Calibri" panose="020F0502020204030204" pitchFamily="34" charset="0"/>
                <a:ea typeface="ＭＳ Ｐゴシック" panose="020B0600070205080204" pitchFamily="34" charset="-128"/>
                <a:cs typeface="+mn-cs"/>
              </a:rPr>
              <a:t>)</a:t>
            </a:r>
          </a:p>
          <a:p>
            <a:pPr defTabSz="457200" fontAlgn="base">
              <a:spcBef>
                <a:spcPct val="0"/>
              </a:spcBef>
              <a:spcAft>
                <a:spcPts val="600"/>
              </a:spcAft>
              <a:buClrTx/>
            </a:pPr>
            <a:endParaRPr lang="en-US" altLang="en-US" sz="2200" kern="1200" dirty="0">
              <a:solidFill>
                <a:srgbClr val="FF0000"/>
              </a:solidFill>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0018800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538F42F-47A9-717A-20AB-866963EB08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318F852-D186-C9A8-F761-07C396B6820B}"/>
              </a:ext>
            </a:extLst>
          </p:cNvPr>
          <p:cNvSpPr/>
          <p:nvPr/>
        </p:nvSpPr>
        <p:spPr>
          <a:xfrm>
            <a:off x="2611502" y="302931"/>
            <a:ext cx="3455241" cy="707886"/>
          </a:xfrm>
          <a:prstGeom prst="rect">
            <a:avLst/>
          </a:prstGeom>
        </p:spPr>
        <p:txBody>
          <a:bodyPr wrap="none">
            <a:spAutoFit/>
          </a:bodyPr>
          <a:lstStyle/>
          <a:p>
            <a:r>
              <a:rPr lang="en-US" sz="4000" b="1" kern="1200" dirty="0">
                <a:latin typeface="Calibri"/>
                <a:ea typeface="ＭＳ Ｐゴシック" charset="0"/>
              </a:rPr>
              <a:t>Voting Patterns</a:t>
            </a:r>
            <a:endParaRPr lang="en-US" sz="4000" dirty="0"/>
          </a:p>
        </p:txBody>
      </p:sp>
      <p:pic>
        <p:nvPicPr>
          <p:cNvPr id="1026" name="Picture 2" descr="How U.S. citizens voted in 2024 by age and gender.">
            <a:extLst>
              <a:ext uri="{FF2B5EF4-FFF2-40B4-BE49-F238E27FC236}">
                <a16:creationId xmlns:a16="http://schemas.microsoft.com/office/drawing/2014/main" id="{C8C11B39-5103-B6BE-27FE-9747F4D7A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1907" y="1010817"/>
            <a:ext cx="5723780" cy="575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231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33E3089-9AE1-24DE-94BE-B3A8F400AA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79A2C58-CFD4-B420-D451-721E7758EF2C}"/>
              </a:ext>
            </a:extLst>
          </p:cNvPr>
          <p:cNvSpPr/>
          <p:nvPr/>
        </p:nvSpPr>
        <p:spPr>
          <a:xfrm>
            <a:off x="2594910" y="183661"/>
            <a:ext cx="3455241" cy="707886"/>
          </a:xfrm>
          <a:prstGeom prst="rect">
            <a:avLst/>
          </a:prstGeom>
        </p:spPr>
        <p:txBody>
          <a:bodyPr wrap="none">
            <a:spAutoFit/>
          </a:bodyPr>
          <a:lstStyle/>
          <a:p>
            <a:r>
              <a:rPr lang="en-US" sz="4000" b="1" kern="1200" dirty="0">
                <a:latin typeface="Calibri"/>
                <a:ea typeface="ＭＳ Ｐゴシック" charset="0"/>
              </a:rPr>
              <a:t>Voting Patterns</a:t>
            </a:r>
            <a:endParaRPr lang="en-US" sz="4000" dirty="0"/>
          </a:p>
        </p:txBody>
      </p:sp>
      <p:pic>
        <p:nvPicPr>
          <p:cNvPr id="2050" name="Picture 2" descr="U.S. citizens 2024 votes by age and race.">
            <a:extLst>
              <a:ext uri="{FF2B5EF4-FFF2-40B4-BE49-F238E27FC236}">
                <a16:creationId xmlns:a16="http://schemas.microsoft.com/office/drawing/2014/main" id="{2DC34CFF-163C-1703-0BCD-69684E82D5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710" y="1010817"/>
            <a:ext cx="3615643" cy="584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3786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EA0317-50DA-172C-FF30-11546CE8AE84}"/>
              </a:ext>
            </a:extLst>
          </p:cNvPr>
          <p:cNvPicPr>
            <a:picLocks noChangeAspect="1"/>
          </p:cNvPicPr>
          <p:nvPr/>
        </p:nvPicPr>
        <p:blipFill>
          <a:blip r:embed="rId2"/>
          <a:stretch>
            <a:fillRect/>
          </a:stretch>
        </p:blipFill>
        <p:spPr>
          <a:xfrm>
            <a:off x="251012" y="973098"/>
            <a:ext cx="8311153" cy="4911803"/>
          </a:xfrm>
          <a:prstGeom prst="rect">
            <a:avLst/>
          </a:prstGeom>
        </p:spPr>
      </p:pic>
      <p:sp>
        <p:nvSpPr>
          <p:cNvPr id="4" name="Rectangle 3">
            <a:extLst>
              <a:ext uri="{FF2B5EF4-FFF2-40B4-BE49-F238E27FC236}">
                <a16:creationId xmlns:a16="http://schemas.microsoft.com/office/drawing/2014/main" id="{F516A215-2504-0B95-BF2F-4E618277C29A}"/>
              </a:ext>
            </a:extLst>
          </p:cNvPr>
          <p:cNvSpPr/>
          <p:nvPr/>
        </p:nvSpPr>
        <p:spPr>
          <a:xfrm>
            <a:off x="2594910" y="183661"/>
            <a:ext cx="3455241" cy="707886"/>
          </a:xfrm>
          <a:prstGeom prst="rect">
            <a:avLst/>
          </a:prstGeom>
        </p:spPr>
        <p:txBody>
          <a:bodyPr wrap="none">
            <a:spAutoFit/>
          </a:bodyPr>
          <a:lstStyle/>
          <a:p>
            <a:r>
              <a:rPr lang="en-US" sz="4000" b="1" kern="1200" dirty="0">
                <a:latin typeface="Calibri"/>
                <a:ea typeface="ＭＳ Ｐゴシック" charset="0"/>
              </a:rPr>
              <a:t>Voting Patterns</a:t>
            </a:r>
            <a:endParaRPr lang="en-US" sz="4000" dirty="0"/>
          </a:p>
        </p:txBody>
      </p:sp>
      <p:sp>
        <p:nvSpPr>
          <p:cNvPr id="6" name="TextBox 5">
            <a:extLst>
              <a:ext uri="{FF2B5EF4-FFF2-40B4-BE49-F238E27FC236}">
                <a16:creationId xmlns:a16="http://schemas.microsoft.com/office/drawing/2014/main" id="{C2FC6640-79CE-AFB5-3219-FEEF6A297105}"/>
              </a:ext>
            </a:extLst>
          </p:cNvPr>
          <p:cNvSpPr txBox="1"/>
          <p:nvPr/>
        </p:nvSpPr>
        <p:spPr>
          <a:xfrm>
            <a:off x="2914154" y="6129630"/>
            <a:ext cx="4572000" cy="369332"/>
          </a:xfrm>
          <a:prstGeom prst="rect">
            <a:avLst/>
          </a:prstGeom>
          <a:noFill/>
        </p:spPr>
        <p:txBody>
          <a:bodyPr wrap="square">
            <a:spAutoFit/>
          </a:bodyPr>
          <a:lstStyle/>
          <a:p>
            <a:r>
              <a:rPr lang="en-US" sz="1800" dirty="0">
                <a:solidFill>
                  <a:srgbClr val="FF0000"/>
                </a:solidFill>
                <a:hlinkClick r:id="rId3">
                  <a:extLst>
                    <a:ext uri="{A12FA001-AC4F-418D-AE19-62706E023703}">
                      <ahyp:hlinkClr xmlns:ahyp="http://schemas.microsoft.com/office/drawing/2018/hyperlinkcolor" val="tx"/>
                    </a:ext>
                  </a:extLst>
                </a:hlinkClick>
              </a:rPr>
              <a:t>https://youtu.be/T2jwSUhu7ok</a:t>
            </a:r>
            <a:endParaRPr lang="en-US" sz="1800" dirty="0">
              <a:solidFill>
                <a:srgbClr val="FF0000"/>
              </a:solidFill>
            </a:endParaRPr>
          </a:p>
        </p:txBody>
      </p:sp>
    </p:spTree>
    <p:extLst>
      <p:ext uri="{BB962C8B-B14F-4D97-AF65-F5344CB8AC3E}">
        <p14:creationId xmlns:p14="http://schemas.microsoft.com/office/powerpoint/2010/main" val="10645860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F9C2C-28BD-9923-F140-448B06772C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8080D2-A953-D74C-F5B3-92F641672807}"/>
              </a:ext>
            </a:extLst>
          </p:cNvPr>
          <p:cNvSpPr txBox="1"/>
          <p:nvPr/>
        </p:nvSpPr>
        <p:spPr>
          <a:xfrm>
            <a:off x="2054371" y="182810"/>
            <a:ext cx="4832058" cy="6586418"/>
          </a:xfrm>
          <a:prstGeom prst="rect">
            <a:avLst/>
          </a:prstGeom>
          <a:noFill/>
        </p:spPr>
        <p:txBody>
          <a:bodyPr wrap="square" rtlCol="0">
            <a:spAutoFit/>
          </a:bodyPr>
          <a:lstStyle/>
          <a:p>
            <a:pPr algn="ctr"/>
            <a:r>
              <a:rPr lang="en-US" sz="3200" dirty="0"/>
              <a:t>Test Rules</a:t>
            </a:r>
          </a:p>
          <a:p>
            <a:endParaRPr lang="en-US" sz="1600" dirty="0"/>
          </a:p>
          <a:p>
            <a:r>
              <a:rPr lang="en-US" sz="1800" dirty="0"/>
              <a:t>1.  No Notes</a:t>
            </a:r>
            <a:br>
              <a:rPr lang="en-US" sz="1800" dirty="0"/>
            </a:br>
            <a:r>
              <a:rPr lang="en-US" sz="1800" dirty="0"/>
              <a:t>2.  Test is in-class.   Attendance will be taken.  Anyone not in attendance will not receive a grade for the test.</a:t>
            </a:r>
            <a:br>
              <a:rPr lang="en-US" sz="1800" dirty="0"/>
            </a:br>
            <a:r>
              <a:rPr lang="en-US" sz="1800" dirty="0"/>
              <a:t>3.  International Students:  Raise your hand if there are terms you don't understand.</a:t>
            </a:r>
            <a:br>
              <a:rPr lang="en-US" sz="1800" dirty="0"/>
            </a:br>
            <a:r>
              <a:rPr lang="en-US" sz="1800" dirty="0"/>
              <a:t>4.  DO NOT leave the Canvas browser.   Your test will be flagged and you will receive a 0.  If you lose connection, there will be a pad in the front to write down your name.  </a:t>
            </a:r>
            <a:br>
              <a:rPr lang="en-US" sz="1800" dirty="0"/>
            </a:br>
            <a:r>
              <a:rPr lang="en-US" sz="1800" dirty="0"/>
              <a:t>5.  Unless with permission, all tests must be completed by the end of class (12:15pm)</a:t>
            </a:r>
            <a:br>
              <a:rPr lang="en-US" sz="1800" dirty="0"/>
            </a:br>
            <a:r>
              <a:rPr lang="en-US" sz="1800" dirty="0"/>
              <a:t>6.   If you miss the test due to illness, personal crisis or travel, coordinate with Marquise on taking the test.</a:t>
            </a:r>
            <a:br>
              <a:rPr lang="en-US" sz="1800" dirty="0"/>
            </a:br>
            <a:r>
              <a:rPr lang="en-US" sz="1800" dirty="0"/>
              <a:t>7.   You will get your grade upon completing the test.    However, specific questions that you got incorrect will not be shown until everyone has taken the test</a:t>
            </a:r>
          </a:p>
          <a:p>
            <a:pPr algn="ctr"/>
            <a:endParaRPr lang="en-US" sz="3200" dirty="0"/>
          </a:p>
        </p:txBody>
      </p:sp>
    </p:spTree>
    <p:extLst>
      <p:ext uri="{BB962C8B-B14F-4D97-AF65-F5344CB8AC3E}">
        <p14:creationId xmlns:p14="http://schemas.microsoft.com/office/powerpoint/2010/main" val="2882685309"/>
      </p:ext>
    </p:extLst>
  </p:cSld>
  <p:clrMapOvr>
    <a:masterClrMapping/>
  </p:clrMapOvr>
</p:sld>
</file>

<file path=ppt/theme/theme1.xml><?xml version="1.0" encoding="utf-8"?>
<a:theme xmlns:a="http://schemas.openxmlformats.org/drawingml/2006/main" name="Title Slide">
  <a:themeElements>
    <a:clrScheme name="Intellus Brand Colors">
      <a:dk1>
        <a:srgbClr val="000000"/>
      </a:dk1>
      <a:lt1>
        <a:srgbClr val="FFFFFF"/>
      </a:lt1>
      <a:dk2>
        <a:srgbClr val="BB1A24"/>
      </a:dk2>
      <a:lt2>
        <a:srgbClr val="4E1A67"/>
      </a:lt2>
      <a:accent1>
        <a:srgbClr val="8C8F8D"/>
      </a:accent1>
      <a:accent2>
        <a:srgbClr val="DA5120"/>
      </a:accent2>
      <a:accent3>
        <a:srgbClr val="EEA135"/>
      </a:accent3>
      <a:accent4>
        <a:srgbClr val="77003D"/>
      </a:accent4>
      <a:accent5>
        <a:srgbClr val="81C7CE"/>
      </a:accent5>
      <a:accent6>
        <a:srgbClr val="481A66"/>
      </a:accent6>
      <a:hlink>
        <a:srgbClr val="FFE667"/>
      </a:hlink>
      <a:folHlink>
        <a:srgbClr val="D435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ellus Slide theme for IOC 3 7.30.18 Module Overview" id="{2A39B0F4-C009-154B-A568-8C9731895113}" vid="{B9C31539-3BB1-374B-A0EC-4A573518942C}"/>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602E152568F2344A5A19B9E1099A9CB" ma:contentTypeVersion="2" ma:contentTypeDescription="Create a new document." ma:contentTypeScope="" ma:versionID="2fb22facd8b40c0a51d1b304f89a3d4f">
  <xsd:schema xmlns:xsd="http://www.w3.org/2001/XMLSchema" xmlns:xs="http://www.w3.org/2001/XMLSchema" xmlns:p="http://schemas.microsoft.com/office/2006/metadata/properties" xmlns:ns3="2c15f432-2e6d-4301-8787-12dd8bf0be54" targetNamespace="http://schemas.microsoft.com/office/2006/metadata/properties" ma:root="true" ma:fieldsID="1a077ef48712744f4388d5767f7b609e" ns3:_="">
    <xsd:import namespace="2c15f432-2e6d-4301-8787-12dd8bf0be54"/>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15f432-2e6d-4301-8787-12dd8bf0be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20B4B0-18B1-4E59-BDB5-15FF17821B87}">
  <ds:schemaRefs>
    <ds:schemaRef ds:uri="2c15f432-2e6d-4301-8787-12dd8bf0be54"/>
    <ds:schemaRef ds:uri="http://purl.org/dc/elements/1.1/"/>
    <ds:schemaRef ds:uri="http://schemas.microsoft.com/office/infopath/2007/PartnerControls"/>
    <ds:schemaRef ds:uri="http://schemas.microsoft.com/office/2006/metadata/properties"/>
    <ds:schemaRef ds:uri="http://schemas.microsoft.com/office/2006/documentManagement/types"/>
    <ds:schemaRef ds:uri="http://purl.org/dc/dcmitype/"/>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D1B674F-5BE2-405D-B085-C7CB69E088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15f432-2e6d-4301-8787-12dd8bf0be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D92EF4-9BC9-4AC9-862F-E1E00ED1ED8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Title Slide</Template>
  <TotalTime>13313</TotalTime>
  <Words>3596</Words>
  <Application>Microsoft Office PowerPoint</Application>
  <PresentationFormat>On-screen Show (4:3)</PresentationFormat>
  <Paragraphs>391</Paragraphs>
  <Slides>55</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Aptos</vt:lpstr>
      <vt:lpstr>Arial</vt:lpstr>
      <vt:lpstr>Calibri</vt:lpstr>
      <vt:lpstr>Courier New</vt:lpstr>
      <vt:lpstr>inherit</vt:lpstr>
      <vt:lpstr>roboto</vt:lpstr>
      <vt:lpstr>Symbol</vt:lpstr>
      <vt:lpstr>Title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Figure 11.3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Third Parties</vt:lpstr>
      <vt:lpstr>PowerPoint Presentation</vt:lpstr>
      <vt:lpstr>PowerPoint Presentation</vt:lpstr>
      <vt:lpstr>PowerPoint Presentation</vt:lpstr>
      <vt:lpstr>2001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Mike Polak</cp:lastModifiedBy>
  <cp:revision>110</cp:revision>
  <dcterms:created xsi:type="dcterms:W3CDTF">2018-07-30T19:47:20Z</dcterms:created>
  <dcterms:modified xsi:type="dcterms:W3CDTF">2026-10-13T11:49:37Z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0x0101001602E152568F2344A5A19B9E1099A9CB</vt:lpwstr>
  </property>
</Properties>
</file>